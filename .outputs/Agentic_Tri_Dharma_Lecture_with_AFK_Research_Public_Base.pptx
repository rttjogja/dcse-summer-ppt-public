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aa2341ec0c4993" /><Relationship Type="http://schemas.openxmlformats.org/officeDocument/2006/relationships/extended-properties" Target="/docProps/app.xml" Id="Rbef3848164a54d8a" /><Relationship Type="http://schemas.openxmlformats.org/officeDocument/2006/relationships/officeDocument" Target="/ppt/presentation.xml" Id="Re1ae3c6547414d14" /></Relationships>
</file>

<file path=ppt/presentation.xml><?xml version="1.0" encoding="utf-8"?>
<p:presentation xmlns:p="http://schemas.openxmlformats.org/presentationml/2006/main">
  <p:sldMasterIdLst>
    <p:sldMasterId xmlns:r="http://schemas.openxmlformats.org/officeDocument/2006/relationships" id="2147483648" r:id="Rfe9a17c79bc4480e"/>
  </p:sldMasterIdLst>
  <p:notesMasterIdLst>
    <p:notesMasterId xmlns:r="http://schemas.openxmlformats.org/officeDocument/2006/relationships" r:id="R57dc366f67454b75"/>
  </p:notesMasterIdLst>
  <p:sldIdLst>
    <p:sldId xmlns:r="http://schemas.openxmlformats.org/officeDocument/2006/relationships" id="256" r:id="R327c99747a47485e"/>
    <p:sldId xmlns:r="http://schemas.openxmlformats.org/officeDocument/2006/relationships" id="257" r:id="R2d5dc75056604397"/>
    <p:sldId xmlns:r="http://schemas.openxmlformats.org/officeDocument/2006/relationships" id="258" r:id="R7f443ef19b8c464a"/>
    <p:sldId xmlns:r="http://schemas.openxmlformats.org/officeDocument/2006/relationships" id="259" r:id="R638e54b57d2d4a05"/>
    <p:sldId xmlns:r="http://schemas.openxmlformats.org/officeDocument/2006/relationships" id="260" r:id="R838a65142c354a92"/>
    <p:sldId xmlns:r="http://schemas.openxmlformats.org/officeDocument/2006/relationships" id="261" r:id="R60f08c7022bd4b6c"/>
    <p:sldId xmlns:r="http://schemas.openxmlformats.org/officeDocument/2006/relationships" id="262" r:id="R90b5eb015e9f4523"/>
    <p:sldId xmlns:r="http://schemas.openxmlformats.org/officeDocument/2006/relationships" id="263" r:id="R8ffba879b96e4eaf"/>
    <p:sldId xmlns:r="http://schemas.openxmlformats.org/officeDocument/2006/relationships" id="264" r:id="R4d7692f688df4758"/>
    <p:sldId xmlns:r="http://schemas.openxmlformats.org/officeDocument/2006/relationships" id="265" r:id="R1ca99479c9f74bc4"/>
    <p:sldId xmlns:r="http://schemas.openxmlformats.org/officeDocument/2006/relationships" id="266" r:id="Rb4ea1832732e4979"/>
    <p:sldId xmlns:r="http://schemas.openxmlformats.org/officeDocument/2006/relationships" id="267" r:id="Reb6d4efbb5304939"/>
    <p:sldId xmlns:r="http://schemas.openxmlformats.org/officeDocument/2006/relationships" id="268" r:id="Rbbff351374884b86"/>
    <p:sldId xmlns:r="http://schemas.openxmlformats.org/officeDocument/2006/relationships" id="269" r:id="R5f918079932247f3"/>
    <p:sldId xmlns:r="http://schemas.openxmlformats.org/officeDocument/2006/relationships" id="270" r:id="R02e57bb7f2744fc4"/>
    <p:sldId xmlns:r="http://schemas.openxmlformats.org/officeDocument/2006/relationships" id="271" r:id="Rf499520ea08e4af2"/>
    <p:sldId xmlns:r="http://schemas.openxmlformats.org/officeDocument/2006/relationships" id="272" r:id="R4cb960a7570f4901"/>
    <p:sldId xmlns:r="http://schemas.openxmlformats.org/officeDocument/2006/relationships" id="273" r:id="R9ec5de493397455b"/>
    <p:sldId xmlns:r="http://schemas.openxmlformats.org/officeDocument/2006/relationships" id="274" r:id="Ra77d8aaff5934d3b"/>
    <p:sldId xmlns:r="http://schemas.openxmlformats.org/officeDocument/2006/relationships" id="275" r:id="R65b8aa7dea4c40cb"/>
    <p:sldId xmlns:r="http://schemas.openxmlformats.org/officeDocument/2006/relationships" id="276" r:id="R55258b94b65f481c"/>
    <p:sldId xmlns:r="http://schemas.openxmlformats.org/officeDocument/2006/relationships" id="277" r:id="R18f5d4ac5e9b416d"/>
    <p:sldId xmlns:r="http://schemas.openxmlformats.org/officeDocument/2006/relationships" id="278" r:id="R45b51a231d9b4628"/>
    <p:sldId xmlns:r="http://schemas.openxmlformats.org/officeDocument/2006/relationships" id="279" r:id="R60b45ec8ae1a452b"/>
    <p:sldId xmlns:r="http://schemas.openxmlformats.org/officeDocument/2006/relationships" id="280" r:id="Rd5201534a69840c6"/>
    <p:sldId xmlns:r="http://schemas.openxmlformats.org/officeDocument/2006/relationships" id="281" r:id="R9baaa8f131b94297"/>
    <p:sldId xmlns:r="http://schemas.openxmlformats.org/officeDocument/2006/relationships" id="282" r:id="R3e7ff45976134839"/>
    <p:sldId xmlns:r="http://schemas.openxmlformats.org/officeDocument/2006/relationships" id="283" r:id="Rd4dd5862c1034fe0"/>
    <p:sldId xmlns:r="http://schemas.openxmlformats.org/officeDocument/2006/relationships" id="284" r:id="R2e2d02cf51f94831"/>
    <p:sldId xmlns:r="http://schemas.openxmlformats.org/officeDocument/2006/relationships" id="285" r:id="Rbe4ca1c442c8482e"/>
    <p:sldId xmlns:r="http://schemas.openxmlformats.org/officeDocument/2006/relationships" id="286" r:id="Rfd86e89d9c3c46ae"/>
    <p:sldId xmlns:r="http://schemas.openxmlformats.org/officeDocument/2006/relationships" id="287" r:id="R8d865311ea784402"/>
    <p:sldId xmlns:r="http://schemas.openxmlformats.org/officeDocument/2006/relationships" id="288" r:id="Rac9d468524d642ca"/>
    <p:sldId xmlns:r="http://schemas.openxmlformats.org/officeDocument/2006/relationships" id="289" r:id="R2491de9a05174de7"/>
    <p:sldId xmlns:r="http://schemas.openxmlformats.org/officeDocument/2006/relationships" id="290" r:id="Rfa417cf0b7d648ab"/>
    <p:sldId xmlns:r="http://schemas.openxmlformats.org/officeDocument/2006/relationships" id="291" r:id="R9a4720e1052f4795"/>
    <p:sldId xmlns:r="http://schemas.openxmlformats.org/officeDocument/2006/relationships" id="292" r:id="R9c00e5439df64cbd"/>
    <p:sldId xmlns:r="http://schemas.openxmlformats.org/officeDocument/2006/relationships" id="293" r:id="Re17ac2ad11c64aef"/>
    <p:sldId xmlns:r="http://schemas.openxmlformats.org/officeDocument/2006/relationships" id="294" r:id="R1a227410bf574256"/>
    <p:sldId xmlns:r="http://schemas.openxmlformats.org/officeDocument/2006/relationships" id="295" r:id="Rc3510689d5284a65"/>
    <p:sldId xmlns:r="http://schemas.openxmlformats.org/officeDocument/2006/relationships" id="296" r:id="Ra997118f2d6a42f1"/>
    <p:sldId xmlns:r="http://schemas.openxmlformats.org/officeDocument/2006/relationships" id="297" r:id="R2d9abb1d54874bbb"/>
    <p:sldId xmlns:r="http://schemas.openxmlformats.org/officeDocument/2006/relationships" id="298" r:id="R485277e3d2a1480f"/>
    <p:sldId xmlns:r="http://schemas.openxmlformats.org/officeDocument/2006/relationships" id="299" r:id="Rcf292cc0d70b424f"/>
    <p:sldId xmlns:r="http://schemas.openxmlformats.org/officeDocument/2006/relationships" id="300" r:id="Rb7d3f5f548a045bb"/>
    <p:sldId xmlns:r="http://schemas.openxmlformats.org/officeDocument/2006/relationships" id="301" r:id="R0caf4f2c4c2542a6"/>
    <p:sldId xmlns:r="http://schemas.openxmlformats.org/officeDocument/2006/relationships" id="302" r:id="Rbcb40b594fe247d8"/>
    <p:sldId xmlns:r="http://schemas.openxmlformats.org/officeDocument/2006/relationships" id="303" r:id="R61fd856d4f374298"/>
    <p:sldId xmlns:r="http://schemas.openxmlformats.org/officeDocument/2006/relationships" id="304" r:id="Rfd88fe21f0ac4cfe"/>
    <p:sldId xmlns:r="http://schemas.openxmlformats.org/officeDocument/2006/relationships" id="305" r:id="R1489f8b34e2b4a4d"/>
    <p:sldId xmlns:r="http://schemas.openxmlformats.org/officeDocument/2006/relationships" id="306" r:id="Rd5c11dbe5f9947cc"/>
    <p:sldId xmlns:r="http://schemas.openxmlformats.org/officeDocument/2006/relationships" id="307" r:id="Raafc60cbc9554235"/>
    <p:sldId xmlns:r="http://schemas.openxmlformats.org/officeDocument/2006/relationships" id="308" r:id="R427ab0988643484f"/>
    <p:sldId xmlns:r="http://schemas.openxmlformats.org/officeDocument/2006/relationships" id="309" r:id="R62f6a8d8759340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fc82de112c4d92" /><Relationship Type="http://schemas.openxmlformats.org/officeDocument/2006/relationships/slideMaster" Target="/ppt/slideMasters/slideMaster1.xml" Id="Rfe9a17c79bc4480e" /><Relationship Type="http://schemas.openxmlformats.org/officeDocument/2006/relationships/notesMaster" Target="/ppt/notesMasters/notesMaster1.xml" Id="R57dc366f67454b75" /><Relationship Type="http://schemas.openxmlformats.org/officeDocument/2006/relationships/presProps" Target="/ppt/presProps.xml" Id="R21159d170b5f4734" /><Relationship Type="http://schemas.openxmlformats.org/officeDocument/2006/relationships/tableStyles" Target="/ppt/tableStyles.xml" Id="R469f9bf0fc9647c2" /><Relationship Type="http://schemas.openxmlformats.org/officeDocument/2006/relationships/slide" Target="/ppt/slides/slide1.xml" Id="R327c99747a47485e" /><Relationship Type="http://schemas.openxmlformats.org/officeDocument/2006/relationships/slide" Target="/ppt/slides/slide2.xml" Id="R2d5dc75056604397" /><Relationship Type="http://schemas.openxmlformats.org/officeDocument/2006/relationships/slide" Target="/ppt/slides/slide3.xml" Id="R7f443ef19b8c464a" /><Relationship Type="http://schemas.openxmlformats.org/officeDocument/2006/relationships/slide" Target="/ppt/slides/slide4.xml" Id="R638e54b57d2d4a05" /><Relationship Type="http://schemas.openxmlformats.org/officeDocument/2006/relationships/slide" Target="/ppt/slides/slide5.xml" Id="R838a65142c354a92" /><Relationship Type="http://schemas.openxmlformats.org/officeDocument/2006/relationships/slide" Target="/ppt/slides/slide6.xml" Id="R60f08c7022bd4b6c" /><Relationship Type="http://schemas.openxmlformats.org/officeDocument/2006/relationships/slide" Target="/ppt/slides/slide7.xml" Id="R90b5eb015e9f4523" /><Relationship Type="http://schemas.openxmlformats.org/officeDocument/2006/relationships/slide" Target="/ppt/slides/slide8.xml" Id="R8ffba879b96e4eaf" /><Relationship Type="http://schemas.openxmlformats.org/officeDocument/2006/relationships/slide" Target="/ppt/slides/slide9.xml" Id="R4d7692f688df4758" /><Relationship Type="http://schemas.openxmlformats.org/officeDocument/2006/relationships/slide" Target="/ppt/slides/slide10.xml" Id="R1ca99479c9f74bc4" /><Relationship Type="http://schemas.openxmlformats.org/officeDocument/2006/relationships/slide" Target="/ppt/slides/slide11.xml" Id="Rb4ea1832732e4979" /><Relationship Type="http://schemas.openxmlformats.org/officeDocument/2006/relationships/slide" Target="/ppt/slides/slide12.xml" Id="Reb6d4efbb5304939" /><Relationship Type="http://schemas.openxmlformats.org/officeDocument/2006/relationships/slide" Target="/ppt/slides/slide13.xml" Id="Rbbff351374884b86" /><Relationship Type="http://schemas.openxmlformats.org/officeDocument/2006/relationships/slide" Target="/ppt/slides/slide14.xml" Id="R5f918079932247f3" /><Relationship Type="http://schemas.openxmlformats.org/officeDocument/2006/relationships/slide" Target="/ppt/slides/slide15.xml" Id="R02e57bb7f2744fc4" /><Relationship Type="http://schemas.openxmlformats.org/officeDocument/2006/relationships/slide" Target="/ppt/slides/slide16.xml" Id="Rf499520ea08e4af2" /><Relationship Type="http://schemas.openxmlformats.org/officeDocument/2006/relationships/slide" Target="/ppt/slides/slide17.xml" Id="R4cb960a7570f4901" /><Relationship Type="http://schemas.openxmlformats.org/officeDocument/2006/relationships/slide" Target="/ppt/slides/slide18.xml" Id="R9ec5de493397455b" /><Relationship Type="http://schemas.openxmlformats.org/officeDocument/2006/relationships/slide" Target="/ppt/slides/slide19.xml" Id="Ra77d8aaff5934d3b" /><Relationship Type="http://schemas.openxmlformats.org/officeDocument/2006/relationships/slide" Target="/ppt/slides/slide20.xml" Id="R65b8aa7dea4c40cb" /><Relationship Type="http://schemas.openxmlformats.org/officeDocument/2006/relationships/slide" Target="/ppt/slides/slide21.xml" Id="R55258b94b65f481c" /><Relationship Type="http://schemas.openxmlformats.org/officeDocument/2006/relationships/slide" Target="/ppt/slides/slide22.xml" Id="R18f5d4ac5e9b416d" /><Relationship Type="http://schemas.openxmlformats.org/officeDocument/2006/relationships/slide" Target="/ppt/slides/slide23.xml" Id="R45b51a231d9b4628" /><Relationship Type="http://schemas.openxmlformats.org/officeDocument/2006/relationships/slide" Target="/ppt/slides/slide24.xml" Id="R60b45ec8ae1a452b" /><Relationship Type="http://schemas.openxmlformats.org/officeDocument/2006/relationships/slide" Target="/ppt/slides/slide25.xml" Id="Rd5201534a69840c6" /><Relationship Type="http://schemas.openxmlformats.org/officeDocument/2006/relationships/slide" Target="/ppt/slides/slide26.xml" Id="R9baaa8f131b94297" /><Relationship Type="http://schemas.openxmlformats.org/officeDocument/2006/relationships/slide" Target="/ppt/slides/slide27.xml" Id="R3e7ff45976134839" /><Relationship Type="http://schemas.openxmlformats.org/officeDocument/2006/relationships/slide" Target="/ppt/slides/slide28.xml" Id="Rd4dd5862c1034fe0" /><Relationship Type="http://schemas.openxmlformats.org/officeDocument/2006/relationships/slide" Target="/ppt/slides/slide29.xml" Id="R2e2d02cf51f94831" /><Relationship Type="http://schemas.openxmlformats.org/officeDocument/2006/relationships/slide" Target="/ppt/slides/slide30.xml" Id="Rbe4ca1c442c8482e" /><Relationship Type="http://schemas.openxmlformats.org/officeDocument/2006/relationships/slide" Target="/ppt/slides/slide31.xml" Id="Rfd86e89d9c3c46ae" /><Relationship Type="http://schemas.openxmlformats.org/officeDocument/2006/relationships/slide" Target="/ppt/slides/slide32.xml" Id="R8d865311ea784402" /><Relationship Type="http://schemas.openxmlformats.org/officeDocument/2006/relationships/slide" Target="/ppt/slides/slide33.xml" Id="Rac9d468524d642ca" /><Relationship Type="http://schemas.openxmlformats.org/officeDocument/2006/relationships/slide" Target="/ppt/slides/slide34.xml" Id="R2491de9a05174de7" /><Relationship Type="http://schemas.openxmlformats.org/officeDocument/2006/relationships/slide" Target="/ppt/slides/slide35.xml" Id="Rfa417cf0b7d648ab" /><Relationship Type="http://schemas.openxmlformats.org/officeDocument/2006/relationships/slide" Target="/ppt/slides/slide36.xml" Id="R9a4720e1052f4795" /><Relationship Type="http://schemas.openxmlformats.org/officeDocument/2006/relationships/slide" Target="/ppt/slides/slide37.xml" Id="R9c00e5439df64cbd" /><Relationship Type="http://schemas.openxmlformats.org/officeDocument/2006/relationships/slide" Target="/ppt/slides/slide38.xml" Id="Re17ac2ad11c64aef" /><Relationship Type="http://schemas.openxmlformats.org/officeDocument/2006/relationships/slide" Target="/ppt/slides/slide39.xml" Id="R1a227410bf574256" /><Relationship Type="http://schemas.openxmlformats.org/officeDocument/2006/relationships/slide" Target="/ppt/slides/slide40.xml" Id="Rc3510689d5284a65" /><Relationship Type="http://schemas.openxmlformats.org/officeDocument/2006/relationships/slide" Target="/ppt/slides/slide41.xml" Id="Ra997118f2d6a42f1" /><Relationship Type="http://schemas.openxmlformats.org/officeDocument/2006/relationships/slide" Target="/ppt/slides/slide42.xml" Id="R2d9abb1d54874bbb" /><Relationship Type="http://schemas.openxmlformats.org/officeDocument/2006/relationships/slide" Target="/ppt/slides/slide43.xml" Id="R485277e3d2a1480f" /><Relationship Type="http://schemas.openxmlformats.org/officeDocument/2006/relationships/slide" Target="/ppt/slides/slide44.xml" Id="Rcf292cc0d70b424f" /><Relationship Type="http://schemas.openxmlformats.org/officeDocument/2006/relationships/slide" Target="/ppt/slides/slide45.xml" Id="Rb7d3f5f548a045bb" /><Relationship Type="http://schemas.openxmlformats.org/officeDocument/2006/relationships/slide" Target="/ppt/slides/slide46.xml" Id="R0caf4f2c4c2542a6" /><Relationship Type="http://schemas.openxmlformats.org/officeDocument/2006/relationships/slide" Target="/ppt/slides/slide47.xml" Id="Rbcb40b594fe247d8" /><Relationship Type="http://schemas.openxmlformats.org/officeDocument/2006/relationships/slide" Target="/ppt/slides/slide48.xml" Id="R61fd856d4f374298" /><Relationship Type="http://schemas.openxmlformats.org/officeDocument/2006/relationships/slide" Target="/ppt/slides/slide49.xml" Id="Rfd88fe21f0ac4cfe" /><Relationship Type="http://schemas.openxmlformats.org/officeDocument/2006/relationships/slide" Target="/ppt/slides/slide50.xml" Id="R1489f8b34e2b4a4d" /><Relationship Type="http://schemas.openxmlformats.org/officeDocument/2006/relationships/slide" Target="/ppt/slides/slide51.xml" Id="Rd5c11dbe5f9947cc" /><Relationship Type="http://schemas.openxmlformats.org/officeDocument/2006/relationships/slide" Target="/ppt/slides/slide52.xml" Id="Raafc60cbc9554235" /><Relationship Type="http://schemas.openxmlformats.org/officeDocument/2006/relationships/slide" Target="/ppt/slides/slide53.xml" Id="R427ab0988643484f" /><Relationship Type="http://schemas.openxmlformats.org/officeDocument/2006/relationships/slide" Target="/ppt/slides/slide54.xml" Id="R62f6a8d8759340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e43666909b4e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53397931474298" /><Relationship Type="http://schemas.openxmlformats.org/officeDocument/2006/relationships/notesMaster" Target="/ppt/notesMasters/notesMaster1.xml" Id="Rb8ba2117b20047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4a4c74d27d4f90" /><Relationship Type="http://schemas.openxmlformats.org/officeDocument/2006/relationships/notesMaster" Target="/ppt/notesMasters/notesMaster1.xml" Id="Racba637781f74b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eca633bba74e2e" /><Relationship Type="http://schemas.openxmlformats.org/officeDocument/2006/relationships/notesMaster" Target="/ppt/notesMasters/notesMaster1.xml" Id="Rf30162db5fef41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04c571aeda4eaf" /><Relationship Type="http://schemas.openxmlformats.org/officeDocument/2006/relationships/notesMaster" Target="/ppt/notesMasters/notesMaster1.xml" Id="Rf0ce77e115944c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3282c576244344" /><Relationship Type="http://schemas.openxmlformats.org/officeDocument/2006/relationships/notesMaster" Target="/ppt/notesMasters/notesMaster1.xml" Id="Rf2671fad200f4c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43bd5763184200" /><Relationship Type="http://schemas.openxmlformats.org/officeDocument/2006/relationships/notesMaster" Target="/ppt/notesMasters/notesMaster1.xml" Id="R8729495d267743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d3c4fc418b4a0a" /><Relationship Type="http://schemas.openxmlformats.org/officeDocument/2006/relationships/notesMaster" Target="/ppt/notesMasters/notesMaster1.xml" Id="Rc1532ab824fe4c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1a9547dc774c8f" /><Relationship Type="http://schemas.openxmlformats.org/officeDocument/2006/relationships/notesMaster" Target="/ppt/notesMasters/notesMaster1.xml" Id="R9d4daa3a62644f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e499caa157c46ea" /><Relationship Type="http://schemas.openxmlformats.org/officeDocument/2006/relationships/notesMaster" Target="/ppt/notesMasters/notesMaster1.xml" Id="R8ee5ac04d2f34a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060d3666aa42e7" /><Relationship Type="http://schemas.openxmlformats.org/officeDocument/2006/relationships/notesMaster" Target="/ppt/notesMasters/notesMaster1.xml" Id="R8004a8c698cb42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447d61e0594e38" /><Relationship Type="http://schemas.openxmlformats.org/officeDocument/2006/relationships/notesMaster" Target="/ppt/notesMasters/notesMaster1.xml" Id="Ra21e43c0537e44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ae13d280284171" /><Relationship Type="http://schemas.openxmlformats.org/officeDocument/2006/relationships/notesMaster" Target="/ppt/notesMasters/notesMaster1.xml" Id="R862ec317219a41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1d12f3012b4e1f" /><Relationship Type="http://schemas.openxmlformats.org/officeDocument/2006/relationships/notesMaster" Target="/ppt/notesMasters/notesMaster1.xml" Id="Rf8f6e674285941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ce20e87f104093" /><Relationship Type="http://schemas.openxmlformats.org/officeDocument/2006/relationships/notesMaster" Target="/ppt/notesMasters/notesMaster1.xml" Id="Ra800d4ff0376491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7cb3331c5d4ebb" /><Relationship Type="http://schemas.openxmlformats.org/officeDocument/2006/relationships/notesMaster" Target="/ppt/notesMasters/notesMaster1.xml" Id="R3f12ac9fc53847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25c7bc6a554c4c" /><Relationship Type="http://schemas.openxmlformats.org/officeDocument/2006/relationships/notesMaster" Target="/ppt/notesMasters/notesMaster1.xml" Id="R2536101938294fe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98995d3b3b4a0f" /><Relationship Type="http://schemas.openxmlformats.org/officeDocument/2006/relationships/notesMaster" Target="/ppt/notesMasters/notesMaster1.xml" Id="R75d187c0b56f49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69e68dfa394a25" /><Relationship Type="http://schemas.openxmlformats.org/officeDocument/2006/relationships/notesMaster" Target="/ppt/notesMasters/notesMaster1.xml" Id="R60af3910887d49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b94b9288494350" /><Relationship Type="http://schemas.openxmlformats.org/officeDocument/2006/relationships/notesMaster" Target="/ppt/notesMasters/notesMaster1.xml" Id="Rd7c158384d3f4cf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16b7acdc0db44c0" /><Relationship Type="http://schemas.openxmlformats.org/officeDocument/2006/relationships/notesMaster" Target="/ppt/notesMasters/notesMaster1.xml" Id="Rb07f93affb8f4e8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26d4654055445f" /><Relationship Type="http://schemas.openxmlformats.org/officeDocument/2006/relationships/notesMaster" Target="/ppt/notesMasters/notesMaster1.xml" Id="R03bff6ec25de439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0a7c4662736444f" /><Relationship Type="http://schemas.openxmlformats.org/officeDocument/2006/relationships/notesMaster" Target="/ppt/notesMasters/notesMaster1.xml" Id="R622df72b95bc4a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9ab5d5cedae46cb" /><Relationship Type="http://schemas.openxmlformats.org/officeDocument/2006/relationships/notesMaster" Target="/ppt/notesMasters/notesMaster1.xml" Id="R9ab96af5963f4ee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9ee196d93c2492d" /><Relationship Type="http://schemas.openxmlformats.org/officeDocument/2006/relationships/notesMaster" Target="/ppt/notesMasters/notesMaster1.xml" Id="Re36da7fafb2640d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67b0bdab224f63" /><Relationship Type="http://schemas.openxmlformats.org/officeDocument/2006/relationships/notesMaster" Target="/ppt/notesMasters/notesMaster1.xml" Id="R57e30c249dc6422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2130cf05d04f63" /><Relationship Type="http://schemas.openxmlformats.org/officeDocument/2006/relationships/notesMaster" Target="/ppt/notesMasters/notesMaster1.xml" Id="R79b3c7a105d14b3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0e2c4b232bf4ed6" /><Relationship Type="http://schemas.openxmlformats.org/officeDocument/2006/relationships/notesMaster" Target="/ppt/notesMasters/notesMaster1.xml" Id="Rdceda0ccc1e042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b4cea40ec7948e8" /><Relationship Type="http://schemas.openxmlformats.org/officeDocument/2006/relationships/notesMaster" Target="/ppt/notesMasters/notesMaster1.xml" Id="R855520ff694b403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6dc764b9b0e4503" /><Relationship Type="http://schemas.openxmlformats.org/officeDocument/2006/relationships/notesMaster" Target="/ppt/notesMasters/notesMaster1.xml" Id="Rcd3464712d714a2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ce0f15346334594" /><Relationship Type="http://schemas.openxmlformats.org/officeDocument/2006/relationships/notesMaster" Target="/ppt/notesMasters/notesMaster1.xml" Id="Rdffe029167544f0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7bd258aec054044" /><Relationship Type="http://schemas.openxmlformats.org/officeDocument/2006/relationships/notesMaster" Target="/ppt/notesMasters/notesMaster1.xml" Id="Rb7d3d66837d2416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792dda1de104927" /><Relationship Type="http://schemas.openxmlformats.org/officeDocument/2006/relationships/notesMaster" Target="/ppt/notesMasters/notesMaster1.xml" Id="Rec54a1fd5c2045d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b1c406fc2a848e8" /><Relationship Type="http://schemas.openxmlformats.org/officeDocument/2006/relationships/notesMaster" Target="/ppt/notesMasters/notesMaster1.xml" Id="Ra8219deb8dbc457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f8d68a3a15340ad" /><Relationship Type="http://schemas.openxmlformats.org/officeDocument/2006/relationships/notesMaster" Target="/ppt/notesMasters/notesMaster1.xml" Id="R7aebdccc55024a7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d2a4fbac1ef4cab" /><Relationship Type="http://schemas.openxmlformats.org/officeDocument/2006/relationships/notesMaster" Target="/ppt/notesMasters/notesMaster1.xml" Id="R5c327a8cb562401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98c0c734cd542af" /><Relationship Type="http://schemas.openxmlformats.org/officeDocument/2006/relationships/notesMaster" Target="/ppt/notesMasters/notesMaster1.xml" Id="Rf91a1bdda311494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92ecc8650fb43a6" /><Relationship Type="http://schemas.openxmlformats.org/officeDocument/2006/relationships/notesMaster" Target="/ppt/notesMasters/notesMaster1.xml" Id="Rf58cafffd7674c5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9705571af854dfd" /><Relationship Type="http://schemas.openxmlformats.org/officeDocument/2006/relationships/notesMaster" Target="/ppt/notesMasters/notesMaster1.xml" Id="R4a89e73d7cb1453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cdf3607e6e94e63" /><Relationship Type="http://schemas.openxmlformats.org/officeDocument/2006/relationships/notesMaster" Target="/ppt/notesMasters/notesMaster1.xml" Id="R5060a71cfdd749c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f5b9834554a4bd3" /><Relationship Type="http://schemas.openxmlformats.org/officeDocument/2006/relationships/notesMaster" Target="/ppt/notesMasters/notesMaster1.xml" Id="R0f15ba1ac40e4c3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aa26f64c44247a2" /><Relationship Type="http://schemas.openxmlformats.org/officeDocument/2006/relationships/notesMaster" Target="/ppt/notesMasters/notesMaster1.xml" Id="R4c9f0fb7f4274cf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7687d887012407c" /><Relationship Type="http://schemas.openxmlformats.org/officeDocument/2006/relationships/notesMaster" Target="/ppt/notesMasters/notesMaster1.xml" Id="R65b90b463745416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6add1d81e26421d" /><Relationship Type="http://schemas.openxmlformats.org/officeDocument/2006/relationships/notesMaster" Target="/ppt/notesMasters/notesMaster1.xml" Id="Rd6d1fa8b5f244ab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68fe556d8dc4055" /><Relationship Type="http://schemas.openxmlformats.org/officeDocument/2006/relationships/notesMaster" Target="/ppt/notesMasters/notesMaster1.xml" Id="Rfa2a5d3b2845415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99b0111cb8a4271" /><Relationship Type="http://schemas.openxmlformats.org/officeDocument/2006/relationships/notesMaster" Target="/ppt/notesMasters/notesMaster1.xml" Id="R97eef01620bc4ec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dc8d045fe404abb" /><Relationship Type="http://schemas.openxmlformats.org/officeDocument/2006/relationships/notesMaster" Target="/ppt/notesMasters/notesMaster1.xml" Id="R382ff1b6c410455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1c616e13c6e4c63" /><Relationship Type="http://schemas.openxmlformats.org/officeDocument/2006/relationships/notesMaster" Target="/ppt/notesMasters/notesMaster1.xml" Id="R19cfd05d0168468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d5258f36da645d2" /><Relationship Type="http://schemas.openxmlformats.org/officeDocument/2006/relationships/notesMaster" Target="/ppt/notesMasters/notesMaster1.xml" Id="R0dedaa59ec2c421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081b645f24d4443" /><Relationship Type="http://schemas.openxmlformats.org/officeDocument/2006/relationships/notesMaster" Target="/ppt/notesMasters/notesMaster1.xml" Id="R479eafa02521405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a7f00f390b54daf" /><Relationship Type="http://schemas.openxmlformats.org/officeDocument/2006/relationships/notesMaster" Target="/ppt/notesMasters/notesMaster1.xml" Id="R6b04c829528c4b5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ca130968058442a" /><Relationship Type="http://schemas.openxmlformats.org/officeDocument/2006/relationships/notesMaster" Target="/ppt/notesMasters/notesMaster1.xml" Id="R93b945fd282a41a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bc3ee61e69d439b" /><Relationship Type="http://schemas.openxmlformats.org/officeDocument/2006/relationships/notesMaster" Target="/ppt/notesMasters/notesMaster1.xml" Id="R389fc4af1cf8482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c92696a557041d4" /><Relationship Type="http://schemas.openxmlformats.org/officeDocument/2006/relationships/notesMaster" Target="/ppt/notesMasters/notesMaster1.xml" Id="Rcb5d3a193bc04ef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183070d5ed346d4" /><Relationship Type="http://schemas.openxmlformats.org/officeDocument/2006/relationships/notesMaster" Target="/ppt/notesMasters/notesMaster1.xml" Id="R91b7b68fdde645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positioning the lecture as a bridge from foundations to implementation. The central claim is that useful academic agents are governed systems, not merely smarter chat interfaces.</a:t>
            </a:r>
          </a:p>
          <a:p xmlns:a="http://schemas.openxmlformats.org/drawingml/2006/main">
            <a:r>
              <a:t/>
            </a:r>
          </a:p>
          <a:p xmlns:a="http://schemas.openxmlformats.org/drawingml/2006/main">
            <a:r>
              <a:t>[Sources]</a:t>
            </a:r>
          </a:p>
          <a:p xmlns:a="http://schemas.openxmlformats.org/drawingml/2006/main">
            <a:r>
              <a:t>- https://peraturan.bpk.go.id/Details/%2039063/uu-no-12-tahun-2012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expectations: this is not a product pitch. It is a conceptual and practical lecture that ends with a concrete implementation model.</a:t>
            </a:r>
          </a:p>
          <a:p xmlns:a="http://schemas.openxmlformats.org/drawingml/2006/main">
            <a:r>
              <a:t/>
            </a:r>
          </a:p>
          <a:p xmlns:a="http://schemas.openxmlformats.org/drawingml/2006/main">
            <a:r>
              <a:t>[Sources]</a:t>
            </a:r>
          </a:p>
          <a:p xmlns:a="http://schemas.openxmlformats.org/drawingml/2006/main">
            <a:r>
              <a:t>- Original lecture synthesis; no external claim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legal and institutional frame only to establish the three obligations. The rest of the lecture asks how one academic workspace can support them without collapsing their distinct responsibilities.</a:t>
            </a:r>
          </a:p>
          <a:p xmlns:a="http://schemas.openxmlformats.org/drawingml/2006/main">
            <a:r>
              <a:t/>
            </a:r>
          </a:p>
          <a:p xmlns:a="http://schemas.openxmlformats.org/drawingml/2006/main">
            <a:r>
              <a:t>[Sources]</a:t>
            </a:r>
          </a:p>
          <a:p xmlns:a="http://schemas.openxmlformats.org/drawingml/2006/main">
            <a:r>
              <a:t>- https://peraturan.bpk.go.id/Details/%2039063/uu-no-12-tahun-2012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Files, sources, deadlines, design choices, feedback, and publication decisions are distributed across tools—and across time.</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agentic workspace gives work a durable home, bounded tools, repeatable workflows, and a visible review trail.</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a:p xmlns:a="http://schemas.openxmlformats.org/drawingml/2006/main">
            <a:r>
              <a:t>- https://airc.nist.gov/airmf-resources/airmf/5-sec-core/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divider to reset the room. What changes when a language model becomes part of a working system?</a:t>
            </a:r>
          </a:p>
          <a:p xmlns:a="http://schemas.openxmlformats.org/drawingml/2006/main">
            <a:r>
              <a:t/>
            </a:r>
          </a:p>
          <a:p xmlns:a="http://schemas.openxmlformats.org/drawingml/2006/main">
            <a:r>
              <a:t>[Sources]</a:t>
            </a:r>
          </a:p>
          <a:p xmlns:a="http://schemas.openxmlformats.org/drawingml/2006/main">
            <a:r>
              <a:t>- Original lecture synthesis; no external claim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distinctions functional. An LLM is a model. An agent is a system built around a model.</a:t>
            </a:r>
          </a:p>
          <a:p xmlns:a="http://schemas.openxmlformats.org/drawingml/2006/main">
            <a:r>
              <a:t/>
            </a:r>
          </a:p>
          <a:p xmlns:a="http://schemas.openxmlformats.org/drawingml/2006/main">
            <a:r>
              <a:t>[Sources]</a:t>
            </a:r>
          </a:p>
          <a:p xmlns:a="http://schemas.openxmlformats.org/drawingml/2006/main">
            <a:r>
              <a:t>- Original lecture synthesis; no external claim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fluent generation and factual grounding are separate design problems. This is why external tools and evidence matter.</a:t>
            </a:r>
          </a:p>
          <a:p xmlns:a="http://schemas.openxmlformats.org/drawingml/2006/main">
            <a:r>
              <a:t/>
            </a:r>
          </a:p>
          <a:p xmlns:a="http://schemas.openxmlformats.org/drawingml/2006/main">
            <a:r>
              <a:t>[Sources]</a:t>
            </a:r>
          </a:p>
          <a:p xmlns:a="http://schemas.openxmlformats.org/drawingml/2006/main">
            <a:r>
              <a:t>- https://arxiv.org/abs/2302.04761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stronger prompt improves a single interaction. Persistent project memory and workflows improve continuity across interactions.</a:t>
            </a:r>
          </a:p>
          <a:p xmlns:a="http://schemas.openxmlformats.org/drawingml/2006/main">
            <a:r>
              <a:t/>
            </a:r>
          </a:p>
          <a:p xmlns:a="http://schemas.openxmlformats.org/drawingml/2006/main">
            <a:r>
              <a:t>[Sources]</a:t>
            </a:r>
          </a:p>
          <a:p xmlns:a="http://schemas.openxmlformats.org/drawingml/2006/main">
            <a:r>
              <a:t>- Original lecture synthesis; no external claim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https://arxiv.org/abs/2210.03629</a:t>
            </a:r>
          </a:p>
          <a:p xmlns:a="http://schemas.openxmlformats.org/drawingml/2006/main">
            <a:r>
              <a:t>- https://arxiv.org/abs/2302.04761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loop is the central mental model for the lecture. Agent quality depends on every part of the loop, not only on the model.</a:t>
            </a:r>
          </a:p>
          <a:p xmlns:a="http://schemas.openxmlformats.org/drawingml/2006/main">
            <a:r>
              <a:t/>
            </a:r>
          </a:p>
          <a:p xmlns:a="http://schemas.openxmlformats.org/drawingml/2006/main">
            <a:r>
              <a:t>[Sources]</a:t>
            </a:r>
          </a:p>
          <a:p xmlns:a="http://schemas.openxmlformats.org/drawingml/2006/main">
            <a:r>
              <a:t>- https://arxiv.org/abs/2210.03629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rises as tools move from reading to creating to changing external state. Permissions and approval gates must rise with it.</a:t>
            </a:r>
          </a:p>
          <a:p xmlns:a="http://schemas.openxmlformats.org/drawingml/2006/main">
            <a:r>
              <a:t/>
            </a:r>
          </a:p>
          <a:p xmlns:a="http://schemas.openxmlformats.org/drawingml/2006/main">
            <a:r>
              <a:t>[Sources]</a:t>
            </a:r>
          </a:p>
          <a:p xmlns:a="http://schemas.openxmlformats.org/drawingml/2006/main">
            <a:r>
              <a:t>- https://arxiv.org/abs/2302.04761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https://arxiv.org/abs/2304.03442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https://airc.nist.gov/airmf-resources/airmf/5-sec-core/</a:t>
            </a:r>
          </a:p>
          <a:p xmlns:a="http://schemas.openxmlformats.org/drawingml/2006/main">
            <a:r>
              <a:t>-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divider to reset the room. Planning, acting, remembering, reflecting, and governing the loop.</a:t>
            </a:r>
          </a:p>
          <a:p xmlns:a="http://schemas.openxmlformats.org/drawingml/2006/main">
            <a:r>
              <a:t/>
            </a:r>
          </a:p>
          <a:p xmlns:a="http://schemas.openxmlformats.org/drawingml/2006/main">
            <a:r>
              <a:t>[Sources]</a:t>
            </a:r>
          </a:p>
          <a:p xmlns:a="http://schemas.openxmlformats.org/drawingml/2006/main">
            <a:r>
              <a:t>- Original lecture synthesis; no external claim on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ReAct paper shows the value of interleaving reasoning traces and actions. In deployed systems, internal reasoning need not be exposed; the important operational pattern is plan–act–observe–revise.</a:t>
            </a:r>
          </a:p>
          <a:p xmlns:a="http://schemas.openxmlformats.org/drawingml/2006/main">
            <a:r>
              <a:t/>
            </a:r>
          </a:p>
          <a:p xmlns:a="http://schemas.openxmlformats.org/drawingml/2006/main">
            <a:r>
              <a:t>[Sources]</a:t>
            </a:r>
          </a:p>
          <a:p xmlns:a="http://schemas.openxmlformats.org/drawingml/2006/main">
            <a:r>
              <a:t>- https://arxiv.org/abs/2210.03629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https://arxiv.org/abs/2210.03629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https://arxiv.org/abs/2302.04761</a:t>
            </a:r>
          </a:p>
          <a:p xmlns:a="http://schemas.openxmlformats.org/drawingml/2006/main">
            <a:r>
              <a:t>- https://airc.nist.gov/airmf-resources/airmf/5-sec-core/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loop repeats after feedback.</a:t>
            </a:r>
          </a:p>
          <a:p xmlns:a="http://schemas.openxmlformats.org/drawingml/2006/main">
            <a:r>
              <a:t/>
            </a:r>
          </a:p>
          <a:p xmlns:a="http://schemas.openxmlformats.org/drawingml/2006/main">
            <a:r>
              <a:t>[Sources]</a:t>
            </a:r>
          </a:p>
          <a:p xmlns:a="http://schemas.openxmlformats.org/drawingml/2006/main">
            <a:r>
              <a:t>- https://arxiv.org/abs/2304.03442</a:t>
            </a:r>
          </a:p>
          <a:p xmlns:a="http://schemas.openxmlformats.org/drawingml/2006/main">
            <a:r>
              <a:t>- https://arxiv.org/abs/2005.11401</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improves access to explicit knowledge and provenance. It does not make every retrieved source correct, relevant, or current; retrieval quality remains part of the system.</a:t>
            </a:r>
          </a:p>
          <a:p xmlns:a="http://schemas.openxmlformats.org/drawingml/2006/main">
            <a:r>
              <a:t/>
            </a:r>
          </a:p>
          <a:p xmlns:a="http://schemas.openxmlformats.org/drawingml/2006/main">
            <a:r>
              <a:t>[Sources]</a:t>
            </a:r>
          </a:p>
          <a:p xmlns:a="http://schemas.openxmlformats.org/drawingml/2006/main">
            <a:r>
              <a:t>- https://arxiv.org/abs/2005.11401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https://arxiv.org/abs/2304.03442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More agents do not automatically mean better results. Start with the smallest orchestration that makes the workflow observable and testable.</a:t>
            </a:r>
          </a:p>
          <a:p xmlns:a="http://schemas.openxmlformats.org/drawingml/2006/main">
            <a:r>
              <a:t/>
            </a:r>
          </a:p>
          <a:p xmlns:a="http://schemas.openxmlformats.org/drawingml/2006/main">
            <a:r>
              <a:t>[Sources]</a:t>
            </a:r>
          </a:p>
          <a:p xmlns:a="http://schemas.openxmlformats.org/drawingml/2006/main">
            <a:r>
              <a:t>- https://arxiv.org/abs/2210.03629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loop repeats after feedback.</a:t>
            </a:r>
          </a:p>
          <a:p xmlns:a="http://schemas.openxmlformats.org/drawingml/2006/main">
            <a:r>
              <a:t/>
            </a:r>
          </a:p>
          <a:p xmlns:a="http://schemas.openxmlformats.org/drawingml/2006/main">
            <a:r>
              <a:t>[Sources]</a:t>
            </a:r>
          </a:p>
          <a:p xmlns:a="http://schemas.openxmlformats.org/drawingml/2006/main">
            <a:r>
              <a:t>- https://airc.nist.gov/airmf-resources/airmf/5-sec-core/</a:t>
            </a:r>
          </a:p>
          <a:p xmlns:a="http://schemas.openxmlformats.org/drawingml/2006/main">
            <a:r>
              <a:t>-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https://arxiv.org/abs/2302.04761</a:t>
            </a:r>
          </a:p>
          <a:p xmlns:a="http://schemas.openxmlformats.org/drawingml/2006/main">
            <a:r>
              <a:t>- https://airc.nist.gov/airmf-resources/airmf/5-sec-core/</a:t>
            </a:r>
          </a:p>
          <a:p xmlns:a="http://schemas.openxmlformats.org/drawingml/2006/main">
            <a:r>
              <a:t>-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division of labor is explicit: preparation may be delegated; accountability is not.</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a:p xmlns:a="http://schemas.openxmlformats.org/drawingml/2006/main">
            <a:r>
              <a:t>- https://www.unesco.org/en/articles/guidance-generative-ai-education-and-research</a:t>
            </a:r>
          </a:p>
          <a:p xmlns:a="http://schemas.openxmlformats.org/drawingml/2006/main">
            <a:r>
              <a:t>- https://airc.nist.gov/airmf-resources/airmf/5-sec-core/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model benchmark is not an evaluation of an academic workflow. Test the artifact, the process, and the governance together.</a:t>
            </a:r>
          </a:p>
          <a:p xmlns:a="http://schemas.openxmlformats.org/drawingml/2006/main">
            <a:r>
              <a:t/>
            </a:r>
          </a:p>
          <a:p xmlns:a="http://schemas.openxmlformats.org/drawingml/2006/main">
            <a:r>
              <a:t>[Sources]</a:t>
            </a:r>
          </a:p>
          <a:p xmlns:a="http://schemas.openxmlformats.org/drawingml/2006/main">
            <a:r>
              <a:t>- https://airc.nist.gov/airmf-resources/airmf/5-sec-core/</a:t>
            </a:r>
          </a:p>
          <a:p xmlns:a="http://schemas.openxmlformats.org/drawingml/2006/main">
            <a:r>
              <a:t>- https://www.oecd.org/en/publications/policies-supporting-responsible-and-systematic-genai-adoption-in-higher-education_c4e5621f-en.html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divider to reset the room. Map one agentic workspace to the distinct responsibilities of Tri Dharma.</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workflow hypothesis, not a proven one-click MVP capability. The important word is reviewed: reuse should preserve provenance and responsibility.</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https://www.unesco.org/en/articles/guidance-generative-ai-education-and-research</a:t>
            </a:r>
          </a:p>
          <a:p xmlns:a="http://schemas.openxmlformats.org/drawingml/2006/main">
            <a:r>
              <a:t>- https://www.oecd.org/en/publications/policies-supporting-responsible-and-systematic-genai-adoption-in-higher-education_c4e5621f-en.html</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a:p xmlns:a="http://schemas.openxmlformats.org/drawingml/2006/main">
            <a:r>
              <a:t>-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divider to reset the room. Build the workspace carefully—and separate the MVP from the vision.</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Anchor this slide to snapshot commit 6c76a25. The deck distinguishes repository evidence from the broader product narrative.</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Play the embedded video to show how a difficult technical idea can become a paced, captioned explanation. The media is used directly from the supplied product materials. This remains a product example, not separate proof of a currently shipped first-class CLI feature.</a:t>
            </a:r>
          </a:p>
          <a:p xmlns:a="http://schemas.openxmlformats.org/drawingml/2006/main">
            <a:r>
              <a:t/>
            </a:r>
          </a:p>
          <a:p xmlns:a="http://schemas.openxmlformats.org/drawingml/2006/main">
            <a:r>
              <a:t>[Sources]</a:t>
            </a:r>
          </a:p>
          <a:p xmlns:a="http://schemas.openxmlformats.org/drawingml/2006/main">
            <a:r>
              <a:t>- Embedded media: AFK Research gradient-descent explainer (presenter-supplied, 2026).</a:t>
            </a:r>
          </a:p>
          <a:p xmlns:a="http://schemas.openxmlformats.org/drawingml/2006/main">
            <a:r>
              <a:t>- Presenter-supplied AFK Research product media, source slides 9–12.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richer evidence for formative learning, not automatic grading. The media is used directly from the supplied product materials. This remains a product example, not separate proof of a currently shipped first-class CLI feature.</a:t>
            </a:r>
          </a:p>
          <a:p xmlns:a="http://schemas.openxmlformats.org/drawingml/2006/main">
            <a:r>
              <a:t/>
            </a:r>
          </a:p>
          <a:p xmlns:a="http://schemas.openxmlformats.org/drawingml/2006/main">
            <a:r>
              <a:t>[Sources]</a:t>
            </a:r>
          </a:p>
          <a:p xmlns:a="http://schemas.openxmlformats.org/drawingml/2006/main">
            <a:r>
              <a:t>- Presenter-supplied AFK Research product media, source slides 9–12.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website example to the private-source and reviewed-export boundary introduced earlier. The media is used directly from the supplied product materials. This remains a product example, not separate proof of a currently shipped first-class CLI feature.</a:t>
            </a:r>
          </a:p>
          <a:p xmlns:a="http://schemas.openxmlformats.org/drawingml/2006/main">
            <a:r>
              <a:t/>
            </a:r>
          </a:p>
          <a:p xmlns:a="http://schemas.openxmlformats.org/drawingml/2006/main">
            <a:r>
              <a:t>[Sources]</a:t>
            </a:r>
          </a:p>
          <a:p xmlns:a="http://schemas.openxmlformats.org/drawingml/2006/main">
            <a:r>
              <a:t>- Presenter-supplied AFK Research product media, source slides 9–12.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coherence and reuse: the Design System guides the family while each artifact remains editable. The media is used directly from the supplied product materials. This remains a product example, not separate proof of a currently shipped first-class CLI feature.</a:t>
            </a:r>
          </a:p>
          <a:p xmlns:a="http://schemas.openxmlformats.org/drawingml/2006/main">
            <a:r>
              <a:t/>
            </a:r>
          </a:p>
          <a:p xmlns:a="http://schemas.openxmlformats.org/drawingml/2006/main">
            <a:r>
              <a:t>[Sources]</a:t>
            </a:r>
          </a:p>
          <a:p xmlns:a="http://schemas.openxmlformats.org/drawingml/2006/main">
            <a:r>
              <a:t>- Presenter-supplied AFK Research product media, source slides 9–12.</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loop repeats after feedback.</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command as a safety workflow, not as a magic incantation. Preview, verify, choose features, then apply.</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loop repeats after feedback.</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loop repeats after feedback.</a:t>
            </a:r>
          </a:p>
          <a:p xmlns:a="http://schemas.openxmlformats.org/drawingml/2006/main">
            <a:r>
              <a:t/>
            </a:r>
          </a:p>
          <a:p xmlns:a="http://schemas.openxmlformats.org/drawingml/2006/main">
            <a:r>
              <a:t>[Sources]</a:t>
            </a:r>
          </a:p>
          <a:p xmlns:a="http://schemas.openxmlformats.org/drawingml/2006/main">
            <a:r>
              <a:t>- https://www.unesco.org/en/articles/guidance-generative-ai-education-and-research</a:t>
            </a:r>
          </a:p>
          <a:p xmlns:a="http://schemas.openxmlformats.org/drawingml/2006/main">
            <a:r>
              <a:t>- https://www.oecd.org/en/publications/policies-supporting-responsible-and-systematic-genai-adoption-in-higher-education_c4e5621f-en.html</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the loop repeats after feedback.</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the 3 parts as one system.</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strongest concrete example of human ownership in the MVP: the setup does not silently overwrite project-authored edits.</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adoption principle is deliberately conservative: prove a bounded workflow before increasing autonomy or connecting external write actions.</a:t>
            </a:r>
          </a:p>
          <a:p xmlns:a="http://schemas.openxmlformats.org/drawingml/2006/main">
            <a:r>
              <a:t/>
            </a:r>
          </a:p>
          <a:p xmlns:a="http://schemas.openxmlformats.org/drawingml/2006/main">
            <a:r>
              <a:t>[Sources]</a:t>
            </a:r>
          </a:p>
          <a:p xmlns:a="http://schemas.openxmlformats.org/drawingml/2006/main">
            <a:r>
              <a:t>- https://airc.nist.gov/airmf-resources/airmf/5-sec-core/</a:t>
            </a:r>
          </a:p>
          <a:p xmlns:a="http://schemas.openxmlformats.org/drawingml/2006/main">
            <a:r>
              <a:t>- https://www.unesco.org/en/articles/guidance-generative-ai-education-and-research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participants to use the speaker-note source blocks throughout the deck for precise links. AFK Research evidence was reviewed privately; this public export excludes private source material.</a:t>
            </a:r>
          </a:p>
          <a:p xmlns:a="http://schemas.openxmlformats.org/drawingml/2006/main">
            <a:r>
              <a:t/>
            </a:r>
          </a:p>
          <a:p xmlns:a="http://schemas.openxmlformats.org/drawingml/2006/main">
            <a:r>
              <a:t>[Sources]</a:t>
            </a:r>
          </a:p>
          <a:p xmlns:a="http://schemas.openxmlformats.org/drawingml/2006/main">
            <a:r>
              <a:t>- https://peraturan.bpk.go.id/Details/%2039063/uu-no-12-tahun-2012</a:t>
            </a:r>
          </a:p>
          <a:p xmlns:a="http://schemas.openxmlformats.org/drawingml/2006/main">
            <a:r>
              <a:t>- https://arxiv.org/abs/2210.03629</a:t>
            </a:r>
          </a:p>
          <a:p xmlns:a="http://schemas.openxmlformats.org/drawingml/2006/main">
            <a:r>
              <a:t>- https://arxiv.org/abs/2302.04761</a:t>
            </a:r>
          </a:p>
          <a:p xmlns:a="http://schemas.openxmlformats.org/drawingml/2006/main">
            <a:r>
              <a:t>- https://arxiv.org/abs/2304.03442</a:t>
            </a:r>
          </a:p>
          <a:p xmlns:a="http://schemas.openxmlformats.org/drawingml/2006/main">
            <a:r>
              <a:t>- https://arxiv.org/abs/2005.11401</a:t>
            </a:r>
          </a:p>
          <a:p xmlns:a="http://schemas.openxmlformats.org/drawingml/2006/main">
            <a:r>
              <a:t>- https://www.unesco.org/en/articles/guidance-generative-ai-education-and-research</a:t>
            </a:r>
          </a:p>
          <a:p xmlns:a="http://schemas.openxmlformats.org/drawingml/2006/main">
            <a:r>
              <a:t>- https://airc.nist.gov/airmf-resources/airmf/5-sec-core/</a:t>
            </a:r>
          </a:p>
          <a:p xmlns:a="http://schemas.openxmlformats.org/drawingml/2006/main">
            <a:r>
              <a:t>- https://www.oecd.org/en/publications/policies-supporting-responsible-and-systematic-genai-adoption-in-higher-education_c4e5621f-en.html</a:t>
            </a:r>
          </a:p>
          <a:p xmlns:a="http://schemas.openxmlformats.org/drawingml/2006/main">
            <a:r>
              <a:t>- AFK Research project evidence reviewed in the private source repository; not included in this public export.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tension. The goal is not autonomous academia. The goal is continuity, leverage, and visible evidence while the lecturer retains accountable judgment. The repository link is the public home for this released deck.</a:t>
            </a:r>
          </a:p>
          <a:p xmlns:a="http://schemas.openxmlformats.org/drawingml/2006/main">
            <a:r>
              <a:t/>
            </a:r>
          </a:p>
          <a:p xmlns:a="http://schemas.openxmlformats.org/drawingml/2006/main">
            <a:r>
              <a:t>[Sources]</a:t>
            </a:r>
          </a:p>
          <a:p xmlns:a="http://schemas.openxmlformats.org/drawingml/2006/main">
            <a:r>
              <a:t>- AFK Research project evidence reviewed in the private source repository; not included in this public export.</a:t>
            </a:r>
          </a:p>
          <a:p xmlns:a="http://schemas.openxmlformats.org/drawingml/2006/main">
            <a:r>
              <a:t>- https://www.unesco.org/en/articles/guidance-generative-ai-education-and-research</a:t>
            </a:r>
          </a:p>
          <a:p xmlns:a="http://schemas.openxmlformats.org/drawingml/2006/main">
            <a:r>
              <a:t>- https://airc.nist.gov/airmf-resources/airmf/5-sec-core/</a:t>
            </a:r>
          </a:p>
          <a:p xmlns:a="http://schemas.openxmlformats.org/drawingml/2006/main">
            <a:r>
              <a:t>- https://github.com/RTTJogja/dcse-summer-ppt-public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7931cce57d49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cb655e929b4046" /><Relationship Type="http://schemas.openxmlformats.org/officeDocument/2006/relationships/slideLayout" Target="/ppt/slideLayouts/slideLayout1.xml" Id="R5ec22adb3f4048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c22adb3f4048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7319446852412e" /><Relationship Type="http://schemas.openxmlformats.org/officeDocument/2006/relationships/notesSlide" Target="/ppt/notesSlides/notesSlide1.xml" Id="R84f17e58865541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95e09ba20340b8" /><Relationship Type="http://schemas.openxmlformats.org/officeDocument/2006/relationships/notesSlide" Target="/ppt/notesSlides/notesSlide2.xml" Id="R7891ff6f3a1f40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b92a4dfc5144306" /><Relationship Type="http://schemas.openxmlformats.org/officeDocument/2006/relationships/notesSlide" Target="/ppt/notesSlides/notesSlide3.xml" Id="R327feccaf64b49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3a7f6bd78544a6a" /><Relationship Type="http://schemas.openxmlformats.org/officeDocument/2006/relationships/notesSlide" Target="/ppt/notesSlides/notesSlide4.xml" Id="Rf1407d690e8140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68e3ee69bd4e0b" /><Relationship Type="http://schemas.openxmlformats.org/officeDocument/2006/relationships/notesSlide" Target="/ppt/notesSlides/notesSlide5.xml" Id="Rcaa035d823544d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0786fc365b4e61" /><Relationship Type="http://schemas.openxmlformats.org/officeDocument/2006/relationships/notesSlide" Target="/ppt/notesSlides/notesSlide6.xml" Id="R3d4955ee4c7d4e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984cd050144819" /><Relationship Type="http://schemas.openxmlformats.org/officeDocument/2006/relationships/notesSlide" Target="/ppt/notesSlides/notesSlide7.xml" Id="R8ed4fca0975d4a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b38636418b4341" /><Relationship Type="http://schemas.openxmlformats.org/officeDocument/2006/relationships/notesSlide" Target="/ppt/notesSlides/notesSlide8.xml" Id="Re9fd0ea1f0be48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711b505eaa4323" /><Relationship Type="http://schemas.openxmlformats.org/officeDocument/2006/relationships/notesSlide" Target="/ppt/notesSlides/notesSlide9.xml" Id="R03b786027db849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ffbf4a8c1a49c5" /><Relationship Type="http://schemas.openxmlformats.org/officeDocument/2006/relationships/notesSlide" Target="/ppt/notesSlides/notesSlide10.xml" Id="Rd38010ba8404463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1c4f7332124869" /><Relationship Type="http://schemas.openxmlformats.org/officeDocument/2006/relationships/notesSlide" Target="/ppt/notesSlides/notesSlide11.xml" Id="R9ed6b2a42fd94c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dab5a6e2fb6473c" /><Relationship Type="http://schemas.openxmlformats.org/officeDocument/2006/relationships/notesSlide" Target="/ppt/notesSlides/notesSlide12.xml" Id="R2e23fa8640e847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1b0f6798474853" /><Relationship Type="http://schemas.openxmlformats.org/officeDocument/2006/relationships/notesSlide" Target="/ppt/notesSlides/notesSlide13.xml" Id="R3ddd6aed6d274c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4a5e4f99e84479" /><Relationship Type="http://schemas.openxmlformats.org/officeDocument/2006/relationships/notesSlide" Target="/ppt/notesSlides/notesSlide14.xml" Id="R3380a0b9139040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0af6fd5165641e2" /><Relationship Type="http://schemas.openxmlformats.org/officeDocument/2006/relationships/notesSlide" Target="/ppt/notesSlides/notesSlide15.xml" Id="R72c944a28bf64a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8fb390c09214516" /><Relationship Type="http://schemas.openxmlformats.org/officeDocument/2006/relationships/notesSlide" Target="/ppt/notesSlides/notesSlide16.xml" Id="R6d0b173dc538402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d5748a326f4d7c" /><Relationship Type="http://schemas.openxmlformats.org/officeDocument/2006/relationships/notesSlide" Target="/ppt/notesSlides/notesSlide17.xml" Id="R1b7fa0179aa245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1e379855bde4b28" /><Relationship Type="http://schemas.openxmlformats.org/officeDocument/2006/relationships/notesSlide" Target="/ppt/notesSlides/notesSlide18.xml" Id="Ra5f2bc2d6c3046e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dc06321277f47cb" /><Relationship Type="http://schemas.openxmlformats.org/officeDocument/2006/relationships/notesSlide" Target="/ppt/notesSlides/notesSlide19.xml" Id="Ra36709695192418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461be4bd7f4cff" /><Relationship Type="http://schemas.openxmlformats.org/officeDocument/2006/relationships/notesSlide" Target="/ppt/notesSlides/notesSlide20.xml" Id="R80e50e45dcde4c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e2ab45596df449e" /><Relationship Type="http://schemas.openxmlformats.org/officeDocument/2006/relationships/notesSlide" Target="/ppt/notesSlides/notesSlide21.xml" Id="R5cbe3e64d3bf4c3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10d558a668649d5" /><Relationship Type="http://schemas.openxmlformats.org/officeDocument/2006/relationships/notesSlide" Target="/ppt/notesSlides/notesSlide22.xml" Id="R31032a827f264f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3b0e695d041471b" /><Relationship Type="http://schemas.openxmlformats.org/officeDocument/2006/relationships/notesSlide" Target="/ppt/notesSlides/notesSlide23.xml" Id="R644b419389c34d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fb0d76f80df499f" /><Relationship Type="http://schemas.openxmlformats.org/officeDocument/2006/relationships/notesSlide" Target="/ppt/notesSlides/notesSlide24.xml" Id="R5c239a78994a475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97f53bdd2cd469a" /><Relationship Type="http://schemas.openxmlformats.org/officeDocument/2006/relationships/notesSlide" Target="/ppt/notesSlides/notesSlide25.xml" Id="Re6fed8aa23f04dc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9e8d62462534f90" /><Relationship Type="http://schemas.openxmlformats.org/officeDocument/2006/relationships/notesSlide" Target="/ppt/notesSlides/notesSlide26.xml" Id="Re4fb122dda1a4d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1fc3edec01c4707" /><Relationship Type="http://schemas.openxmlformats.org/officeDocument/2006/relationships/notesSlide" Target="/ppt/notesSlides/notesSlide27.xml" Id="Rb2f299d58bee42c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11bc9dc15fd4224" /><Relationship Type="http://schemas.openxmlformats.org/officeDocument/2006/relationships/notesSlide" Target="/ppt/notesSlides/notesSlide28.xml" Id="R501ef2e83348479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dbfddbfb03d4e77" /><Relationship Type="http://schemas.openxmlformats.org/officeDocument/2006/relationships/notesSlide" Target="/ppt/notesSlides/notesSlide29.xml" Id="Rf827aa6a9933404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091c201b4ce4985" /><Relationship Type="http://schemas.openxmlformats.org/officeDocument/2006/relationships/notesSlide" Target="/ppt/notesSlides/notesSlide30.xml" Id="Rdb262258767641f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f2e7af413c54f9f" /><Relationship Type="http://schemas.openxmlformats.org/officeDocument/2006/relationships/notesSlide" Target="/ppt/notesSlides/notesSlide31.xml" Id="R35406d7f4c684ed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078bb6d60c544e2" /><Relationship Type="http://schemas.openxmlformats.org/officeDocument/2006/relationships/notesSlide" Target="/ppt/notesSlides/notesSlide32.xml" Id="R5af76c83b6994a3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f4829430d7a4aef" /><Relationship Type="http://schemas.openxmlformats.org/officeDocument/2006/relationships/notesSlide" Target="/ppt/notesSlides/notesSlide33.xml" Id="R33516043b7f0465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436f80c05624358" /><Relationship Type="http://schemas.openxmlformats.org/officeDocument/2006/relationships/notesSlide" Target="/ppt/notesSlides/notesSlide34.xml" Id="Rb0039f99de5045f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7243175ca6d499d" /><Relationship Type="http://schemas.openxmlformats.org/officeDocument/2006/relationships/notesSlide" Target="/ppt/notesSlides/notesSlide35.xml" Id="R5de34329861e460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04a34b41a1454166" /><Relationship Type="http://schemas.openxmlformats.org/officeDocument/2006/relationships/notesSlide" Target="/ppt/notesSlides/notesSlide36.xml" Id="R62bfd9efd97841a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aa884b6292b74b38" /><Relationship Type="http://schemas.openxmlformats.org/officeDocument/2006/relationships/notesSlide" Target="/ppt/notesSlides/notesSlide37.xml" Id="Rb3cdc42aad05401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a2d33c7d1314065" /><Relationship Type="http://schemas.openxmlformats.org/officeDocument/2006/relationships/notesSlide" Target="/ppt/notesSlides/notesSlide38.xml" Id="R8795225ab5f84a5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8ce0fc3a14b45ff" /><Relationship Type="http://schemas.openxmlformats.org/officeDocument/2006/relationships/image" Target="/ppt/media/image.jpeg" Id="R2b81055eaa864963" /><Relationship Type="http://schemas.openxmlformats.org/officeDocument/2006/relationships/notesSlide" Target="/ppt/notesSlides/notesSlide39.xml" Id="R1e5cbc4dc950420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ea3f43eedf54c70" /><Relationship Type="http://schemas.openxmlformats.org/officeDocument/2006/relationships/image" Target="/ppt/media/image.png" Id="Ra64f6a0adf9043d3" /><Relationship Type="http://schemas.openxmlformats.org/officeDocument/2006/relationships/image" Target="/ppt/media/image2.png" Id="Rf94dea0a7c574b95" /><Relationship Type="http://schemas.openxmlformats.org/officeDocument/2006/relationships/notesSlide" Target="/ppt/notesSlides/notesSlide40.xml" Id="Rad44822884d0463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2de729dd1ff416a" /><Relationship Type="http://schemas.openxmlformats.org/officeDocument/2006/relationships/image" Target="/ppt/media/image3.png" Id="R16ce04348fdd4073" /><Relationship Type="http://schemas.openxmlformats.org/officeDocument/2006/relationships/image" Target="/ppt/media/image4.png" Id="R71120d1a057e479c" /><Relationship Type="http://schemas.openxmlformats.org/officeDocument/2006/relationships/notesSlide" Target="/ppt/notesSlides/notesSlide41.xml" Id="Rfa5a7795751149d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88ff9a6073642f6" /><Relationship Type="http://schemas.openxmlformats.org/officeDocument/2006/relationships/image" Target="/ppt/media/image5.png" Id="R0b7351fe0a6a4c96" /><Relationship Type="http://schemas.openxmlformats.org/officeDocument/2006/relationships/image" Target="/ppt/media/image6.png" Id="R7b34b226fda54222" /><Relationship Type="http://schemas.openxmlformats.org/officeDocument/2006/relationships/notesSlide" Target="/ppt/notesSlides/notesSlide42.xml" Id="R529044e1256442c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c35505c059a4d4a" /><Relationship Type="http://schemas.openxmlformats.org/officeDocument/2006/relationships/notesSlide" Target="/ppt/notesSlides/notesSlide43.xml" Id="R48a1c145b24440f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6403e06128341a4" /><Relationship Type="http://schemas.openxmlformats.org/officeDocument/2006/relationships/notesSlide" Target="/ppt/notesSlides/notesSlide44.xml" Id="R107907a397db422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1849c549e0e4e8f" /><Relationship Type="http://schemas.openxmlformats.org/officeDocument/2006/relationships/notesSlide" Target="/ppt/notesSlides/notesSlide45.xml" Id="R9371b98166e14e5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728173ce4294cad" /><Relationship Type="http://schemas.openxmlformats.org/officeDocument/2006/relationships/notesSlide" Target="/ppt/notesSlides/notesSlide46.xml" Id="R0c5dba38d7754e7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5df95e456dc47c5" /><Relationship Type="http://schemas.openxmlformats.org/officeDocument/2006/relationships/notesSlide" Target="/ppt/notesSlides/notesSlide47.xml" Id="R29393c04682c45e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69ae4debe8b4562" /><Relationship Type="http://schemas.openxmlformats.org/officeDocument/2006/relationships/notesSlide" Target="/ppt/notesSlides/notesSlide48.xml" Id="R2632138cb94447a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3140b90697345a4" /><Relationship Type="http://schemas.openxmlformats.org/officeDocument/2006/relationships/notesSlide" Target="/ppt/notesSlides/notesSlide49.xml" Id="Rdf409914d83b4d6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e6439a7d6c904728" /><Relationship Type="http://schemas.openxmlformats.org/officeDocument/2006/relationships/notesSlide" Target="/ppt/notesSlides/notesSlide50.xml" Id="R11694f3789ea462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24894dc74ba422c" /><Relationship Type="http://schemas.openxmlformats.org/officeDocument/2006/relationships/notesSlide" Target="/ppt/notesSlides/notesSlide51.xml" Id="R5a96eed98c7745d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6f472f27be44f0a" /><Relationship Type="http://schemas.openxmlformats.org/officeDocument/2006/relationships/notesSlide" Target="/ppt/notesSlides/notesSlide52.xml" Id="R084ef0efcdca491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00b6f41ae534274" /><Relationship Type="http://schemas.openxmlformats.org/officeDocument/2006/relationships/notesSlide" Target="/ppt/notesSlides/notesSlide53.xml" Id="Rb58b0c24f39f48a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213d91346f944ef" /><Relationship Type="http://schemas.openxmlformats.org/officeDocument/2006/relationships/hyperlink" Target="https://github.com/RTTJogja/dcse-summer-ppt-public" TargetMode="External" Id="R3a566b1e68b641bc" /><Relationship Type="http://schemas.openxmlformats.org/officeDocument/2006/relationships/notesSlide" Target="/ppt/notesSlides/notesSlide54.xml" Id="Rfc248217a3554f3a" /></Relationships>
</file>

<file path=ppt/slides/slide1.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4AE450-2EA4-4CD3-9AA3-6597E1D6DDE7}"/>
              </a:ext>
            </a:extLst>
          </p:cNvPr>
          <p:cNvSpPr>
            <a:spLocks xmlns:a="http://schemas.openxmlformats.org/drawingml/2006/main" noGrp="1"/>
          </p:cNvSpPr>
          <p:nvPr/>
        </p:nvSpPr>
        <p:spPr>
          <a:xfrm xmlns:a="http://schemas.openxmlformats.org/drawingml/2006/main">
            <a:off x="0" y="0"/>
            <a:ext cx="914400" cy="68580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6328DF-7C31-4126-98A7-7252D6363A7C}"/>
              </a:ext>
            </a:extLst>
          </p:cNvPr>
          <p:cNvSpPr>
            <a:spLocks xmlns:a="http://schemas.openxmlformats.org/drawingml/2006/main" noGrp="1"/>
          </p:cNvSpPr>
          <p:nvPr/>
        </p:nvSpPr>
        <p:spPr>
          <a:xfrm xmlns:a="http://schemas.openxmlformats.org/drawingml/2006/main">
            <a:off x="9810750" y="0"/>
            <a:ext cx="2000250" cy="6858000"/>
          </a:xfrm>
          <a:prstGeom xmlns:a="http://schemas.openxmlformats.org/drawingml/2006/main" prst="rect">
            <a:avLst/>
          </a:prstGeom>
          <a:solidFill xmlns:a="http://schemas.openxmlformats.org/drawingml/2006/main">
            <a:srgbClr val="EFB83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171E53-BBC2-41A3-8C6D-1AD3636AD05A}"/>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7AC7CE-BC5E-4EAC-AD5C-38436453A8CE}"/>
              </a:ext>
            </a:extLst>
          </p:cNvPr>
          <p:cNvSpPr>
            <a:spLocks xmlns:a="http://schemas.openxmlformats.org/drawingml/2006/main" noGrp="1"/>
          </p:cNvSpPr>
          <p:nvPr/>
        </p:nvSpPr>
        <p:spPr>
          <a:xfrm xmlns:a="http://schemas.openxmlformats.org/drawingml/2006/main">
            <a:off x="1428750" y="1219200"/>
            <a:ext cx="7620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5175" b="1" i="0">
                <a:solidFill>
                  <a:srgbClr val="FFFFFF"/>
                </a:solidFill>
              </a:defRPr>
            </a:pPr>
            <a:r>
              <a:rPr sz="5175" b="1" i="0">
                <a:solidFill>
                  <a:srgbClr val="FFFFFF"/>
                </a:solidFill>
              </a:rPr>
              <a:t>EMPOWERING THE TRI DHARMA</a:t>
            </a:r>
          </a:p>
        </p:txBody>
      </p:sp>
      <p:sp>
        <p:nvSpPr>
          <p:cNvPr id="5" name="">
            <a:extLst xmlns:a="http://schemas.openxmlformats.org/drawingml/2006/main">
              <a:ext uri="{FF2B5EF4-FFF2-40B4-BE49-F238E27FC236}">
                <a16:creationId xmlns:a16="http://schemas.microsoft.com/office/drawing/2014/main" id="{367689B3-222A-4634-AB90-C27E8B1BB70E}"/>
              </a:ext>
            </a:extLst>
          </p:cNvPr>
          <p:cNvSpPr>
            <a:spLocks xmlns:a="http://schemas.openxmlformats.org/drawingml/2006/main" noGrp="1"/>
          </p:cNvSpPr>
          <p:nvPr/>
        </p:nvSpPr>
        <p:spPr>
          <a:xfrm xmlns:a="http://schemas.openxmlformats.org/drawingml/2006/main">
            <a:off x="1466850" y="3333750"/>
            <a:ext cx="2000250" cy="571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678CBA-82D1-468B-AE89-ABD1F1792A0F}"/>
              </a:ext>
            </a:extLst>
          </p:cNvPr>
          <p:cNvSpPr>
            <a:spLocks xmlns:a="http://schemas.openxmlformats.org/drawingml/2006/main" noGrp="1"/>
          </p:cNvSpPr>
          <p:nvPr/>
        </p:nvSpPr>
        <p:spPr>
          <a:xfrm xmlns:a="http://schemas.openxmlformats.org/drawingml/2006/main">
            <a:off x="1466850" y="3714750"/>
            <a:ext cx="6953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2100" b="1" i="0">
                <a:solidFill>
                  <a:srgbClr val="FFC000"/>
                </a:solidFill>
              </a:defRPr>
            </a:pPr>
            <a:r>
              <a:rPr sz="2100" b="1" i="0">
                <a:solidFill>
                  <a:srgbClr val="FFC000"/>
                </a:solidFill>
              </a:rPr>
              <a:t>AI agents—from foundations and theory to a governed academic workspace</a:t>
            </a:r>
          </a:p>
        </p:txBody>
      </p:sp>
      <p:sp>
        <p:nvSpPr>
          <p:cNvPr id="7" name="">
            <a:extLst xmlns:a="http://schemas.openxmlformats.org/drawingml/2006/main">
              <a:ext uri="{FF2B5EF4-FFF2-40B4-BE49-F238E27FC236}">
                <a16:creationId xmlns:a16="http://schemas.microsoft.com/office/drawing/2014/main" id="{17492882-0657-4F57-9A2F-5DF946FC7E04}"/>
              </a:ext>
            </a:extLst>
          </p:cNvPr>
          <p:cNvSpPr>
            <a:spLocks xmlns:a="http://schemas.openxmlformats.org/drawingml/2006/main" noGrp="1"/>
          </p:cNvSpPr>
          <p:nvPr/>
        </p:nvSpPr>
        <p:spPr>
          <a:xfrm xmlns:a="http://schemas.openxmlformats.org/drawingml/2006/main">
            <a:off x="1466850" y="5810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350" b="0" i="0">
                <a:solidFill>
                  <a:srgbClr val="C8D5DC"/>
                </a:solidFill>
              </a:defRPr>
            </a:pPr>
            <a:r>
              <a:rPr sz="1350" b="0" i="0">
                <a:solidFill>
                  <a:srgbClr val="C8D5DC"/>
                </a:solidFill>
              </a:rPr>
              <a:t>DCSE Summer Lecture · 2026</a:t>
            </a:r>
          </a:p>
        </p:txBody>
      </p:sp>
      <p:sp>
        <p:nvSpPr>
          <p:cNvPr id="8" name="">
            <a:extLst xmlns:a="http://schemas.openxmlformats.org/drawingml/2006/main">
              <a:ext uri="{FF2B5EF4-FFF2-40B4-BE49-F238E27FC236}">
                <a16:creationId xmlns:a16="http://schemas.microsoft.com/office/drawing/2014/main" id="{EA060E22-71E7-4E5E-907C-E252E380FAAC}"/>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ctr">
              <a:defRPr sz="1050" b="1" i="0">
                <a:solidFill>
                  <a:srgbClr val="014A74"/>
                </a:solidFill>
              </a:defRPr>
            </a:pPr>
            <a:r>
              <a:rPr sz="1050" b="1" i="0">
                <a:solidFill>
                  <a:srgbClr val="014A74"/>
                </a:solidFill>
              </a:rPr>
              <a:t>01</a:t>
            </a:r>
          </a:p>
        </p:txBody>
      </p:sp>
      <p:sp>
        <p:nvSpPr>
          <p:cNvPr id="9" name="">
            <a:extLst xmlns:a="http://schemas.openxmlformats.org/drawingml/2006/main">
              <a:ext uri="{FF2B5EF4-FFF2-40B4-BE49-F238E27FC236}">
                <a16:creationId xmlns:a16="http://schemas.microsoft.com/office/drawing/2014/main" id="{11D9E39F-6999-427E-A242-1168CD87F54A}"/>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Tree>
    <p:extLst>
      <p:ext uri="{BB962C8B-B14F-4D97-AF65-F5344CB8AC3E}">
        <p14:creationId xmlns:p14="http://schemas.microsoft.com/office/powerpoint/2010/main" val="740178443"/>
      </p:ext>
    </p:extLst>
  </p:cSld>
</p:sld>
</file>

<file path=ppt/slides/slide2.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
            <a:extLst xmlns:a="http://schemas.openxmlformats.org/drawingml/2006/main">
              <a:ext uri="{FF2B5EF4-FFF2-40B4-BE49-F238E27FC236}">
                <a16:creationId xmlns:a16="http://schemas.microsoft.com/office/drawing/2014/main" id="{01BE1E05-15C0-4C9F-8429-EB7C252BED2F}"/>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AF4583-EAB0-4AD2-9035-8C3283FFDA28}"/>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02</a:t>
            </a:r>
          </a:p>
        </p:txBody>
      </p:sp>
      <p:sp>
        <p:nvSpPr>
          <p:cNvPr id="3" name="">
            <a:extLst xmlns:a="http://schemas.openxmlformats.org/drawingml/2006/main">
              <a:ext uri="{FF2B5EF4-FFF2-40B4-BE49-F238E27FC236}">
                <a16:creationId xmlns:a16="http://schemas.microsoft.com/office/drawing/2014/main" id="{18BB0BA3-EAB5-4A69-B9BA-21EBFFF4E48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OPENING</a:t>
            </a:r>
          </a:p>
        </p:txBody>
      </p:sp>
      <p:sp>
        <p:nvSpPr>
          <p:cNvPr id="4" name="">
            <a:extLst xmlns:a="http://schemas.openxmlformats.org/drawingml/2006/main">
              <a:ext uri="{FF2B5EF4-FFF2-40B4-BE49-F238E27FC236}">
                <a16:creationId xmlns:a16="http://schemas.microsoft.com/office/drawing/2014/main" id="{4FBFA586-74D3-4535-87C2-F9DA270712E1}"/>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369A95-904B-4B34-8344-CBA9BAEA442B}"/>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EA76245-79BE-4A6E-967B-EA146A0222C9}"/>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B449C1E-DF91-458B-B27A-7257809C409C}"/>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ACFDDA7-D1E2-4335-92FC-EC09E751263C}"/>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643426C-3952-43C0-80D4-ED8136F24C3D}"/>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
            <a:extLst xmlns:a="http://schemas.openxmlformats.org/drawingml/2006/main">
              <a:ext uri="{FF2B5EF4-FFF2-40B4-BE49-F238E27FC236}">
                <a16:creationId xmlns:a16="http://schemas.microsoft.com/office/drawing/2014/main" id="{7C9617E8-C458-42D4-88B2-BE3E8BF4DB7A}"/>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F5990E-095D-470D-A149-257ABDE1A2FC}"/>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F5186FB6-1CE9-4BEB-886F-B9CC2815332A}"/>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Three outcomes for this lecture</a:t>
            </a:r>
          </a:p>
        </p:txBody>
      </p:sp>
      <p:sp>
        <p:nvSpPr>
          <p:cNvPr id="13" name="">
            <a:extLst xmlns:a="http://schemas.openxmlformats.org/drawingml/2006/main">
              <a:ext uri="{FF2B5EF4-FFF2-40B4-BE49-F238E27FC236}">
                <a16:creationId xmlns:a16="http://schemas.microsoft.com/office/drawing/2014/main" id="{E8FCE908-7505-427A-8F50-5F1623B368CA}"/>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CBA408-267D-4854-9FFF-8847EB36AF4B}"/>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EXPLAIN</a:t>
            </a:r>
          </a:p>
        </p:txBody>
      </p:sp>
      <p:sp>
        <p:nvSpPr>
          <p:cNvPr id="15" name="">
            <a:extLst xmlns:a="http://schemas.openxmlformats.org/drawingml/2006/main">
              <a:ext uri="{FF2B5EF4-FFF2-40B4-BE49-F238E27FC236}">
                <a16:creationId xmlns:a16="http://schemas.microsoft.com/office/drawing/2014/main" id="{97635288-5CAB-4786-805D-7BA4CD74362C}"/>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707FBA0-F32E-497D-B75E-A3FE912B183D}"/>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Distinguish a language model, an assistant, and an agentic system.</a:t>
            </a:r>
          </a:p>
        </p:txBody>
      </p:sp>
      <p:sp>
        <p:nvSpPr>
          <p:cNvPr id="17" name="">
            <a:extLst xmlns:a="http://schemas.openxmlformats.org/drawingml/2006/main">
              <a:ext uri="{FF2B5EF4-FFF2-40B4-BE49-F238E27FC236}">
                <a16:creationId xmlns:a16="http://schemas.microsoft.com/office/drawing/2014/main" id="{E56C4900-9FAA-4A9C-8F6E-D48335BEA5FB}"/>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DESIGN</a:t>
            </a:r>
          </a:p>
        </p:txBody>
      </p:sp>
      <p:sp>
        <p:nvSpPr>
          <p:cNvPr id="18" name="">
            <a:extLst xmlns:a="http://schemas.openxmlformats.org/drawingml/2006/main">
              <a:ext uri="{FF2B5EF4-FFF2-40B4-BE49-F238E27FC236}">
                <a16:creationId xmlns:a16="http://schemas.microsoft.com/office/drawing/2014/main" id="{4D4C368E-2780-44D5-85D9-A1B13969063B}"/>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B7698F1-CF4F-4F97-A3FA-562CFD069F41}"/>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Connect planning, tools, memory, evidence, and human review.</a:t>
            </a:r>
          </a:p>
        </p:txBody>
      </p:sp>
      <p:sp>
        <p:nvSpPr>
          <p:cNvPr id="20" name="">
            <a:extLst xmlns:a="http://schemas.openxmlformats.org/drawingml/2006/main">
              <a:ext uri="{FF2B5EF4-FFF2-40B4-BE49-F238E27FC236}">
                <a16:creationId xmlns:a16="http://schemas.microsoft.com/office/drawing/2014/main" id="{57F4A2EC-08F6-4F3E-8F38-2DD19DA327F0}"/>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IMPLEMENT</a:t>
            </a:r>
          </a:p>
        </p:txBody>
      </p:sp>
      <p:sp>
        <p:nvSpPr>
          <p:cNvPr id="21" name="">
            <a:extLst xmlns:a="http://schemas.openxmlformats.org/drawingml/2006/main">
              <a:ext uri="{FF2B5EF4-FFF2-40B4-BE49-F238E27FC236}">
                <a16:creationId xmlns:a16="http://schemas.microsoft.com/office/drawing/2014/main" id="{E9F0B2E8-5887-4F6E-AF4E-C39B934CEC44}"/>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5EB8FC0-4C18-4F64-BE16-35314F1747CF}"/>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Prototype a repository-based workflow across Tri Dharma.</a:t>
            </a:r>
          </a:p>
        </p:txBody>
      </p:sp>
    </p:spTree>
    <p:extLst>
      <p:ext uri="{BB962C8B-B14F-4D97-AF65-F5344CB8AC3E}">
        <p14:creationId xmlns:p14="http://schemas.microsoft.com/office/powerpoint/2010/main" val="757377309"/>
      </p:ext>
    </p:extLst>
  </p:cSld>
</p:sld>
</file>

<file path=ppt/slides/slide3.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
            <a:extLst xmlns:a="http://schemas.openxmlformats.org/drawingml/2006/main">
              <a:ext uri="{FF2B5EF4-FFF2-40B4-BE49-F238E27FC236}">
                <a16:creationId xmlns:a16="http://schemas.microsoft.com/office/drawing/2014/main" id="{AED3DC61-331E-4B21-A1D1-1AA66F4621C8}"/>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C5557A-060D-4D7B-8C08-F8F7A5F05514}"/>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03</a:t>
            </a:r>
          </a:p>
        </p:txBody>
      </p:sp>
      <p:sp>
        <p:nvSpPr>
          <p:cNvPr id="3" name="">
            <a:extLst xmlns:a="http://schemas.openxmlformats.org/drawingml/2006/main">
              <a:ext uri="{FF2B5EF4-FFF2-40B4-BE49-F238E27FC236}">
                <a16:creationId xmlns:a16="http://schemas.microsoft.com/office/drawing/2014/main" id="{3653DF94-94C9-4EF7-BEAD-774B4BA712BD}"/>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OPENING</a:t>
            </a:r>
          </a:p>
        </p:txBody>
      </p:sp>
      <p:sp>
        <p:nvSpPr>
          <p:cNvPr id="4" name="">
            <a:extLst xmlns:a="http://schemas.openxmlformats.org/drawingml/2006/main">
              <a:ext uri="{FF2B5EF4-FFF2-40B4-BE49-F238E27FC236}">
                <a16:creationId xmlns:a16="http://schemas.microsoft.com/office/drawing/2014/main" id="{EB94E104-3EB4-41F3-AB42-C2DE05B12B98}"/>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A0DB3B3-6165-4888-9470-900E7A1CBD1F}"/>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7645D09-C514-409B-8687-51CE02929386}"/>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E457C50-B9C0-4ECA-97CF-64121C9A99A2}"/>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E978B3-3651-4AA6-BED7-38B46D6B3F2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4661D7C-CBA5-4ABD-9317-EDE652F86AC8}"/>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
            <a:extLst xmlns:a="http://schemas.openxmlformats.org/drawingml/2006/main">
              <a:ext uri="{FF2B5EF4-FFF2-40B4-BE49-F238E27FC236}">
                <a16:creationId xmlns:a16="http://schemas.microsoft.com/office/drawing/2014/main" id="{D686FE7F-4855-4A7F-8568-49933B7454FD}"/>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2194C6F-F063-4C42-BC67-7E4C015467DB}"/>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46A7006B-1DCC-4141-805A-589C58314901}"/>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Tri Dharma is one connected mandate</a:t>
            </a:r>
          </a:p>
        </p:txBody>
      </p:sp>
      <p:sp>
        <p:nvSpPr>
          <p:cNvPr id="13" name="">
            <a:extLst xmlns:a="http://schemas.openxmlformats.org/drawingml/2006/main">
              <a:ext uri="{FF2B5EF4-FFF2-40B4-BE49-F238E27FC236}">
                <a16:creationId xmlns:a16="http://schemas.microsoft.com/office/drawing/2014/main" id="{D2BE55E0-6DE4-401F-9C60-C8F46EEBA2DD}"/>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E97E51-3807-4403-8E01-A16AAAF299C2}"/>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RESEARCH</a:t>
            </a:r>
          </a:p>
        </p:txBody>
      </p:sp>
      <p:sp>
        <p:nvSpPr>
          <p:cNvPr id="15" name="">
            <a:extLst xmlns:a="http://schemas.openxmlformats.org/drawingml/2006/main">
              <a:ext uri="{FF2B5EF4-FFF2-40B4-BE49-F238E27FC236}">
                <a16:creationId xmlns:a16="http://schemas.microsoft.com/office/drawing/2014/main" id="{355E0108-1D3D-4FC5-B2ED-ECBE9D784DDA}"/>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4864ACD-B088-4787-BAD0-6FABA502031D}"/>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Produce, validate, preserve, and communicate knowledge.</a:t>
            </a:r>
          </a:p>
        </p:txBody>
      </p:sp>
      <p:sp>
        <p:nvSpPr>
          <p:cNvPr id="17" name="">
            <a:extLst xmlns:a="http://schemas.openxmlformats.org/drawingml/2006/main">
              <a:ext uri="{FF2B5EF4-FFF2-40B4-BE49-F238E27FC236}">
                <a16:creationId xmlns:a16="http://schemas.microsoft.com/office/drawing/2014/main" id="{86AC3E39-56D9-47D8-A73D-54D2C4F585D2}"/>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EDUCATION</a:t>
            </a:r>
          </a:p>
        </p:txBody>
      </p:sp>
      <p:sp>
        <p:nvSpPr>
          <p:cNvPr id="18" name="">
            <a:extLst xmlns:a="http://schemas.openxmlformats.org/drawingml/2006/main">
              <a:ext uri="{FF2B5EF4-FFF2-40B4-BE49-F238E27FC236}">
                <a16:creationId xmlns:a16="http://schemas.microsoft.com/office/drawing/2014/main" id="{6FF3B8A8-E94D-434D-ACDF-C4EABABFD012}"/>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5672CB-C662-4B47-B868-D0DB1400BC94}"/>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Design learning, assessment, feedback, and scholarly teaching.</a:t>
            </a:r>
          </a:p>
        </p:txBody>
      </p:sp>
      <p:sp>
        <p:nvSpPr>
          <p:cNvPr id="20" name="">
            <a:extLst xmlns:a="http://schemas.openxmlformats.org/drawingml/2006/main">
              <a:ext uri="{FF2B5EF4-FFF2-40B4-BE49-F238E27FC236}">
                <a16:creationId xmlns:a16="http://schemas.microsoft.com/office/drawing/2014/main" id="{769AD6F5-BFF0-4ED4-9FFE-6D8223BB49E5}"/>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COMMUNITY SERVICE</a:t>
            </a:r>
          </a:p>
        </p:txBody>
      </p:sp>
      <p:sp>
        <p:nvSpPr>
          <p:cNvPr id="21" name="">
            <a:extLst xmlns:a="http://schemas.openxmlformats.org/drawingml/2006/main">
              <a:ext uri="{FF2B5EF4-FFF2-40B4-BE49-F238E27FC236}">
                <a16:creationId xmlns:a16="http://schemas.microsoft.com/office/drawing/2014/main" id="{807DC7DC-74A1-4401-BAFD-5863CB5D4BA5}"/>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C2986C0-C176-41F3-8D5E-6B8C6BA2DF18}"/>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Translate expertise into public value with local accountability.</a:t>
            </a:r>
          </a:p>
        </p:txBody>
      </p:sp>
    </p:spTree>
    <p:extLst>
      <p:ext uri="{BB962C8B-B14F-4D97-AF65-F5344CB8AC3E}">
        <p14:creationId xmlns:p14="http://schemas.microsoft.com/office/powerpoint/2010/main" val="788388703"/>
      </p:ext>
    </p:extLst>
  </p:cSld>
</p:sld>
</file>

<file path=ppt/slides/slide4.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15" name="metadata-rail-4">
            <a:extLst xmlns:a="http://schemas.openxmlformats.org/drawingml/2006/main">
              <a:ext uri="{FF2B5EF4-FFF2-40B4-BE49-F238E27FC236}">
                <a16:creationId xmlns:a16="http://schemas.microsoft.com/office/drawing/2014/main" id="{3794FBCD-400A-4341-B2FB-94CE76F694BC}"/>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5675E5-AFC7-4FD9-B2BB-3C4F5F5962E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04</a:t>
            </a:r>
          </a:p>
        </p:txBody>
      </p:sp>
      <p:sp>
        <p:nvSpPr>
          <p:cNvPr id="3" name="">
            <a:extLst xmlns:a="http://schemas.openxmlformats.org/drawingml/2006/main">
              <a:ext uri="{FF2B5EF4-FFF2-40B4-BE49-F238E27FC236}">
                <a16:creationId xmlns:a16="http://schemas.microsoft.com/office/drawing/2014/main" id="{84C5BD05-0CB1-4511-93B4-C9576E63D09B}"/>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OPENING</a:t>
            </a:r>
          </a:p>
        </p:txBody>
      </p:sp>
      <p:sp>
        <p:nvSpPr>
          <p:cNvPr id="4" name="">
            <a:extLst xmlns:a="http://schemas.openxmlformats.org/drawingml/2006/main">
              <a:ext uri="{FF2B5EF4-FFF2-40B4-BE49-F238E27FC236}">
                <a16:creationId xmlns:a16="http://schemas.microsoft.com/office/drawing/2014/main" id="{80EEF36B-594B-417E-9F31-7C7512A19382}"/>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772D8C-9AE8-407B-A47D-29435A3DAB7D}"/>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345E973-904A-4B88-BF1C-27523AD6EB69}"/>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8E2F7B8-DE4D-47EC-B7D2-68BC143F1636}"/>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DD2B45-9AF2-4ACF-AA06-15F60F8681C2}"/>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F0B6935-5EA0-424D-B4E8-EE85E79736A5}"/>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
            <a:extLst xmlns:a="http://schemas.openxmlformats.org/drawingml/2006/main">
              <a:ext uri="{FF2B5EF4-FFF2-40B4-BE49-F238E27FC236}">
                <a16:creationId xmlns:a16="http://schemas.microsoft.com/office/drawing/2014/main" id="{522CB652-AF14-43A9-9A14-6FCE2F43BF48}"/>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3699E8-733D-4380-AF39-EB247084D4DF}"/>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
            <a:extLst xmlns:a="http://schemas.openxmlformats.org/drawingml/2006/main">
              <a:ext uri="{FF2B5EF4-FFF2-40B4-BE49-F238E27FC236}">
                <a16:creationId xmlns:a16="http://schemas.microsoft.com/office/drawing/2014/main" id="{16B43F69-08E9-4A14-B379-4884D0FB97A2}"/>
              </a:ext>
            </a:extLst>
          </p:cNvPr>
          <p:cNvSpPr>
            <a:spLocks xmlns:a="http://schemas.openxmlformats.org/drawingml/2006/main" noGrp="1"/>
          </p:cNvSpPr>
          <p:nvPr/>
        </p:nvSpPr>
        <p:spPr>
          <a:xfrm xmlns:a="http://schemas.openxmlformats.org/drawingml/2006/main">
            <a:off x="914400" y="1238250"/>
            <a:ext cx="9906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4350" b="1" i="0">
                <a:solidFill>
                  <a:srgbClr val="FFC000"/>
                </a:solidFill>
              </a:defRPr>
            </a:pPr>
            <a:r>
              <a:rPr sz="4350" b="1" i="0">
                <a:solidFill>
                  <a:srgbClr val="FFC000"/>
                </a:solidFill>
              </a:rPr>
              <a:t>The constraint is not ideas.</a:t>
            </a:r>
          </a:p>
        </p:txBody>
      </p:sp>
      <p:sp>
        <p:nvSpPr>
          <p:cNvPr id="13" name="">
            <a:extLst xmlns:a="http://schemas.openxmlformats.org/drawingml/2006/main">
              <a:ext uri="{FF2B5EF4-FFF2-40B4-BE49-F238E27FC236}">
                <a16:creationId xmlns:a16="http://schemas.microsoft.com/office/drawing/2014/main" id="{9BBB187C-3463-40C2-B743-01A6128A03B3}"/>
              </a:ext>
            </a:extLst>
          </p:cNvPr>
          <p:cNvSpPr>
            <a:spLocks xmlns:a="http://schemas.openxmlformats.org/drawingml/2006/main" noGrp="1"/>
          </p:cNvSpPr>
          <p:nvPr/>
        </p:nvSpPr>
        <p:spPr>
          <a:xfrm xmlns:a="http://schemas.openxmlformats.org/drawingml/2006/main">
            <a:off x="914400" y="215265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4050" b="0" i="0">
                <a:solidFill>
                  <a:srgbClr val="FFFFFF"/>
                </a:solidFill>
              </a:defRPr>
            </a:pPr>
            <a:r>
              <a:rPr sz="4050" b="0" i="0">
                <a:solidFill>
                  <a:srgbClr val="FFFFFF"/>
                </a:solidFill>
              </a:rPr>
              <a:t>It is continuity across dozens of small academic workflows.</a:t>
            </a:r>
          </a:p>
        </p:txBody>
      </p:sp>
      <p:sp>
        <p:nvSpPr>
          <p:cNvPr id="14" name="">
            <a:extLst xmlns:a="http://schemas.openxmlformats.org/drawingml/2006/main">
              <a:ext uri="{FF2B5EF4-FFF2-40B4-BE49-F238E27FC236}">
                <a16:creationId xmlns:a16="http://schemas.microsoft.com/office/drawing/2014/main" id="{BA779FAA-5CE8-45CE-8389-2D20BFE577E2}"/>
              </a:ext>
            </a:extLst>
          </p:cNvPr>
          <p:cNvSpPr>
            <a:spLocks xmlns:a="http://schemas.openxmlformats.org/drawingml/2006/main" noGrp="1"/>
          </p:cNvSpPr>
          <p:nvPr/>
        </p:nvSpPr>
        <p:spPr>
          <a:xfrm xmlns:a="http://schemas.openxmlformats.org/drawingml/2006/main">
            <a:off x="952500" y="466725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0" i="0">
                <a:solidFill>
                  <a:srgbClr val="C8D5DC"/>
                </a:solidFill>
              </a:defRPr>
            </a:pPr>
            <a:r>
              <a:rPr sz="1875" b="0" i="0">
                <a:solidFill>
                  <a:srgbClr val="C8D5DC"/>
                </a:solidFill>
              </a:rPr>
              <a:t>Files, sources, deadlines, design choices, feedback, and publication decisions are distributed across tools—and across time.</a:t>
            </a:r>
          </a:p>
        </p:txBody>
      </p:sp>
    </p:spTree>
    <p:extLst>
      <p:ext uri="{BB962C8B-B14F-4D97-AF65-F5344CB8AC3E}">
        <p14:creationId xmlns:p14="http://schemas.microsoft.com/office/powerpoint/2010/main" val="1336532888"/>
      </p:ext>
    </p:extLst>
  </p:cSld>
</p:sld>
</file>

<file path=ppt/slides/slide5.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5">
            <a:extLst xmlns:a="http://schemas.openxmlformats.org/drawingml/2006/main">
              <a:ext uri="{FF2B5EF4-FFF2-40B4-BE49-F238E27FC236}">
                <a16:creationId xmlns:a16="http://schemas.microsoft.com/office/drawing/2014/main" id="{24809361-480D-440E-85B8-5F751A42583E}"/>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66AFFB-9174-4840-BB81-FBBFE36F1B4B}"/>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05</a:t>
            </a:r>
          </a:p>
        </p:txBody>
      </p:sp>
      <p:sp>
        <p:nvSpPr>
          <p:cNvPr id="3" name="">
            <a:extLst xmlns:a="http://schemas.openxmlformats.org/drawingml/2006/main">
              <a:ext uri="{FF2B5EF4-FFF2-40B4-BE49-F238E27FC236}">
                <a16:creationId xmlns:a16="http://schemas.microsoft.com/office/drawing/2014/main" id="{8C5F07D5-0A1E-4423-96AA-994E0997107D}"/>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OPENING</a:t>
            </a:r>
          </a:p>
        </p:txBody>
      </p:sp>
      <p:sp>
        <p:nvSpPr>
          <p:cNvPr id="4" name="">
            <a:extLst xmlns:a="http://schemas.openxmlformats.org/drawingml/2006/main">
              <a:ext uri="{FF2B5EF4-FFF2-40B4-BE49-F238E27FC236}">
                <a16:creationId xmlns:a16="http://schemas.microsoft.com/office/drawing/2014/main" id="{ADA8A7B2-7CCF-4E00-8DD7-88D731816D58}"/>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3AB27B-F0E2-4AC5-AE24-381D20825649}"/>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D85336D-36FC-404E-A520-9FAF8A59752C}"/>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4E22ACB-20A1-4A3E-83AC-B5A014B1AE21}"/>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91A88F-D8DF-4BEC-9125-0729D1FB8125}"/>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8DB8D1-619A-4760-8B97-EB5EB579370C}"/>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5">
            <a:extLst xmlns:a="http://schemas.openxmlformats.org/drawingml/2006/main">
              <a:ext uri="{FF2B5EF4-FFF2-40B4-BE49-F238E27FC236}">
                <a16:creationId xmlns:a16="http://schemas.microsoft.com/office/drawing/2014/main" id="{983AC750-3444-48DB-BE03-BC8BFD3A59F4}"/>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C38DE8A-9DB0-4321-A180-B3F45A83167D}"/>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80FED22F-8FCA-4372-A061-FF87B3163658}"/>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Isolated prompts reset the work</a:t>
            </a:r>
          </a:p>
        </p:txBody>
      </p:sp>
      <p:sp>
        <p:nvSpPr>
          <p:cNvPr id="13" name="">
            <a:extLst xmlns:a="http://schemas.openxmlformats.org/drawingml/2006/main">
              <a:ext uri="{FF2B5EF4-FFF2-40B4-BE49-F238E27FC236}">
                <a16:creationId xmlns:a16="http://schemas.microsoft.com/office/drawing/2014/main" id="{07075C3C-3FF8-4696-9E0B-B2B24A3E6E7C}"/>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716EA8-3501-4CA9-BB3E-C2A8C8E869EE}"/>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CONTEXT</a:t>
            </a:r>
          </a:p>
        </p:txBody>
      </p:sp>
      <p:sp>
        <p:nvSpPr>
          <p:cNvPr id="15" name="">
            <a:extLst xmlns:a="http://schemas.openxmlformats.org/drawingml/2006/main">
              <a:ext uri="{FF2B5EF4-FFF2-40B4-BE49-F238E27FC236}">
                <a16:creationId xmlns:a16="http://schemas.microsoft.com/office/drawing/2014/main" id="{9B9D2A24-CC59-4DC2-B1AF-5370167FACB0}"/>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B6A13D-EC4C-4667-AE3D-3DC974DD854A}"/>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The model sees what is in the current conversation, not the whole project history.</a:t>
            </a:r>
          </a:p>
        </p:txBody>
      </p:sp>
      <p:sp>
        <p:nvSpPr>
          <p:cNvPr id="17" name="">
            <a:extLst xmlns:a="http://schemas.openxmlformats.org/drawingml/2006/main">
              <a:ext uri="{FF2B5EF4-FFF2-40B4-BE49-F238E27FC236}">
                <a16:creationId xmlns:a16="http://schemas.microsoft.com/office/drawing/2014/main" id="{911BB0E9-BC90-4E79-8350-D9AE54C01C8B}"/>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EVIDENCE</a:t>
            </a:r>
          </a:p>
        </p:txBody>
      </p:sp>
      <p:sp>
        <p:nvSpPr>
          <p:cNvPr id="18" name="">
            <a:extLst xmlns:a="http://schemas.openxmlformats.org/drawingml/2006/main">
              <a:ext uri="{FF2B5EF4-FFF2-40B4-BE49-F238E27FC236}">
                <a16:creationId xmlns:a16="http://schemas.microsoft.com/office/drawing/2014/main" id="{86594210-8BFE-4A20-BD8A-59D1FE492013}"/>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29C866D-26E8-4858-A6E6-F8D1BEFE0C9C}"/>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Sources and decisions become detached from the outputs they informed.</a:t>
            </a:r>
          </a:p>
        </p:txBody>
      </p:sp>
      <p:sp>
        <p:nvSpPr>
          <p:cNvPr id="20" name="">
            <a:extLst xmlns:a="http://schemas.openxmlformats.org/drawingml/2006/main">
              <a:ext uri="{FF2B5EF4-FFF2-40B4-BE49-F238E27FC236}">
                <a16:creationId xmlns:a16="http://schemas.microsoft.com/office/drawing/2014/main" id="{5F572D8F-FBAE-43D2-848F-4D99592CA2E4}"/>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FOLLOW-THROUGH</a:t>
            </a:r>
          </a:p>
        </p:txBody>
      </p:sp>
      <p:sp>
        <p:nvSpPr>
          <p:cNvPr id="21" name="">
            <a:extLst xmlns:a="http://schemas.openxmlformats.org/drawingml/2006/main">
              <a:ext uri="{FF2B5EF4-FFF2-40B4-BE49-F238E27FC236}">
                <a16:creationId xmlns:a16="http://schemas.microsoft.com/office/drawing/2014/main" id="{F0BF06B2-B639-42B4-A388-88BAFD4B66B8}"/>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A8E1EA5-E93F-4153-8833-A16EF74BB188}"/>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 useful answer still leaves scheduling, files, review, and publication to the lecturer.</a:t>
            </a:r>
          </a:p>
        </p:txBody>
      </p:sp>
    </p:spTree>
    <p:extLst>
      <p:ext uri="{BB962C8B-B14F-4D97-AF65-F5344CB8AC3E}">
        <p14:creationId xmlns:p14="http://schemas.microsoft.com/office/powerpoint/2010/main" val="87667912"/>
      </p:ext>
    </p:extLst>
  </p:cSld>
</p:sld>
</file>

<file path=ppt/slides/slide6.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15" name="metadata-rail-6">
            <a:extLst xmlns:a="http://schemas.openxmlformats.org/drawingml/2006/main">
              <a:ext uri="{FF2B5EF4-FFF2-40B4-BE49-F238E27FC236}">
                <a16:creationId xmlns:a16="http://schemas.microsoft.com/office/drawing/2014/main" id="{9F2BAB20-12A8-4904-82BA-BF6058DDC7AF}"/>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C59020-96E3-4994-8D8A-682F697337CF}"/>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06</a:t>
            </a:r>
          </a:p>
        </p:txBody>
      </p:sp>
      <p:sp>
        <p:nvSpPr>
          <p:cNvPr id="3" name="">
            <a:extLst xmlns:a="http://schemas.openxmlformats.org/drawingml/2006/main">
              <a:ext uri="{FF2B5EF4-FFF2-40B4-BE49-F238E27FC236}">
                <a16:creationId xmlns:a16="http://schemas.microsoft.com/office/drawing/2014/main" id="{8571D264-1EEF-40E6-B79D-AB3851CC6A93}"/>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OPENING</a:t>
            </a:r>
          </a:p>
        </p:txBody>
      </p:sp>
      <p:sp>
        <p:nvSpPr>
          <p:cNvPr id="4" name="">
            <a:extLst xmlns:a="http://schemas.openxmlformats.org/drawingml/2006/main">
              <a:ext uri="{FF2B5EF4-FFF2-40B4-BE49-F238E27FC236}">
                <a16:creationId xmlns:a16="http://schemas.microsoft.com/office/drawing/2014/main" id="{DB2E11A0-2CBB-4556-BD32-8EDCABCA49C6}"/>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5CA554-CB06-463C-B2DB-36F4C65EC16F}"/>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376C98-4863-4AA1-AD96-DF703E317F91}"/>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5BDAC7C-0632-4A80-B93C-BDA63CD46C65}"/>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598527-A3ED-440B-BDF4-781C3C6B4F42}"/>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BC38A28-B6A2-4761-9BFD-9E58D63010FC}"/>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6">
            <a:extLst xmlns:a="http://schemas.openxmlformats.org/drawingml/2006/main">
              <a:ext uri="{FF2B5EF4-FFF2-40B4-BE49-F238E27FC236}">
                <a16:creationId xmlns:a16="http://schemas.microsoft.com/office/drawing/2014/main" id="{C7945D55-712F-4D43-907A-0472459E00E9}"/>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3CCE37-CB2C-49C3-AC9C-759A01827A6C}"/>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
            <a:extLst xmlns:a="http://schemas.openxmlformats.org/drawingml/2006/main">
              <a:ext uri="{FF2B5EF4-FFF2-40B4-BE49-F238E27FC236}">
                <a16:creationId xmlns:a16="http://schemas.microsoft.com/office/drawing/2014/main" id="{FB3BE92C-B189-4518-AADE-BD16CE7F2FC4}"/>
              </a:ext>
            </a:extLst>
          </p:cNvPr>
          <p:cNvSpPr>
            <a:spLocks xmlns:a="http://schemas.openxmlformats.org/drawingml/2006/main" noGrp="1"/>
          </p:cNvSpPr>
          <p:nvPr/>
        </p:nvSpPr>
        <p:spPr>
          <a:xfrm xmlns:a="http://schemas.openxmlformats.org/drawingml/2006/main">
            <a:off x="914400" y="1238250"/>
            <a:ext cx="9906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4350" b="1" i="0">
                <a:solidFill>
                  <a:srgbClr val="FFC000"/>
                </a:solidFill>
              </a:defRPr>
            </a:pPr>
            <a:r>
              <a:rPr sz="4350" b="1" i="0">
                <a:solidFill>
                  <a:srgbClr val="FFC000"/>
                </a:solidFill>
              </a:rPr>
              <a:t>The key shift:</a:t>
            </a:r>
          </a:p>
        </p:txBody>
      </p:sp>
      <p:sp>
        <p:nvSpPr>
          <p:cNvPr id="13" name="">
            <a:extLst xmlns:a="http://schemas.openxmlformats.org/drawingml/2006/main">
              <a:ext uri="{FF2B5EF4-FFF2-40B4-BE49-F238E27FC236}">
                <a16:creationId xmlns:a16="http://schemas.microsoft.com/office/drawing/2014/main" id="{567FCCE5-9178-4DF3-941C-117EFB70311D}"/>
              </a:ext>
            </a:extLst>
          </p:cNvPr>
          <p:cNvSpPr>
            <a:spLocks xmlns:a="http://schemas.openxmlformats.org/drawingml/2006/main" noGrp="1"/>
          </p:cNvSpPr>
          <p:nvPr/>
        </p:nvSpPr>
        <p:spPr>
          <a:xfrm xmlns:a="http://schemas.openxmlformats.org/drawingml/2006/main">
            <a:off x="914400" y="2152650"/>
            <a:ext cx="9906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4050" b="0" i="0">
                <a:solidFill>
                  <a:srgbClr val="FFFFFF"/>
                </a:solidFill>
              </a:defRPr>
            </a:pPr>
            <a:r>
              <a:rPr sz="4050" b="0" i="0">
                <a:solidFill>
                  <a:srgbClr val="FFFFFF"/>
                </a:solidFill>
              </a:rPr>
              <a:t>from a clever chat to a governed workspace.</a:t>
            </a:r>
          </a:p>
        </p:txBody>
      </p:sp>
      <p:sp>
        <p:nvSpPr>
          <p:cNvPr id="14" name="">
            <a:extLst xmlns:a="http://schemas.openxmlformats.org/drawingml/2006/main">
              <a:ext uri="{FF2B5EF4-FFF2-40B4-BE49-F238E27FC236}">
                <a16:creationId xmlns:a16="http://schemas.microsoft.com/office/drawing/2014/main" id="{912FAFF4-63C1-40A3-9628-0C95BB29B0CE}"/>
              </a:ext>
            </a:extLst>
          </p:cNvPr>
          <p:cNvSpPr>
            <a:spLocks xmlns:a="http://schemas.openxmlformats.org/drawingml/2006/main" noGrp="1"/>
          </p:cNvSpPr>
          <p:nvPr/>
        </p:nvSpPr>
        <p:spPr>
          <a:xfrm xmlns:a="http://schemas.openxmlformats.org/drawingml/2006/main">
            <a:off x="952500" y="4667250"/>
            <a:ext cx="9334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0" i="0">
                <a:solidFill>
                  <a:srgbClr val="C8D5DC"/>
                </a:solidFill>
              </a:defRPr>
            </a:pPr>
            <a:r>
              <a:rPr sz="1875" b="0" i="0">
                <a:solidFill>
                  <a:srgbClr val="C8D5DC"/>
                </a:solidFill>
              </a:rPr>
              <a:t>An agentic workspace gives work a durable home, bounded tools, repeatable workflows, and a visible review trail.</a:t>
            </a:r>
          </a:p>
        </p:txBody>
      </p:sp>
    </p:spTree>
    <p:extLst>
      <p:ext uri="{BB962C8B-B14F-4D97-AF65-F5344CB8AC3E}">
        <p14:creationId xmlns:p14="http://schemas.microsoft.com/office/powerpoint/2010/main" val="1691054683"/>
      </p:ext>
    </p:extLst>
  </p:cSld>
</p:sld>
</file>

<file path=ppt/slides/slide7.xml><?xml version="1.0" encoding="utf-8"?>
<p:sld xmlns:p="http://schemas.openxmlformats.org/presentationml/2006/main">
  <p:cSld>
    <p:bg>
      <p:bgPr>
        <a:solidFill xmlns:a="http://schemas.openxmlformats.org/drawingml/2006/main">
          <a:srgbClr val="F0F2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5D726F-A3A3-40C9-A42D-B8C05C44B274}"/>
              </a:ext>
            </a:extLst>
          </p:cNvPr>
          <p:cNvSpPr>
            <a:spLocks xmlns:a="http://schemas.openxmlformats.org/drawingml/2006/main" noGrp="1"/>
          </p:cNvSpPr>
          <p:nvPr/>
        </p:nvSpPr>
        <p:spPr>
          <a:xfrm xmlns:a="http://schemas.openxmlformats.org/drawingml/2006/main">
            <a:off x="0" y="0"/>
            <a:ext cx="3714750" cy="6858000"/>
          </a:xfrm>
          <a:prstGeom xmlns:a="http://schemas.openxmlformats.org/drawingml/2006/main" prst="rect">
            <a:avLst/>
          </a:prstGeom>
          <a:solidFill xmlns:a="http://schemas.openxmlformats.org/drawingml/2006/main">
            <a:srgbClr val="EFB8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F02AF32-4C88-4AE7-B818-4AF9F86C7B3A}"/>
              </a:ext>
            </a:extLst>
          </p:cNvPr>
          <p:cNvSpPr>
            <a:spLocks xmlns:a="http://schemas.openxmlformats.org/drawingml/2006/main" noGrp="1"/>
          </p:cNvSpPr>
          <p:nvPr/>
        </p:nvSpPr>
        <p:spPr>
          <a:xfrm xmlns:a="http://schemas.openxmlformats.org/drawingml/2006/main">
            <a:off x="3714750" y="0"/>
            <a:ext cx="8096250" cy="6858000"/>
          </a:xfrm>
          <a:prstGeom xmlns:a="http://schemas.openxmlformats.org/drawingml/2006/main" prst="rect">
            <a:avLst/>
          </a:prstGeom>
          <a:solidFill xmlns:a="http://schemas.openxmlformats.org/drawingml/2006/main">
            <a:srgbClr val="014A7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63D1C9-D4F7-4217-9160-38592B8D20C2}"/>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D047A1-85B9-403F-8616-3B4B7FE9EFCF}"/>
              </a:ext>
            </a:extLst>
          </p:cNvPr>
          <p:cNvSpPr>
            <a:spLocks xmlns:a="http://schemas.openxmlformats.org/drawingml/2006/main" noGrp="1"/>
          </p:cNvSpPr>
          <p:nvPr/>
        </p:nvSpPr>
        <p:spPr>
          <a:xfrm xmlns:a="http://schemas.openxmlformats.org/drawingml/2006/main">
            <a:off x="762000" y="876300"/>
            <a:ext cx="238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8850" b="1" i="0">
                <a:solidFill>
                  <a:srgbClr val="014A74"/>
                </a:solidFill>
              </a:defRPr>
            </a:pPr>
            <a:r>
              <a:rPr sz="8850" b="1" i="0">
                <a:solidFill>
                  <a:srgbClr val="014A74"/>
                </a:solidFill>
              </a:rPr>
              <a:t>01</a:t>
            </a:r>
          </a:p>
        </p:txBody>
      </p:sp>
      <p:sp>
        <p:nvSpPr>
          <p:cNvPr id="5" name="">
            <a:extLst xmlns:a="http://schemas.openxmlformats.org/drawingml/2006/main">
              <a:ext uri="{FF2B5EF4-FFF2-40B4-BE49-F238E27FC236}">
                <a16:creationId xmlns:a16="http://schemas.microsoft.com/office/drawing/2014/main" id="{C491CA76-CDA7-4018-B4D8-7E37C914D4CC}"/>
              </a:ext>
            </a:extLst>
          </p:cNvPr>
          <p:cNvSpPr>
            <a:spLocks xmlns:a="http://schemas.openxmlformats.org/drawingml/2006/main" noGrp="1"/>
          </p:cNvSpPr>
          <p:nvPr/>
        </p:nvSpPr>
        <p:spPr>
          <a:xfrm xmlns:a="http://schemas.openxmlformats.org/drawingml/2006/main">
            <a:off x="4381500" y="171450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4350" b="0" i="0">
                <a:solidFill>
                  <a:srgbClr val="FFFFFF"/>
                </a:solidFill>
              </a:defRPr>
            </a:pPr>
            <a:r>
              <a:rPr sz="4350" b="0" i="0">
                <a:solidFill>
                  <a:srgbClr val="FFFFFF"/>
                </a:solidFill>
              </a:rPr>
              <a:t>FOUNDATIONS</a:t>
            </a:r>
          </a:p>
        </p:txBody>
      </p:sp>
      <p:sp>
        <p:nvSpPr>
          <p:cNvPr id="6" name="">
            <a:extLst xmlns:a="http://schemas.openxmlformats.org/drawingml/2006/main">
              <a:ext uri="{FF2B5EF4-FFF2-40B4-BE49-F238E27FC236}">
                <a16:creationId xmlns:a16="http://schemas.microsoft.com/office/drawing/2014/main" id="{A9FABD78-9C79-4040-AFA1-1094E9E17492}"/>
              </a:ext>
            </a:extLst>
          </p:cNvPr>
          <p:cNvSpPr>
            <a:spLocks xmlns:a="http://schemas.openxmlformats.org/drawingml/2006/main" noGrp="1"/>
          </p:cNvSpPr>
          <p:nvPr/>
        </p:nvSpPr>
        <p:spPr>
          <a:xfrm xmlns:a="http://schemas.openxmlformats.org/drawingml/2006/main">
            <a:off x="4419600" y="3562350"/>
            <a:ext cx="619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What changes when a language model becomes part of a working system?</a:t>
            </a:r>
          </a:p>
        </p:txBody>
      </p:sp>
      <p:sp>
        <p:nvSpPr>
          <p:cNvPr id="7" name="">
            <a:extLst xmlns:a="http://schemas.openxmlformats.org/drawingml/2006/main">
              <a:ext uri="{FF2B5EF4-FFF2-40B4-BE49-F238E27FC236}">
                <a16:creationId xmlns:a16="http://schemas.microsoft.com/office/drawing/2014/main" id="{E40664F0-C1C6-4739-8B52-E3E188F1720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ctr">
              <a:defRPr sz="1050" b="1" i="0">
                <a:solidFill>
                  <a:srgbClr val="014A74"/>
                </a:solidFill>
              </a:defRPr>
            </a:pPr>
            <a:r>
              <a:rPr sz="1050" b="1" i="0">
                <a:solidFill>
                  <a:srgbClr val="014A74"/>
                </a:solidFill>
              </a:rPr>
              <a:t>07</a:t>
            </a:r>
          </a:p>
        </p:txBody>
      </p:sp>
      <p:sp>
        <p:nvSpPr>
          <p:cNvPr id="8" name="">
            <a:extLst xmlns:a="http://schemas.openxmlformats.org/drawingml/2006/main">
              <a:ext uri="{FF2B5EF4-FFF2-40B4-BE49-F238E27FC236}">
                <a16:creationId xmlns:a16="http://schemas.microsoft.com/office/drawing/2014/main" id="{516F8A17-53D2-4242-9770-E2EC7B319C46}"/>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014A74"/>
                </a:solidFill>
              </a:defRPr>
            </a:pPr>
            <a:r>
              <a:rPr sz="975" b="1" i="0">
                <a:solidFill>
                  <a:srgbClr val="014A74"/>
                </a:solidFill>
              </a:rPr>
              <a:t>CREATED WITH AFK RESEARCH</a:t>
            </a:r>
          </a:p>
        </p:txBody>
      </p:sp>
    </p:spTree>
    <p:extLst>
      <p:ext uri="{BB962C8B-B14F-4D97-AF65-F5344CB8AC3E}">
        <p14:creationId xmlns:p14="http://schemas.microsoft.com/office/powerpoint/2010/main" val="57203141"/>
      </p:ext>
    </p:extLst>
  </p:cSld>
</p:sld>
</file>

<file path=ppt/slides/slide8.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8">
            <a:extLst xmlns:a="http://schemas.openxmlformats.org/drawingml/2006/main">
              <a:ext uri="{FF2B5EF4-FFF2-40B4-BE49-F238E27FC236}">
                <a16:creationId xmlns:a16="http://schemas.microsoft.com/office/drawing/2014/main" id="{FB035CA2-5726-4A5D-9172-1E511EFCDC5D}"/>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C54999-5D4E-44A5-BE8F-4FF1014A636B}"/>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08</a:t>
            </a:r>
          </a:p>
        </p:txBody>
      </p:sp>
      <p:sp>
        <p:nvSpPr>
          <p:cNvPr id="3" name="">
            <a:extLst xmlns:a="http://schemas.openxmlformats.org/drawingml/2006/main">
              <a:ext uri="{FF2B5EF4-FFF2-40B4-BE49-F238E27FC236}">
                <a16:creationId xmlns:a16="http://schemas.microsoft.com/office/drawing/2014/main" id="{F87BA8B7-9111-4C11-9A45-316C3B8F18FD}"/>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B907DEAE-FC77-400E-9360-946C16EE0171}"/>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8FFD52-A3C9-4FB9-B3ED-85FA0E3D0260}"/>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4F0DFB8-FDDC-45BC-8EBA-2E956945388E}"/>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2566F4-0E70-46BF-ABBB-73CEAA039CCD}"/>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F2FE24-B247-48CC-8D25-359381FA8931}"/>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17FF89B-C695-41C2-9D40-96EB2086AE86}"/>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8">
            <a:extLst xmlns:a="http://schemas.openxmlformats.org/drawingml/2006/main">
              <a:ext uri="{FF2B5EF4-FFF2-40B4-BE49-F238E27FC236}">
                <a16:creationId xmlns:a16="http://schemas.microsoft.com/office/drawing/2014/main" id="{40762ACD-D94A-49A4-81EE-AFD9099B699D}"/>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AD6103-CB12-45B6-A0EB-281C5AA4AA3B}"/>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800CCFDA-4912-475B-B4C9-A2FF44C42017}"/>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AI is a stack, not one thing</a:t>
            </a:r>
          </a:p>
        </p:txBody>
      </p:sp>
      <p:sp>
        <p:nvSpPr>
          <p:cNvPr id="13" name="">
            <a:extLst xmlns:a="http://schemas.openxmlformats.org/drawingml/2006/main">
              <a:ext uri="{FF2B5EF4-FFF2-40B4-BE49-F238E27FC236}">
                <a16:creationId xmlns:a16="http://schemas.microsoft.com/office/drawing/2014/main" id="{0F03EB6A-CF76-434D-8567-ED8C7BF2AF0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31E3F1-370A-4699-B1AC-ACDDCFA79279}"/>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CE038E7-CF26-4ADC-8BDC-5B6A4EA70300}"/>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DC97355-74BD-4BAC-B2E5-D24287E1233D}"/>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C661EEB4-1AA1-4A21-BFC6-28005C850DD9}"/>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AI</a:t>
            </a:r>
          </a:p>
        </p:txBody>
      </p:sp>
      <p:sp>
        <p:nvSpPr>
          <p:cNvPr id="18" name="">
            <a:extLst xmlns:a="http://schemas.openxmlformats.org/drawingml/2006/main">
              <a:ext uri="{FF2B5EF4-FFF2-40B4-BE49-F238E27FC236}">
                <a16:creationId xmlns:a16="http://schemas.microsoft.com/office/drawing/2014/main" id="{73B72F9D-C5E6-45A2-B0E3-03ADFF54C4C0}"/>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Systems performing tasks associated with intelligence.</a:t>
            </a:r>
          </a:p>
        </p:txBody>
      </p:sp>
      <p:sp>
        <p:nvSpPr>
          <p:cNvPr id="19" name="">
            <a:extLst xmlns:a="http://schemas.openxmlformats.org/drawingml/2006/main">
              <a:ext uri="{FF2B5EF4-FFF2-40B4-BE49-F238E27FC236}">
                <a16:creationId xmlns:a16="http://schemas.microsoft.com/office/drawing/2014/main" id="{A08B39C7-3C3D-42DB-A450-9EFB4DDBBD3E}"/>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81F6B9-1A94-4D69-BB63-E5B2CF09732B}"/>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F9CCA724-D645-49E1-A3F5-64C99A700178}"/>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Machine learning</a:t>
            </a:r>
          </a:p>
        </p:txBody>
      </p:sp>
      <p:sp>
        <p:nvSpPr>
          <p:cNvPr id="22" name="">
            <a:extLst xmlns:a="http://schemas.openxmlformats.org/drawingml/2006/main">
              <a:ext uri="{FF2B5EF4-FFF2-40B4-BE49-F238E27FC236}">
                <a16:creationId xmlns:a16="http://schemas.microsoft.com/office/drawing/2014/main" id="{475FE45C-C625-4516-A7D1-4778D0CBF045}"/>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Systems learning patterns from data.</a:t>
            </a:r>
          </a:p>
        </p:txBody>
      </p:sp>
      <p:sp>
        <p:nvSpPr>
          <p:cNvPr id="23" name="">
            <a:extLst xmlns:a="http://schemas.openxmlformats.org/drawingml/2006/main">
              <a:ext uri="{FF2B5EF4-FFF2-40B4-BE49-F238E27FC236}">
                <a16:creationId xmlns:a16="http://schemas.microsoft.com/office/drawing/2014/main" id="{FFD6FA10-AFD4-4551-9D63-F771B3660247}"/>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6246161-4F0E-48A4-BBF7-2B9DD74E6B92}"/>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FD461817-D84E-4663-9E4B-63D4A2720AA4}"/>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Generative AI</a:t>
            </a:r>
          </a:p>
        </p:txBody>
      </p:sp>
      <p:sp>
        <p:nvSpPr>
          <p:cNvPr id="26" name="">
            <a:extLst xmlns:a="http://schemas.openxmlformats.org/drawingml/2006/main">
              <a:ext uri="{FF2B5EF4-FFF2-40B4-BE49-F238E27FC236}">
                <a16:creationId xmlns:a16="http://schemas.microsoft.com/office/drawing/2014/main" id="{84B7D7F9-D9E8-4B13-B2C2-BCBC01389D0E}"/>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Models producing new content from learned patterns.</a:t>
            </a:r>
          </a:p>
        </p:txBody>
      </p:sp>
      <p:sp>
        <p:nvSpPr>
          <p:cNvPr id="27" name="">
            <a:extLst xmlns:a="http://schemas.openxmlformats.org/drawingml/2006/main">
              <a:ext uri="{FF2B5EF4-FFF2-40B4-BE49-F238E27FC236}">
                <a16:creationId xmlns:a16="http://schemas.microsoft.com/office/drawing/2014/main" id="{2115D146-67FD-4FDF-A345-7DF873F78583}"/>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0CB9EC3-A9B0-49C8-963A-DA9AA1F441CF}"/>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0104096B-FF63-44B6-B900-C358ACAC5C50}"/>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LLM</a:t>
            </a:r>
          </a:p>
        </p:txBody>
      </p:sp>
      <p:sp>
        <p:nvSpPr>
          <p:cNvPr id="30" name="">
            <a:extLst xmlns:a="http://schemas.openxmlformats.org/drawingml/2006/main">
              <a:ext uri="{FF2B5EF4-FFF2-40B4-BE49-F238E27FC236}">
                <a16:creationId xmlns:a16="http://schemas.microsoft.com/office/drawing/2014/main" id="{FF0F156F-06F4-4AC7-96B4-16F89C3D4B96}"/>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A generative model specialized in language sequences.</a:t>
            </a:r>
          </a:p>
        </p:txBody>
      </p:sp>
    </p:spTree>
    <p:extLst>
      <p:ext uri="{BB962C8B-B14F-4D97-AF65-F5344CB8AC3E}">
        <p14:creationId xmlns:p14="http://schemas.microsoft.com/office/powerpoint/2010/main" val="927376033"/>
      </p:ext>
    </p:extLst>
  </p:cSld>
</p:sld>
</file>

<file path=ppt/slides/slide9.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9">
            <a:extLst xmlns:a="http://schemas.openxmlformats.org/drawingml/2006/main">
              <a:ext uri="{FF2B5EF4-FFF2-40B4-BE49-F238E27FC236}">
                <a16:creationId xmlns:a16="http://schemas.microsoft.com/office/drawing/2014/main" id="{FBDD3FD5-0D0B-4858-A233-14F554C6C4BF}"/>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DA93A5-BE9F-423E-93D2-087725F07FF0}"/>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09</a:t>
            </a:r>
          </a:p>
        </p:txBody>
      </p:sp>
      <p:sp>
        <p:nvSpPr>
          <p:cNvPr id="3" name="">
            <a:extLst xmlns:a="http://schemas.openxmlformats.org/drawingml/2006/main">
              <a:ext uri="{FF2B5EF4-FFF2-40B4-BE49-F238E27FC236}">
                <a16:creationId xmlns:a16="http://schemas.microsoft.com/office/drawing/2014/main" id="{2B7EE968-40DB-49F5-8EF4-9E0D11454F5B}"/>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65410CD5-A7DE-41F4-809D-9FF6E6FB1377}"/>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F3C9AB-D1D3-49DC-82F8-B8C00C1E879C}"/>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3D64915-5B32-4EE9-ADFA-4730631001CA}"/>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86958ED-A9FE-42A5-BB10-00D310A53B3C}"/>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5C8881-AAF9-4E9F-B14A-9719989C05DF}"/>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9E45A06-30F7-40C0-AAF8-B972EF76AAA1}"/>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9">
            <a:extLst xmlns:a="http://schemas.openxmlformats.org/drawingml/2006/main">
              <a:ext uri="{FF2B5EF4-FFF2-40B4-BE49-F238E27FC236}">
                <a16:creationId xmlns:a16="http://schemas.microsoft.com/office/drawing/2014/main" id="{8489AD76-B052-4DB1-A3B9-16AB66CBB06D}"/>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1323427-5637-4293-8773-4375652D925E}"/>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BAE1D660-E5A3-43D4-86A8-31F8DB5D5AD6}"/>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An LLM predicts a useful continuation</a:t>
            </a:r>
          </a:p>
        </p:txBody>
      </p:sp>
      <p:sp>
        <p:nvSpPr>
          <p:cNvPr id="13" name="">
            <a:extLst xmlns:a="http://schemas.openxmlformats.org/drawingml/2006/main">
              <a:ext uri="{FF2B5EF4-FFF2-40B4-BE49-F238E27FC236}">
                <a16:creationId xmlns:a16="http://schemas.microsoft.com/office/drawing/2014/main" id="{C2976FE6-D3FC-475A-AEDF-31FED84A6AB8}"/>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A82CE0-D06B-4F06-A6E5-5241C0A6292C}"/>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INPUT</a:t>
            </a:r>
          </a:p>
        </p:txBody>
      </p:sp>
      <p:sp>
        <p:nvSpPr>
          <p:cNvPr id="15" name="">
            <a:extLst xmlns:a="http://schemas.openxmlformats.org/drawingml/2006/main">
              <a:ext uri="{FF2B5EF4-FFF2-40B4-BE49-F238E27FC236}">
                <a16:creationId xmlns:a16="http://schemas.microsoft.com/office/drawing/2014/main" id="{8A11114F-8EF7-45CC-9AB6-220DF6422252}"/>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9FC7CF-50F5-42D0-8B13-7775FCB9E737}"/>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Instructions, examples, retrieved evidence, and conversation context.</a:t>
            </a:r>
          </a:p>
        </p:txBody>
      </p:sp>
      <p:sp>
        <p:nvSpPr>
          <p:cNvPr id="17" name="">
            <a:extLst xmlns:a="http://schemas.openxmlformats.org/drawingml/2006/main">
              <a:ext uri="{FF2B5EF4-FFF2-40B4-BE49-F238E27FC236}">
                <a16:creationId xmlns:a16="http://schemas.microsoft.com/office/drawing/2014/main" id="{90A832D3-133C-40CA-BA1E-4BB946F362B5}"/>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MODEL</a:t>
            </a:r>
          </a:p>
        </p:txBody>
      </p:sp>
      <p:sp>
        <p:nvSpPr>
          <p:cNvPr id="18" name="">
            <a:extLst xmlns:a="http://schemas.openxmlformats.org/drawingml/2006/main">
              <a:ext uri="{FF2B5EF4-FFF2-40B4-BE49-F238E27FC236}">
                <a16:creationId xmlns:a16="http://schemas.microsoft.com/office/drawing/2014/main" id="{CD8C745F-C9E6-4DD2-910D-D91C4695DC7B}"/>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BB548F5-6386-49EE-A6B4-8D78D7E392A1}"/>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 learned probability distribution over possible token sequences.</a:t>
            </a:r>
          </a:p>
        </p:txBody>
      </p:sp>
      <p:sp>
        <p:nvSpPr>
          <p:cNvPr id="20" name="">
            <a:extLst xmlns:a="http://schemas.openxmlformats.org/drawingml/2006/main">
              <a:ext uri="{FF2B5EF4-FFF2-40B4-BE49-F238E27FC236}">
                <a16:creationId xmlns:a16="http://schemas.microsoft.com/office/drawing/2014/main" id="{99AE5AD7-3906-4384-AADA-74204DABB64D}"/>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OUTPUT</a:t>
            </a:r>
          </a:p>
        </p:txBody>
      </p:sp>
      <p:sp>
        <p:nvSpPr>
          <p:cNvPr id="21" name="">
            <a:extLst xmlns:a="http://schemas.openxmlformats.org/drawingml/2006/main">
              <a:ext uri="{FF2B5EF4-FFF2-40B4-BE49-F238E27FC236}">
                <a16:creationId xmlns:a16="http://schemas.microsoft.com/office/drawing/2014/main" id="{7BE7CDF2-FDC7-4DDE-99B2-18A5F74D2F0C}"/>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A61AA8-93A9-42A8-9E00-89001C041DC4}"/>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 generated continuation—not a database lookup and not a guaranteed fact.</a:t>
            </a:r>
          </a:p>
        </p:txBody>
      </p:sp>
    </p:spTree>
    <p:extLst>
      <p:ext uri="{BB962C8B-B14F-4D97-AF65-F5344CB8AC3E}">
        <p14:creationId xmlns:p14="http://schemas.microsoft.com/office/powerpoint/2010/main" val="1325252597"/>
      </p:ext>
    </p:extLst>
  </p:cSld>
</p:sld>
</file>

<file path=ppt/slides/slide10.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10">
            <a:extLst xmlns:a="http://schemas.openxmlformats.org/drawingml/2006/main">
              <a:ext uri="{FF2B5EF4-FFF2-40B4-BE49-F238E27FC236}">
                <a16:creationId xmlns:a16="http://schemas.microsoft.com/office/drawing/2014/main" id="{EA77CC85-C365-4482-812C-14CF2C623D33}"/>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64C46A-BB00-4F79-9A68-EBCFDEA2FCBE}"/>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10</a:t>
            </a:r>
          </a:p>
        </p:txBody>
      </p:sp>
      <p:sp>
        <p:nvSpPr>
          <p:cNvPr id="3" name="">
            <a:extLst xmlns:a="http://schemas.openxmlformats.org/drawingml/2006/main">
              <a:ext uri="{FF2B5EF4-FFF2-40B4-BE49-F238E27FC236}">
                <a16:creationId xmlns:a16="http://schemas.microsoft.com/office/drawing/2014/main" id="{078231BA-6630-4E12-BCB6-B446C32CABCF}"/>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C0515B40-B6CB-465B-9D07-E1B0681FDF7B}"/>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F3AA841-75BE-4D5B-A2C2-42CE8DF72470}"/>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A547E0-939D-456C-8D44-45770F7668DC}"/>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DF346F9-5415-4722-9768-737EA6C0AA68}"/>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402741F-3814-4452-8F4D-CDF96E861280}"/>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6B51153-550F-47D5-A7D2-803D84E3754A}"/>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0">
            <a:extLst xmlns:a="http://schemas.openxmlformats.org/drawingml/2006/main">
              <a:ext uri="{FF2B5EF4-FFF2-40B4-BE49-F238E27FC236}">
                <a16:creationId xmlns:a16="http://schemas.microsoft.com/office/drawing/2014/main" id="{3A511167-4D68-4756-882B-D7D2F60AB85F}"/>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9E0AE0B-7CD8-4C30-8806-CF200DA03D18}"/>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9A2339BC-140F-4741-AF97-5DCA51B075D7}"/>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 prompt is temporary working context</a:t>
            </a:r>
          </a:p>
        </p:txBody>
      </p:sp>
      <p:sp>
        <p:nvSpPr>
          <p:cNvPr id="13" name="">
            <a:extLst xmlns:a="http://schemas.openxmlformats.org/drawingml/2006/main">
              <a:ext uri="{FF2B5EF4-FFF2-40B4-BE49-F238E27FC236}">
                <a16:creationId xmlns:a16="http://schemas.microsoft.com/office/drawing/2014/main" id="{7066B929-5950-4055-856D-501C6771D690}"/>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B3963B9-A105-4296-81D3-6B7FA7DB204B}"/>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INSTRUCTION</a:t>
            </a:r>
          </a:p>
        </p:txBody>
      </p:sp>
      <p:sp>
        <p:nvSpPr>
          <p:cNvPr id="15" name="">
            <a:extLst xmlns:a="http://schemas.openxmlformats.org/drawingml/2006/main">
              <a:ext uri="{FF2B5EF4-FFF2-40B4-BE49-F238E27FC236}">
                <a16:creationId xmlns:a16="http://schemas.microsoft.com/office/drawing/2014/main" id="{DD901B35-3453-4496-8DD5-D2E2A2339B51}"/>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73540C6-04CD-425D-9745-D8E51DE62837}"/>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What should be done, for whom, and under which constraints?</a:t>
            </a:r>
          </a:p>
        </p:txBody>
      </p:sp>
      <p:sp>
        <p:nvSpPr>
          <p:cNvPr id="17" name="">
            <a:extLst xmlns:a="http://schemas.openxmlformats.org/drawingml/2006/main">
              <a:ext uri="{FF2B5EF4-FFF2-40B4-BE49-F238E27FC236}">
                <a16:creationId xmlns:a16="http://schemas.microsoft.com/office/drawing/2014/main" id="{78DF195D-B028-4D08-A268-3D56CFCAAB8A}"/>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CONTEXT</a:t>
            </a:r>
          </a:p>
        </p:txBody>
      </p:sp>
      <p:sp>
        <p:nvSpPr>
          <p:cNvPr id="18" name="">
            <a:extLst xmlns:a="http://schemas.openxmlformats.org/drawingml/2006/main">
              <a:ext uri="{FF2B5EF4-FFF2-40B4-BE49-F238E27FC236}">
                <a16:creationId xmlns:a16="http://schemas.microsoft.com/office/drawing/2014/main" id="{CF95F3F0-3931-420E-B977-34245AFDAEAA}"/>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7792939-50D3-4E36-8D84-C0725D07AA18}"/>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What evidence, examples, state, and prior decisions are available now?</a:t>
            </a:r>
          </a:p>
        </p:txBody>
      </p:sp>
      <p:sp>
        <p:nvSpPr>
          <p:cNvPr id="20" name="">
            <a:extLst xmlns:a="http://schemas.openxmlformats.org/drawingml/2006/main">
              <a:ext uri="{FF2B5EF4-FFF2-40B4-BE49-F238E27FC236}">
                <a16:creationId xmlns:a16="http://schemas.microsoft.com/office/drawing/2014/main" id="{35B1064A-9DE2-493D-924C-719B9406778D}"/>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OUTPUT CONTRACT</a:t>
            </a:r>
          </a:p>
        </p:txBody>
      </p:sp>
      <p:sp>
        <p:nvSpPr>
          <p:cNvPr id="21" name="">
            <a:extLst xmlns:a="http://schemas.openxmlformats.org/drawingml/2006/main">
              <a:ext uri="{FF2B5EF4-FFF2-40B4-BE49-F238E27FC236}">
                <a16:creationId xmlns:a16="http://schemas.microsoft.com/office/drawing/2014/main" id="{AB15DA3C-DF06-4600-91DD-970E3091C1C5}"/>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38ED5F3-594E-4C0B-AF2F-7E4A5019D20E}"/>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What form, quality bar, and review conditions define success?</a:t>
            </a:r>
          </a:p>
        </p:txBody>
      </p:sp>
    </p:spTree>
    <p:extLst>
      <p:ext uri="{BB962C8B-B14F-4D97-AF65-F5344CB8AC3E}">
        <p14:creationId xmlns:p14="http://schemas.microsoft.com/office/powerpoint/2010/main" val="855528598"/>
      </p:ext>
    </p:extLst>
  </p:cSld>
</p:sld>
</file>

<file path=ppt/slides/slide11.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6" name="metadata-rail-11">
            <a:extLst xmlns:a="http://schemas.openxmlformats.org/drawingml/2006/main">
              <a:ext uri="{FF2B5EF4-FFF2-40B4-BE49-F238E27FC236}">
                <a16:creationId xmlns:a16="http://schemas.microsoft.com/office/drawing/2014/main" id="{2FF26702-CA2F-4A47-BFC1-2BE88CEF50DF}"/>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02F548-4CF3-4BF8-994A-2E2BA47E000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11</a:t>
            </a:r>
          </a:p>
        </p:txBody>
      </p:sp>
      <p:sp>
        <p:nvSpPr>
          <p:cNvPr id="3" name="">
            <a:extLst xmlns:a="http://schemas.openxmlformats.org/drawingml/2006/main">
              <a:ext uri="{FF2B5EF4-FFF2-40B4-BE49-F238E27FC236}">
                <a16:creationId xmlns:a16="http://schemas.microsoft.com/office/drawing/2014/main" id="{2AF23F88-5C42-4412-9339-222DA40791FC}"/>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E646E480-E4BB-4FB5-9936-16D460BF4C12}"/>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844F917-7A0D-4AB3-90F5-38433C4CDEBA}"/>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5761BC9-3A07-46F6-A800-50FE61B680B8}"/>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2256D4-F7C5-410D-98EB-ED1218839DA3}"/>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495FA3-8EB4-4D89-9672-18BF08F55EA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7A02C3B-F7AA-4DD1-9149-0AF8448096DF}"/>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1">
            <a:extLst xmlns:a="http://schemas.openxmlformats.org/drawingml/2006/main">
              <a:ext uri="{FF2B5EF4-FFF2-40B4-BE49-F238E27FC236}">
                <a16:creationId xmlns:a16="http://schemas.microsoft.com/office/drawing/2014/main" id="{6F8A7149-A8F4-41CB-B5BE-5653074AEB4F}"/>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BBD7FD-3F0F-45A7-B606-7261459E5866}"/>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44EDC9FF-C643-4B07-9FE7-56CA02E7F1CC}"/>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Systems turn models into agents</a:t>
            </a:r>
          </a:p>
        </p:txBody>
      </p:sp>
      <p:sp>
        <p:nvSpPr>
          <p:cNvPr id="13" name="">
            <a:extLst xmlns:a="http://schemas.openxmlformats.org/drawingml/2006/main">
              <a:ext uri="{FF2B5EF4-FFF2-40B4-BE49-F238E27FC236}">
                <a16:creationId xmlns:a16="http://schemas.microsoft.com/office/drawing/2014/main" id="{C955D31C-6078-40B9-AEE9-92E3F5F7C89A}"/>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22DD0DB-C17F-4D12-99ED-2442071C324F}"/>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MODEL</a:t>
            </a:r>
          </a:p>
        </p:txBody>
      </p:sp>
      <p:sp>
        <p:nvSpPr>
          <p:cNvPr id="15" name="">
            <a:extLst xmlns:a="http://schemas.openxmlformats.org/drawingml/2006/main">
              <a:ext uri="{FF2B5EF4-FFF2-40B4-BE49-F238E27FC236}">
                <a16:creationId xmlns:a16="http://schemas.microsoft.com/office/drawing/2014/main" id="{95E74B5A-D871-4865-8101-C798E2A98E4C}"/>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2DED9E8-CFB5-4DAA-A3BF-6D47024FA1FC}"/>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Generates a response from supplied context.</a:t>
            </a:r>
          </a:p>
        </p:txBody>
      </p:sp>
      <p:sp>
        <p:nvSpPr>
          <p:cNvPr id="17" name="">
            <a:extLst xmlns:a="http://schemas.openxmlformats.org/drawingml/2006/main">
              <a:ext uri="{FF2B5EF4-FFF2-40B4-BE49-F238E27FC236}">
                <a16:creationId xmlns:a16="http://schemas.microsoft.com/office/drawing/2014/main" id="{EEC2C6A2-EA67-4B46-889B-3075102D0BAF}"/>
              </a:ext>
            </a:extLst>
          </p:cNvPr>
          <p:cNvSpPr>
            <a:spLocks xmlns:a="http://schemas.openxmlformats.org/drawingml/2006/main" noGrp="1"/>
          </p:cNvSpPr>
          <p:nvPr/>
        </p:nvSpPr>
        <p:spPr>
          <a:xfrm xmlns:a="http://schemas.openxmlformats.org/drawingml/2006/main">
            <a:off x="914400" y="552450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C8D5DC"/>
                </a:solidFill>
              </a:defRPr>
            </a:pPr>
            <a:r>
              <a:rPr sz="1275" b="1" i="0">
                <a:solidFill>
                  <a:srgbClr val="C8D5DC"/>
                </a:solidFill>
              </a:rPr>
              <a:t>No independent action loop</a:t>
            </a:r>
          </a:p>
        </p:txBody>
      </p:sp>
      <p:sp>
        <p:nvSpPr>
          <p:cNvPr id="18" name="">
            <a:extLst xmlns:a="http://schemas.openxmlformats.org/drawingml/2006/main">
              <a:ext uri="{FF2B5EF4-FFF2-40B4-BE49-F238E27FC236}">
                <a16:creationId xmlns:a16="http://schemas.microsoft.com/office/drawing/2014/main" id="{C8A08126-24F1-4761-A5BA-C2449ECBE322}"/>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ASSISTANT</a:t>
            </a:r>
          </a:p>
        </p:txBody>
      </p:sp>
      <p:sp>
        <p:nvSpPr>
          <p:cNvPr id="19" name="">
            <a:extLst xmlns:a="http://schemas.openxmlformats.org/drawingml/2006/main">
              <a:ext uri="{FF2B5EF4-FFF2-40B4-BE49-F238E27FC236}">
                <a16:creationId xmlns:a16="http://schemas.microsoft.com/office/drawing/2014/main" id="{2EBD8C75-3B2C-4BC4-ACE8-1A80BDCAFE6D}"/>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6BFD354-D7E4-4BE5-94C5-E5BB2E1BA3D8}"/>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Adds interface, instructions, and selected tools.</a:t>
            </a:r>
          </a:p>
        </p:txBody>
      </p:sp>
      <p:sp>
        <p:nvSpPr>
          <p:cNvPr id="21" name="">
            <a:extLst xmlns:a="http://schemas.openxmlformats.org/drawingml/2006/main">
              <a:ext uri="{FF2B5EF4-FFF2-40B4-BE49-F238E27FC236}">
                <a16:creationId xmlns:a16="http://schemas.microsoft.com/office/drawing/2014/main" id="{A3115832-FC9C-49B5-8E5A-A0A5F82279F4}"/>
              </a:ext>
            </a:extLst>
          </p:cNvPr>
          <p:cNvSpPr>
            <a:spLocks xmlns:a="http://schemas.openxmlformats.org/drawingml/2006/main" noGrp="1"/>
          </p:cNvSpPr>
          <p:nvPr/>
        </p:nvSpPr>
        <p:spPr>
          <a:xfrm xmlns:a="http://schemas.openxmlformats.org/drawingml/2006/main">
            <a:off x="4457700" y="552450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C8D5DC"/>
                </a:solidFill>
              </a:defRPr>
            </a:pPr>
            <a:r>
              <a:rPr sz="1275" b="1" i="0">
                <a:solidFill>
                  <a:srgbClr val="C8D5DC"/>
                </a:solidFill>
              </a:rPr>
              <a:t>Usually user-steered</a:t>
            </a:r>
          </a:p>
        </p:txBody>
      </p:sp>
      <p:sp>
        <p:nvSpPr>
          <p:cNvPr id="22" name="">
            <a:extLst xmlns:a="http://schemas.openxmlformats.org/drawingml/2006/main">
              <a:ext uri="{FF2B5EF4-FFF2-40B4-BE49-F238E27FC236}">
                <a16:creationId xmlns:a16="http://schemas.microsoft.com/office/drawing/2014/main" id="{95E7C56D-E479-4DD8-A73C-0F2C9EAB7FCA}"/>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AGENTIC SYSTEM</a:t>
            </a:r>
          </a:p>
        </p:txBody>
      </p:sp>
      <p:sp>
        <p:nvSpPr>
          <p:cNvPr id="23" name="">
            <a:extLst xmlns:a="http://schemas.openxmlformats.org/drawingml/2006/main">
              <a:ext uri="{FF2B5EF4-FFF2-40B4-BE49-F238E27FC236}">
                <a16:creationId xmlns:a16="http://schemas.microsoft.com/office/drawing/2014/main" id="{5851A5EA-47D2-4174-B4A7-C4FBD2B14623}"/>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57E1C8B-7683-4765-A226-C0A231FC5C9B}"/>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Pursues a goal through observation, planning, tool use, and feedback.</a:t>
            </a:r>
          </a:p>
        </p:txBody>
      </p:sp>
      <p:sp>
        <p:nvSpPr>
          <p:cNvPr id="25" name="">
            <a:extLst xmlns:a="http://schemas.openxmlformats.org/drawingml/2006/main">
              <a:ext uri="{FF2B5EF4-FFF2-40B4-BE49-F238E27FC236}">
                <a16:creationId xmlns:a16="http://schemas.microsoft.com/office/drawing/2014/main" id="{9E30EAB9-8732-40B3-822F-2C65FD4DBBBE}"/>
              </a:ext>
            </a:extLst>
          </p:cNvPr>
          <p:cNvSpPr>
            <a:spLocks xmlns:a="http://schemas.openxmlformats.org/drawingml/2006/main" noGrp="1"/>
          </p:cNvSpPr>
          <p:nvPr/>
        </p:nvSpPr>
        <p:spPr>
          <a:xfrm xmlns:a="http://schemas.openxmlformats.org/drawingml/2006/main">
            <a:off x="8001000" y="552450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C8D5DC"/>
                </a:solidFill>
              </a:defRPr>
            </a:pPr>
            <a:r>
              <a:rPr sz="1275" b="1" i="0">
                <a:solidFill>
                  <a:srgbClr val="C8D5DC"/>
                </a:solidFill>
              </a:rPr>
              <a:t>Bounded autonomy</a:t>
            </a:r>
          </a:p>
        </p:txBody>
      </p:sp>
    </p:spTree>
    <p:extLst>
      <p:ext uri="{BB962C8B-B14F-4D97-AF65-F5344CB8AC3E}">
        <p14:creationId xmlns:p14="http://schemas.microsoft.com/office/powerpoint/2010/main" val="249688037"/>
      </p:ext>
    </p:extLst>
  </p:cSld>
</p:sld>
</file>

<file path=ppt/slides/slide12.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12">
            <a:extLst xmlns:a="http://schemas.openxmlformats.org/drawingml/2006/main">
              <a:ext uri="{FF2B5EF4-FFF2-40B4-BE49-F238E27FC236}">
                <a16:creationId xmlns:a16="http://schemas.microsoft.com/office/drawing/2014/main" id="{D3EABD66-28B2-42F6-B6A8-09B5DE1F2FD6}"/>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2EA9F4C-352A-46F7-90BF-554E39C6123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12</a:t>
            </a:r>
          </a:p>
        </p:txBody>
      </p:sp>
      <p:sp>
        <p:nvSpPr>
          <p:cNvPr id="3" name="">
            <a:extLst xmlns:a="http://schemas.openxmlformats.org/drawingml/2006/main">
              <a:ext uri="{FF2B5EF4-FFF2-40B4-BE49-F238E27FC236}">
                <a16:creationId xmlns:a16="http://schemas.microsoft.com/office/drawing/2014/main" id="{0B055EB4-3C3B-4FCD-B49A-BBDC66F089E2}"/>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788DF3E9-D567-450D-9A0D-6CB62A1CA56A}"/>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BE3004-DE56-4AE9-ACFB-7807965010DC}"/>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445E36-20EF-4253-AE02-F4C22CE9D808}"/>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BB1087-FEB1-4319-9C12-FC331F4A304F}"/>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492FF5-A4C0-4E64-9888-6F1D058E711F}"/>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2620DCD-2C29-4C0C-A92A-71146E3F3EA1}"/>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2">
            <a:extLst xmlns:a="http://schemas.openxmlformats.org/drawingml/2006/main">
              <a:ext uri="{FF2B5EF4-FFF2-40B4-BE49-F238E27FC236}">
                <a16:creationId xmlns:a16="http://schemas.microsoft.com/office/drawing/2014/main" id="{B5ED23DF-7590-46D2-A65E-D74D92D0AA41}"/>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7A284F1-A2AF-41E4-B16B-5FAF81B0BAE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3861F9D6-C00C-4887-A9E2-7956E25768CF}"/>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The minimal agent loop</a:t>
            </a:r>
          </a:p>
        </p:txBody>
      </p:sp>
      <p:sp>
        <p:nvSpPr>
          <p:cNvPr id="13" name="">
            <a:extLst xmlns:a="http://schemas.openxmlformats.org/drawingml/2006/main">
              <a:ext uri="{FF2B5EF4-FFF2-40B4-BE49-F238E27FC236}">
                <a16:creationId xmlns:a16="http://schemas.microsoft.com/office/drawing/2014/main" id="{474B7CD4-8F66-45A9-9C6C-8246E1A186EF}"/>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C12E55F-9607-49A7-8AD1-9DD52C981051}"/>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D28E976-1D78-4F2E-A2A1-1730C47CAB15}"/>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93AC32E-685E-488E-89C1-C981CAF505DE}"/>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5A3B72E9-5962-4BE0-990D-1ACA792EF2E5}"/>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Observe</a:t>
            </a:r>
          </a:p>
        </p:txBody>
      </p:sp>
      <p:sp>
        <p:nvSpPr>
          <p:cNvPr id="18" name="">
            <a:extLst xmlns:a="http://schemas.openxmlformats.org/drawingml/2006/main">
              <a:ext uri="{FF2B5EF4-FFF2-40B4-BE49-F238E27FC236}">
                <a16:creationId xmlns:a16="http://schemas.microsoft.com/office/drawing/2014/main" id="{CE70A7CD-FE1B-41AF-A64D-EF7A9FAADFA0}"/>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Read the request and current environment.</a:t>
            </a:r>
          </a:p>
        </p:txBody>
      </p:sp>
      <p:sp>
        <p:nvSpPr>
          <p:cNvPr id="19" name="">
            <a:extLst xmlns:a="http://schemas.openxmlformats.org/drawingml/2006/main">
              <a:ext uri="{FF2B5EF4-FFF2-40B4-BE49-F238E27FC236}">
                <a16:creationId xmlns:a16="http://schemas.microsoft.com/office/drawing/2014/main" id="{D4911196-DB20-4C85-B9CD-C900E7FDA645}"/>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8FAA2D0-C030-4D88-998D-521C789706C4}"/>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C0105EE5-938B-43D8-88F6-33F78ABEC1F8}"/>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Plan</a:t>
            </a:r>
          </a:p>
        </p:txBody>
      </p:sp>
      <p:sp>
        <p:nvSpPr>
          <p:cNvPr id="22" name="">
            <a:extLst xmlns:a="http://schemas.openxmlformats.org/drawingml/2006/main">
              <a:ext uri="{FF2B5EF4-FFF2-40B4-BE49-F238E27FC236}">
                <a16:creationId xmlns:a16="http://schemas.microsoft.com/office/drawing/2014/main" id="{17F05168-2194-4F69-B7F1-8F7AC9809332}"/>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Choose a next step or decompose the task.</a:t>
            </a:r>
          </a:p>
        </p:txBody>
      </p:sp>
      <p:sp>
        <p:nvSpPr>
          <p:cNvPr id="23" name="">
            <a:extLst xmlns:a="http://schemas.openxmlformats.org/drawingml/2006/main">
              <a:ext uri="{FF2B5EF4-FFF2-40B4-BE49-F238E27FC236}">
                <a16:creationId xmlns:a16="http://schemas.microsoft.com/office/drawing/2014/main" id="{85F12FBE-1FD5-40BC-BB94-79A5D915AB02}"/>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2FFD6DF-312C-41B3-843D-5439DE2E9D98}"/>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D46E89BC-4B94-473D-B4AC-B0247313EB64}"/>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Act</a:t>
            </a:r>
          </a:p>
        </p:txBody>
      </p:sp>
      <p:sp>
        <p:nvSpPr>
          <p:cNvPr id="26" name="">
            <a:extLst xmlns:a="http://schemas.openxmlformats.org/drawingml/2006/main">
              <a:ext uri="{FF2B5EF4-FFF2-40B4-BE49-F238E27FC236}">
                <a16:creationId xmlns:a16="http://schemas.microsoft.com/office/drawing/2014/main" id="{2F333DEF-C13A-4566-8770-512E56D01235}"/>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Use a tool or produce an artifact.</a:t>
            </a:r>
          </a:p>
        </p:txBody>
      </p:sp>
      <p:sp>
        <p:nvSpPr>
          <p:cNvPr id="27" name="">
            <a:extLst xmlns:a="http://schemas.openxmlformats.org/drawingml/2006/main">
              <a:ext uri="{FF2B5EF4-FFF2-40B4-BE49-F238E27FC236}">
                <a16:creationId xmlns:a16="http://schemas.microsoft.com/office/drawing/2014/main" id="{CDE3B8FB-1E5F-4AD6-8DE3-21F25C29F72C}"/>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FD38F5A-89B9-4886-ACCF-62A155117E91}"/>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B6912C47-315D-4BA3-A4E2-444F5E835E4F}"/>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Evaluate</a:t>
            </a:r>
          </a:p>
        </p:txBody>
      </p:sp>
      <p:sp>
        <p:nvSpPr>
          <p:cNvPr id="30" name="">
            <a:extLst xmlns:a="http://schemas.openxmlformats.org/drawingml/2006/main">
              <a:ext uri="{FF2B5EF4-FFF2-40B4-BE49-F238E27FC236}">
                <a16:creationId xmlns:a16="http://schemas.microsoft.com/office/drawing/2014/main" id="{064F72CA-5FE0-493A-8FF1-5090ED83B088}"/>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Check the result, update state, and continue.</a:t>
            </a:r>
          </a:p>
        </p:txBody>
      </p:sp>
    </p:spTree>
    <p:extLst>
      <p:ext uri="{BB962C8B-B14F-4D97-AF65-F5344CB8AC3E}">
        <p14:creationId xmlns:p14="http://schemas.microsoft.com/office/powerpoint/2010/main" val="1524689101"/>
      </p:ext>
    </p:extLst>
  </p:cSld>
</p:sld>
</file>

<file path=ppt/slides/slide13.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13">
            <a:extLst xmlns:a="http://schemas.openxmlformats.org/drawingml/2006/main">
              <a:ext uri="{FF2B5EF4-FFF2-40B4-BE49-F238E27FC236}">
                <a16:creationId xmlns:a16="http://schemas.microsoft.com/office/drawing/2014/main" id="{CE2ACE4D-72E8-4159-95C8-D5A1A436C004}"/>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0FE34E-CAC7-4B04-839E-3033C85A15D7}"/>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13</a:t>
            </a:r>
          </a:p>
        </p:txBody>
      </p:sp>
      <p:sp>
        <p:nvSpPr>
          <p:cNvPr id="3" name="">
            <a:extLst xmlns:a="http://schemas.openxmlformats.org/drawingml/2006/main">
              <a:ext uri="{FF2B5EF4-FFF2-40B4-BE49-F238E27FC236}">
                <a16:creationId xmlns:a16="http://schemas.microsoft.com/office/drawing/2014/main" id="{673659F8-0E75-481A-86A7-9246F9D55D1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C7890465-C694-4E21-8F2E-677579566245}"/>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B06306B-B5C6-4866-BF9A-517F7EDF1536}"/>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676E96-0BB1-4D77-BA3A-22E4F63AD3AF}"/>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6E6367B-6BE9-4985-9FD7-058F29D6332D}"/>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848633-A9D0-4AB6-9FAF-C271718C43A7}"/>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E4934A-D8C3-40B4-974E-EFCE4F550A07}"/>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3">
            <a:extLst xmlns:a="http://schemas.openxmlformats.org/drawingml/2006/main">
              <a:ext uri="{FF2B5EF4-FFF2-40B4-BE49-F238E27FC236}">
                <a16:creationId xmlns:a16="http://schemas.microsoft.com/office/drawing/2014/main" id="{353BA288-D113-4381-A5E2-4DF07C9208C2}"/>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E6F913-C4BB-4580-965F-AA7DD71096F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C2ECF3BF-3923-4789-8CE2-2F1E8CE6F004}"/>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Tools convert language into consequences</a:t>
            </a:r>
          </a:p>
        </p:txBody>
      </p:sp>
      <p:sp>
        <p:nvSpPr>
          <p:cNvPr id="13" name="">
            <a:extLst xmlns:a="http://schemas.openxmlformats.org/drawingml/2006/main">
              <a:ext uri="{FF2B5EF4-FFF2-40B4-BE49-F238E27FC236}">
                <a16:creationId xmlns:a16="http://schemas.microsoft.com/office/drawing/2014/main" id="{7E93DADA-2D50-467F-B01F-9A2B5DB2D5B6}"/>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D47FB67-DF34-4FEC-AEE7-DB8C005EBEAD}"/>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READ</a:t>
            </a:r>
          </a:p>
        </p:txBody>
      </p:sp>
      <p:sp>
        <p:nvSpPr>
          <p:cNvPr id="15" name="">
            <a:extLst xmlns:a="http://schemas.openxmlformats.org/drawingml/2006/main">
              <a:ext uri="{FF2B5EF4-FFF2-40B4-BE49-F238E27FC236}">
                <a16:creationId xmlns:a16="http://schemas.microsoft.com/office/drawing/2014/main" id="{2B0E420A-7FFB-42BC-8C36-548170C4D532}"/>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8E8DBBB-48B1-4C0F-B6B9-05BB475B0487}"/>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Search, inspect files, retrieve sources, read calendars, or query data.</a:t>
            </a:r>
          </a:p>
        </p:txBody>
      </p:sp>
      <p:sp>
        <p:nvSpPr>
          <p:cNvPr id="17" name="">
            <a:extLst xmlns:a="http://schemas.openxmlformats.org/drawingml/2006/main">
              <a:ext uri="{FF2B5EF4-FFF2-40B4-BE49-F238E27FC236}">
                <a16:creationId xmlns:a16="http://schemas.microsoft.com/office/drawing/2014/main" id="{B8EE173D-7050-46C4-B3D4-B4C763A8E2A9}"/>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CREATE</a:t>
            </a:r>
          </a:p>
        </p:txBody>
      </p:sp>
      <p:sp>
        <p:nvSpPr>
          <p:cNvPr id="18" name="">
            <a:extLst xmlns:a="http://schemas.openxmlformats.org/drawingml/2006/main">
              <a:ext uri="{FF2B5EF4-FFF2-40B4-BE49-F238E27FC236}">
                <a16:creationId xmlns:a16="http://schemas.microsoft.com/office/drawing/2014/main" id="{3CA32B0C-498B-4A20-9EE7-FD27B0BA23F0}"/>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62CE64-67F1-416B-B732-9C7A946D348D}"/>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Draft documents, generate presentations, transform datasets, or write code.</a:t>
            </a:r>
          </a:p>
        </p:txBody>
      </p:sp>
      <p:sp>
        <p:nvSpPr>
          <p:cNvPr id="20" name="">
            <a:extLst xmlns:a="http://schemas.openxmlformats.org/drawingml/2006/main">
              <a:ext uri="{FF2B5EF4-FFF2-40B4-BE49-F238E27FC236}">
                <a16:creationId xmlns:a16="http://schemas.microsoft.com/office/drawing/2014/main" id="{9E3A6B62-6286-49C2-9CF4-3B632E9D454E}"/>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CHANGE</a:t>
            </a:r>
          </a:p>
        </p:txBody>
      </p:sp>
      <p:sp>
        <p:nvSpPr>
          <p:cNvPr id="21" name="">
            <a:extLst xmlns:a="http://schemas.openxmlformats.org/drawingml/2006/main">
              <a:ext uri="{FF2B5EF4-FFF2-40B4-BE49-F238E27FC236}">
                <a16:creationId xmlns:a16="http://schemas.microsoft.com/office/drawing/2014/main" id="{8ECD276C-FCC7-41C4-999B-C0E45A25E2F7}"/>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1B204F2-5060-460C-8D01-29AD2FE206EC}"/>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Send messages, update records, publish content, or run external processes.</a:t>
            </a:r>
          </a:p>
        </p:txBody>
      </p:sp>
    </p:spTree>
    <p:extLst>
      <p:ext uri="{BB962C8B-B14F-4D97-AF65-F5344CB8AC3E}">
        <p14:creationId xmlns:p14="http://schemas.microsoft.com/office/powerpoint/2010/main" val="435087515"/>
      </p:ext>
    </p:extLst>
  </p:cSld>
</p:sld>
</file>

<file path=ppt/slides/slide14.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14">
            <a:extLst xmlns:a="http://schemas.openxmlformats.org/drawingml/2006/main">
              <a:ext uri="{FF2B5EF4-FFF2-40B4-BE49-F238E27FC236}">
                <a16:creationId xmlns:a16="http://schemas.microsoft.com/office/drawing/2014/main" id="{9B94B04A-95BB-4079-A231-BEF67981D27C}"/>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9CFC69-371E-4F01-A4BC-273E0C6831AA}"/>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14</a:t>
            </a:r>
          </a:p>
        </p:txBody>
      </p:sp>
      <p:sp>
        <p:nvSpPr>
          <p:cNvPr id="3" name="">
            <a:extLst xmlns:a="http://schemas.openxmlformats.org/drawingml/2006/main">
              <a:ext uri="{FF2B5EF4-FFF2-40B4-BE49-F238E27FC236}">
                <a16:creationId xmlns:a16="http://schemas.microsoft.com/office/drawing/2014/main" id="{F274C389-C818-468B-A5CB-C42ACB33E695}"/>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9637BEC1-CC14-4FC4-BBA4-15193522DC73}"/>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9C0CDA-BC3C-4D9C-8450-E7D492FD1B7F}"/>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7B4AE5-CEE2-405C-8BA1-28DDF7704365}"/>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E89CCE0-07A4-44DF-AF92-D37F1A044A17}"/>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4A9399E-2C14-440B-B13B-AC482FC25F5E}"/>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59AE76-C95F-4961-874D-A99D05A1DDC4}"/>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4">
            <a:extLst xmlns:a="http://schemas.openxmlformats.org/drawingml/2006/main">
              <a:ext uri="{FF2B5EF4-FFF2-40B4-BE49-F238E27FC236}">
                <a16:creationId xmlns:a16="http://schemas.microsoft.com/office/drawing/2014/main" id="{C5F20C55-3A19-4108-8E1B-B2CC34360F2A}"/>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D9B8463-94A1-4DE6-A3AF-F4FDE23F7305}"/>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F21DB975-F406-493F-B066-B2144E2632C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Memory gives an agent continuity</a:t>
            </a:r>
          </a:p>
        </p:txBody>
      </p:sp>
      <p:sp>
        <p:nvSpPr>
          <p:cNvPr id="13" name="">
            <a:extLst xmlns:a="http://schemas.openxmlformats.org/drawingml/2006/main">
              <a:ext uri="{FF2B5EF4-FFF2-40B4-BE49-F238E27FC236}">
                <a16:creationId xmlns:a16="http://schemas.microsoft.com/office/drawing/2014/main" id="{83449C53-1B9B-40A1-94D2-3E9795DC9236}"/>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D6E6CC-0FE6-4780-97F8-D5154653586C}"/>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WORKING MEMORY</a:t>
            </a:r>
          </a:p>
        </p:txBody>
      </p:sp>
      <p:sp>
        <p:nvSpPr>
          <p:cNvPr id="15" name="">
            <a:extLst xmlns:a="http://schemas.openxmlformats.org/drawingml/2006/main">
              <a:ext uri="{FF2B5EF4-FFF2-40B4-BE49-F238E27FC236}">
                <a16:creationId xmlns:a16="http://schemas.microsoft.com/office/drawing/2014/main" id="{6D6EEDBB-2EBE-4CB7-800E-600B13AB67C8}"/>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E00FB98-6A66-4400-856B-59CC69FB296B}"/>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The immediate context needed for the current step.</a:t>
            </a:r>
          </a:p>
        </p:txBody>
      </p:sp>
      <p:sp>
        <p:nvSpPr>
          <p:cNvPr id="17" name="">
            <a:extLst xmlns:a="http://schemas.openxmlformats.org/drawingml/2006/main">
              <a:ext uri="{FF2B5EF4-FFF2-40B4-BE49-F238E27FC236}">
                <a16:creationId xmlns:a16="http://schemas.microsoft.com/office/drawing/2014/main" id="{0DC7272B-0BFD-4589-8312-D9814AB793C0}"/>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PROJECT MEMORY</a:t>
            </a:r>
          </a:p>
        </p:txBody>
      </p:sp>
      <p:sp>
        <p:nvSpPr>
          <p:cNvPr id="18" name="">
            <a:extLst xmlns:a="http://schemas.openxmlformats.org/drawingml/2006/main">
              <a:ext uri="{FF2B5EF4-FFF2-40B4-BE49-F238E27FC236}">
                <a16:creationId xmlns:a16="http://schemas.microsoft.com/office/drawing/2014/main" id="{E48E5868-8900-4EBE-BC7E-BAFC91C27F21}"/>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6F5F62A-FF68-4BE8-8272-CD26EB757093}"/>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Durable sources, decisions, terminology, and outputs.</a:t>
            </a:r>
          </a:p>
        </p:txBody>
      </p:sp>
      <p:sp>
        <p:nvSpPr>
          <p:cNvPr id="20" name="">
            <a:extLst xmlns:a="http://schemas.openxmlformats.org/drawingml/2006/main">
              <a:ext uri="{FF2B5EF4-FFF2-40B4-BE49-F238E27FC236}">
                <a16:creationId xmlns:a16="http://schemas.microsoft.com/office/drawing/2014/main" id="{0C5F5DC5-DE3C-488B-829D-137426369910}"/>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EVENT HISTORY</a:t>
            </a:r>
          </a:p>
        </p:txBody>
      </p:sp>
      <p:sp>
        <p:nvSpPr>
          <p:cNvPr id="21" name="">
            <a:extLst xmlns:a="http://schemas.openxmlformats.org/drawingml/2006/main">
              <a:ext uri="{FF2B5EF4-FFF2-40B4-BE49-F238E27FC236}">
                <a16:creationId xmlns:a16="http://schemas.microsoft.com/office/drawing/2014/main" id="{E168E1AB-64B5-40CD-8C5C-4DA4302B1C87}"/>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3560C9A-B99A-4B13-BAC2-52C3D52A37F8}"/>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What happened, when, through which tool, with what result.</a:t>
            </a:r>
          </a:p>
        </p:txBody>
      </p:sp>
    </p:spTree>
    <p:extLst>
      <p:ext uri="{BB962C8B-B14F-4D97-AF65-F5344CB8AC3E}">
        <p14:creationId xmlns:p14="http://schemas.microsoft.com/office/powerpoint/2010/main" val="1138114817"/>
      </p:ext>
    </p:extLst>
  </p:cSld>
</p:sld>
</file>

<file path=ppt/slides/slide15.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15">
            <a:extLst xmlns:a="http://schemas.openxmlformats.org/drawingml/2006/main">
              <a:ext uri="{FF2B5EF4-FFF2-40B4-BE49-F238E27FC236}">
                <a16:creationId xmlns:a16="http://schemas.microsoft.com/office/drawing/2014/main" id="{636913E1-C70B-4D82-B756-855F8DF81A15}"/>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AE2F9F-18A0-4A24-9B7B-14B4EA6F46C7}"/>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15</a:t>
            </a:r>
          </a:p>
        </p:txBody>
      </p:sp>
      <p:sp>
        <p:nvSpPr>
          <p:cNvPr id="3" name="">
            <a:extLst xmlns:a="http://schemas.openxmlformats.org/drawingml/2006/main">
              <a:ext uri="{FF2B5EF4-FFF2-40B4-BE49-F238E27FC236}">
                <a16:creationId xmlns:a16="http://schemas.microsoft.com/office/drawing/2014/main" id="{677740E6-386D-4C47-AD5B-E99BA106383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E9412AF9-1B15-485D-97E4-04CC8AC9BB6F}"/>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91B6DA-F9DF-47C4-8536-4F4471142FF0}"/>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52A2C7-D8A7-49C8-990A-06D38342D4C1}"/>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6DDE20-6B18-4A60-A32B-D3DB66DECD69}"/>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5F1B82-5418-4B94-861C-C5EA2B8B863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2E077B7-DB91-4E2A-9B87-162FAF9D9F5B}"/>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5">
            <a:extLst xmlns:a="http://schemas.openxmlformats.org/drawingml/2006/main">
              <a:ext uri="{FF2B5EF4-FFF2-40B4-BE49-F238E27FC236}">
                <a16:creationId xmlns:a16="http://schemas.microsoft.com/office/drawing/2014/main" id="{B3AB0157-43C0-43A5-B6C0-6543F8C82297}"/>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7549F3B-7BD6-4CD0-9ACB-7B14E009F50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FBAE382C-6AF8-4915-AECE-3BFCF999746A}"/>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The environment defines what is possible</a:t>
            </a:r>
          </a:p>
        </p:txBody>
      </p:sp>
      <p:sp>
        <p:nvSpPr>
          <p:cNvPr id="13" name="">
            <a:extLst xmlns:a="http://schemas.openxmlformats.org/drawingml/2006/main">
              <a:ext uri="{FF2B5EF4-FFF2-40B4-BE49-F238E27FC236}">
                <a16:creationId xmlns:a16="http://schemas.microsoft.com/office/drawing/2014/main" id="{13EAD3ED-6B27-4927-BA4D-1E6F3A864FA0}"/>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9AA6A1-8919-4321-922F-B7676E1E12EC}"/>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AVAILABLE STATE</a:t>
            </a:r>
          </a:p>
        </p:txBody>
      </p:sp>
      <p:sp>
        <p:nvSpPr>
          <p:cNvPr id="15" name="">
            <a:extLst xmlns:a="http://schemas.openxmlformats.org/drawingml/2006/main">
              <a:ext uri="{FF2B5EF4-FFF2-40B4-BE49-F238E27FC236}">
                <a16:creationId xmlns:a16="http://schemas.microsoft.com/office/drawing/2014/main" id="{4CD467F3-4432-4F09-BFDF-0A65AE91E4CB}"/>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FC0C1D7-AD5F-4A6F-BAA0-625BB45C3B81}"/>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Files, repositories, applications, databases, and connected services.</a:t>
            </a:r>
          </a:p>
        </p:txBody>
      </p:sp>
      <p:sp>
        <p:nvSpPr>
          <p:cNvPr id="17" name="">
            <a:extLst xmlns:a="http://schemas.openxmlformats.org/drawingml/2006/main">
              <a:ext uri="{FF2B5EF4-FFF2-40B4-BE49-F238E27FC236}">
                <a16:creationId xmlns:a16="http://schemas.microsoft.com/office/drawing/2014/main" id="{FA507D29-891F-435C-BB1E-37FC5E3341F4}"/>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PERMISSIONS</a:t>
            </a:r>
          </a:p>
        </p:txBody>
      </p:sp>
      <p:sp>
        <p:nvSpPr>
          <p:cNvPr id="18" name="">
            <a:extLst xmlns:a="http://schemas.openxmlformats.org/drawingml/2006/main">
              <a:ext uri="{FF2B5EF4-FFF2-40B4-BE49-F238E27FC236}">
                <a16:creationId xmlns:a16="http://schemas.microsoft.com/office/drawing/2014/main" id="{6DBC5F92-B783-4F7D-8F83-58FA5F138BBF}"/>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69A256E-7607-4090-AAC1-5B8B9E586D7C}"/>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What the agent may read, modify, send, schedule, or publish.</a:t>
            </a:r>
          </a:p>
        </p:txBody>
      </p:sp>
      <p:sp>
        <p:nvSpPr>
          <p:cNvPr id="20" name="">
            <a:extLst xmlns:a="http://schemas.openxmlformats.org/drawingml/2006/main">
              <a:ext uri="{FF2B5EF4-FFF2-40B4-BE49-F238E27FC236}">
                <a16:creationId xmlns:a16="http://schemas.microsoft.com/office/drawing/2014/main" id="{CB32B20E-5C52-4849-AEA2-D410051D6EB8}"/>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BOUNDARIES</a:t>
            </a:r>
          </a:p>
        </p:txBody>
      </p:sp>
      <p:sp>
        <p:nvSpPr>
          <p:cNvPr id="21" name="">
            <a:extLst xmlns:a="http://schemas.openxmlformats.org/drawingml/2006/main">
              <a:ext uri="{FF2B5EF4-FFF2-40B4-BE49-F238E27FC236}">
                <a16:creationId xmlns:a16="http://schemas.microsoft.com/office/drawing/2014/main" id="{8491F77B-6175-4928-899C-AE4CA5F220C2}"/>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9157317-0273-4037-A399-52E8438F29F0}"/>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Which actions require a person, a policy check, or a separate release path.</a:t>
            </a:r>
          </a:p>
        </p:txBody>
      </p:sp>
    </p:spTree>
    <p:extLst>
      <p:ext uri="{BB962C8B-B14F-4D97-AF65-F5344CB8AC3E}">
        <p14:creationId xmlns:p14="http://schemas.microsoft.com/office/powerpoint/2010/main" val="1673874547"/>
      </p:ext>
    </p:extLst>
  </p:cSld>
</p:sld>
</file>

<file path=ppt/slides/slide16.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16">
            <a:extLst xmlns:a="http://schemas.openxmlformats.org/drawingml/2006/main">
              <a:ext uri="{FF2B5EF4-FFF2-40B4-BE49-F238E27FC236}">
                <a16:creationId xmlns:a16="http://schemas.microsoft.com/office/drawing/2014/main" id="{11EF1F8A-4BEB-4263-B2FC-0A534784FEB7}"/>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15CF01-2424-4988-BFA3-CA2E2E6059BB}"/>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16</a:t>
            </a:r>
          </a:p>
        </p:txBody>
      </p:sp>
      <p:sp>
        <p:nvSpPr>
          <p:cNvPr id="3" name="">
            <a:extLst xmlns:a="http://schemas.openxmlformats.org/drawingml/2006/main">
              <a:ext uri="{FF2B5EF4-FFF2-40B4-BE49-F238E27FC236}">
                <a16:creationId xmlns:a16="http://schemas.microsoft.com/office/drawing/2014/main" id="{4905DBFA-CDF6-4F7E-B102-C33C1FD0D1D8}"/>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FOUNDATIONS</a:t>
            </a:r>
          </a:p>
        </p:txBody>
      </p:sp>
      <p:sp>
        <p:nvSpPr>
          <p:cNvPr id="4" name="">
            <a:extLst xmlns:a="http://schemas.openxmlformats.org/drawingml/2006/main">
              <a:ext uri="{FF2B5EF4-FFF2-40B4-BE49-F238E27FC236}">
                <a16:creationId xmlns:a16="http://schemas.microsoft.com/office/drawing/2014/main" id="{F24138B3-D015-4D02-ACC6-A2AB62B04536}"/>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24AD09-B566-4848-BEB6-6F3F9F87C25B}"/>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205186-F642-4C45-86E5-E21BD6992D15}"/>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AEFBCDD-D8D5-415E-9050-1B70C359737E}"/>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1B4B90-63F5-456B-9C11-804D5E0F5D18}"/>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B4804F-B6FA-46A4-989F-7230076369AA}"/>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6">
            <a:extLst xmlns:a="http://schemas.openxmlformats.org/drawingml/2006/main">
              <a:ext uri="{FF2B5EF4-FFF2-40B4-BE49-F238E27FC236}">
                <a16:creationId xmlns:a16="http://schemas.microsoft.com/office/drawing/2014/main" id="{B7546FAA-2697-47E2-8B28-414CA845BED9}"/>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DB84D63-06A5-4729-9217-0D023D851D33}"/>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A327CDD8-A350-47C8-BD05-970EB491B1E4}"/>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Artifacts make agent work reviewable</a:t>
            </a:r>
          </a:p>
        </p:txBody>
      </p:sp>
      <p:sp>
        <p:nvSpPr>
          <p:cNvPr id="13" name="">
            <a:extLst xmlns:a="http://schemas.openxmlformats.org/drawingml/2006/main">
              <a:ext uri="{FF2B5EF4-FFF2-40B4-BE49-F238E27FC236}">
                <a16:creationId xmlns:a16="http://schemas.microsoft.com/office/drawing/2014/main" id="{9604D5A6-14F7-455E-B98E-300C0338108B}"/>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D919849-367E-4116-8C31-1EDBFB2CD2FE}"/>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FILES</a:t>
            </a:r>
          </a:p>
        </p:txBody>
      </p:sp>
      <p:sp>
        <p:nvSpPr>
          <p:cNvPr id="15" name="">
            <a:extLst xmlns:a="http://schemas.openxmlformats.org/drawingml/2006/main">
              <a:ext uri="{FF2B5EF4-FFF2-40B4-BE49-F238E27FC236}">
                <a16:creationId xmlns:a16="http://schemas.microsoft.com/office/drawing/2014/main" id="{6BB6E2FF-9F87-4715-89E4-0B24AA9AB1E7}"/>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D3756B-89E0-4D2D-A020-67558C9C796B}"/>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Drafts, plans, data, slides, and outputs can be inspected directly.</a:t>
            </a:r>
          </a:p>
        </p:txBody>
      </p:sp>
      <p:sp>
        <p:nvSpPr>
          <p:cNvPr id="17" name="">
            <a:extLst xmlns:a="http://schemas.openxmlformats.org/drawingml/2006/main">
              <a:ext uri="{FF2B5EF4-FFF2-40B4-BE49-F238E27FC236}">
                <a16:creationId xmlns:a16="http://schemas.microsoft.com/office/drawing/2014/main" id="{C7573BBC-EA89-426F-8B45-B09D5F9FE187}"/>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HISTORY</a:t>
            </a:r>
          </a:p>
        </p:txBody>
      </p:sp>
      <p:sp>
        <p:nvSpPr>
          <p:cNvPr id="18" name="">
            <a:extLst xmlns:a="http://schemas.openxmlformats.org/drawingml/2006/main">
              <a:ext uri="{FF2B5EF4-FFF2-40B4-BE49-F238E27FC236}">
                <a16:creationId xmlns:a16="http://schemas.microsoft.com/office/drawing/2014/main" id="{FA867234-02F7-4EDB-A0E8-89DFA18CA0A4}"/>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8DD053-F8FA-4501-B65C-ECB676DE1D56}"/>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Commits and issue activity show when and why work changed.</a:t>
            </a:r>
          </a:p>
        </p:txBody>
      </p:sp>
      <p:sp>
        <p:nvSpPr>
          <p:cNvPr id="20" name="">
            <a:extLst xmlns:a="http://schemas.openxmlformats.org/drawingml/2006/main">
              <a:ext uri="{FF2B5EF4-FFF2-40B4-BE49-F238E27FC236}">
                <a16:creationId xmlns:a16="http://schemas.microsoft.com/office/drawing/2014/main" id="{8395A4F9-D972-4EF0-88A7-458EE29D185F}"/>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PROVENANCE</a:t>
            </a:r>
          </a:p>
        </p:txBody>
      </p:sp>
      <p:sp>
        <p:nvSpPr>
          <p:cNvPr id="21" name="">
            <a:extLst xmlns:a="http://schemas.openxmlformats.org/drawingml/2006/main">
              <a:ext uri="{FF2B5EF4-FFF2-40B4-BE49-F238E27FC236}">
                <a16:creationId xmlns:a16="http://schemas.microsoft.com/office/drawing/2014/main" id="{C692D0C8-C49D-4908-A64E-68AFDC289029}"/>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B8A15EF-47E0-49B0-8C91-786FB3D6309F}"/>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Sources in notes and metadata connect claims to evidence.</a:t>
            </a:r>
          </a:p>
        </p:txBody>
      </p:sp>
    </p:spTree>
    <p:extLst>
      <p:ext uri="{BB962C8B-B14F-4D97-AF65-F5344CB8AC3E}">
        <p14:creationId xmlns:p14="http://schemas.microsoft.com/office/powerpoint/2010/main" val="882729667"/>
      </p:ext>
    </p:extLst>
  </p:cSld>
</p:sld>
</file>

<file path=ppt/slides/slide17.xml><?xml version="1.0" encoding="utf-8"?>
<p:sld xmlns:p="http://schemas.openxmlformats.org/presentationml/2006/main">
  <p:cSld>
    <p:bg>
      <p:bgPr>
        <a:solidFill xmlns:a="http://schemas.openxmlformats.org/drawingml/2006/main">
          <a:srgbClr val="F0F2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FD2AD4-3303-48C9-B67B-C6BDAFCFB257}"/>
              </a:ext>
            </a:extLst>
          </p:cNvPr>
          <p:cNvSpPr>
            <a:spLocks xmlns:a="http://schemas.openxmlformats.org/drawingml/2006/main" noGrp="1"/>
          </p:cNvSpPr>
          <p:nvPr/>
        </p:nvSpPr>
        <p:spPr>
          <a:xfrm xmlns:a="http://schemas.openxmlformats.org/drawingml/2006/main">
            <a:off x="0" y="0"/>
            <a:ext cx="3714750" cy="6858000"/>
          </a:xfrm>
          <a:prstGeom xmlns:a="http://schemas.openxmlformats.org/drawingml/2006/main" prst="rect">
            <a:avLst/>
          </a:prstGeom>
          <a:solidFill xmlns:a="http://schemas.openxmlformats.org/drawingml/2006/main">
            <a:srgbClr val="EFB8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FD64AAF-0DE4-4B6C-8F4F-2F950C3BBFE0}"/>
              </a:ext>
            </a:extLst>
          </p:cNvPr>
          <p:cNvSpPr>
            <a:spLocks xmlns:a="http://schemas.openxmlformats.org/drawingml/2006/main" noGrp="1"/>
          </p:cNvSpPr>
          <p:nvPr/>
        </p:nvSpPr>
        <p:spPr>
          <a:xfrm xmlns:a="http://schemas.openxmlformats.org/drawingml/2006/main">
            <a:off x="3714750" y="0"/>
            <a:ext cx="8096250" cy="6858000"/>
          </a:xfrm>
          <a:prstGeom xmlns:a="http://schemas.openxmlformats.org/drawingml/2006/main" prst="rect">
            <a:avLst/>
          </a:prstGeom>
          <a:solidFill xmlns:a="http://schemas.openxmlformats.org/drawingml/2006/main">
            <a:srgbClr val="014A7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7E7DA8-8CA9-444B-9668-C49AD3A498A4}"/>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34426C0-B65C-4132-AE01-8ED1D3AD8FF3}"/>
              </a:ext>
            </a:extLst>
          </p:cNvPr>
          <p:cNvSpPr>
            <a:spLocks xmlns:a="http://schemas.openxmlformats.org/drawingml/2006/main" noGrp="1"/>
          </p:cNvSpPr>
          <p:nvPr/>
        </p:nvSpPr>
        <p:spPr>
          <a:xfrm xmlns:a="http://schemas.openxmlformats.org/drawingml/2006/main">
            <a:off x="762000" y="876300"/>
            <a:ext cx="238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8850" b="1" i="0">
                <a:solidFill>
                  <a:srgbClr val="014A74"/>
                </a:solidFill>
              </a:defRPr>
            </a:pPr>
            <a:r>
              <a:rPr sz="8850" b="1" i="0">
                <a:solidFill>
                  <a:srgbClr val="014A74"/>
                </a:solidFill>
              </a:rPr>
              <a:t>02</a:t>
            </a:r>
          </a:p>
        </p:txBody>
      </p:sp>
      <p:sp>
        <p:nvSpPr>
          <p:cNvPr id="5" name="">
            <a:extLst xmlns:a="http://schemas.openxmlformats.org/drawingml/2006/main">
              <a:ext uri="{FF2B5EF4-FFF2-40B4-BE49-F238E27FC236}">
                <a16:creationId xmlns:a16="http://schemas.microsoft.com/office/drawing/2014/main" id="{A79E1425-1456-4921-8502-E9EBDC712A07}"/>
              </a:ext>
            </a:extLst>
          </p:cNvPr>
          <p:cNvSpPr>
            <a:spLocks xmlns:a="http://schemas.openxmlformats.org/drawingml/2006/main" noGrp="1"/>
          </p:cNvSpPr>
          <p:nvPr/>
        </p:nvSpPr>
        <p:spPr>
          <a:xfrm xmlns:a="http://schemas.openxmlformats.org/drawingml/2006/main">
            <a:off x="4381500" y="171450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4350" b="0" i="0">
                <a:solidFill>
                  <a:srgbClr val="FFFFFF"/>
                </a:solidFill>
              </a:defRPr>
            </a:pPr>
            <a:r>
              <a:rPr sz="4350" b="0" i="0">
                <a:solidFill>
                  <a:srgbClr val="FFFFFF"/>
                </a:solidFill>
              </a:rPr>
              <a:t>THEORY</a:t>
            </a:r>
          </a:p>
        </p:txBody>
      </p:sp>
      <p:sp>
        <p:nvSpPr>
          <p:cNvPr id="6" name="">
            <a:extLst xmlns:a="http://schemas.openxmlformats.org/drawingml/2006/main">
              <a:ext uri="{FF2B5EF4-FFF2-40B4-BE49-F238E27FC236}">
                <a16:creationId xmlns:a16="http://schemas.microsoft.com/office/drawing/2014/main" id="{FFC3E4FF-A16B-4476-B7C6-0A4A0F74EFDA}"/>
              </a:ext>
            </a:extLst>
          </p:cNvPr>
          <p:cNvSpPr>
            <a:spLocks xmlns:a="http://schemas.openxmlformats.org/drawingml/2006/main" noGrp="1"/>
          </p:cNvSpPr>
          <p:nvPr/>
        </p:nvSpPr>
        <p:spPr>
          <a:xfrm xmlns:a="http://schemas.openxmlformats.org/drawingml/2006/main">
            <a:off x="4419600" y="3562350"/>
            <a:ext cx="619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Planning, acting, remembering, reflecting, and governing the loop.</a:t>
            </a:r>
          </a:p>
        </p:txBody>
      </p:sp>
      <p:sp>
        <p:nvSpPr>
          <p:cNvPr id="7" name="">
            <a:extLst xmlns:a="http://schemas.openxmlformats.org/drawingml/2006/main">
              <a:ext uri="{FF2B5EF4-FFF2-40B4-BE49-F238E27FC236}">
                <a16:creationId xmlns:a16="http://schemas.microsoft.com/office/drawing/2014/main" id="{E62CA436-40F6-4FA5-B834-046E84B65AC7}"/>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ctr">
              <a:defRPr sz="1050" b="1" i="0">
                <a:solidFill>
                  <a:srgbClr val="014A74"/>
                </a:solidFill>
              </a:defRPr>
            </a:pPr>
            <a:r>
              <a:rPr sz="1050" b="1" i="0">
                <a:solidFill>
                  <a:srgbClr val="014A74"/>
                </a:solidFill>
              </a:rPr>
              <a:t>17</a:t>
            </a:r>
          </a:p>
        </p:txBody>
      </p:sp>
      <p:sp>
        <p:nvSpPr>
          <p:cNvPr id="8" name="">
            <a:extLst xmlns:a="http://schemas.openxmlformats.org/drawingml/2006/main">
              <a:ext uri="{FF2B5EF4-FFF2-40B4-BE49-F238E27FC236}">
                <a16:creationId xmlns:a16="http://schemas.microsoft.com/office/drawing/2014/main" id="{79BE452A-4C23-425D-B74D-34A72F5D5570}"/>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014A74"/>
                </a:solidFill>
              </a:defRPr>
            </a:pPr>
            <a:r>
              <a:rPr sz="975" b="1" i="0">
                <a:solidFill>
                  <a:srgbClr val="014A74"/>
                </a:solidFill>
              </a:rPr>
              <a:t>CREATED WITH AFK RESEARCH</a:t>
            </a:r>
          </a:p>
        </p:txBody>
      </p:sp>
    </p:spTree>
    <p:extLst>
      <p:ext uri="{BB962C8B-B14F-4D97-AF65-F5344CB8AC3E}">
        <p14:creationId xmlns:p14="http://schemas.microsoft.com/office/powerpoint/2010/main" val="1985724145"/>
      </p:ext>
    </p:extLst>
  </p:cSld>
</p:sld>
</file>

<file path=ppt/slides/slide18.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18">
            <a:extLst xmlns:a="http://schemas.openxmlformats.org/drawingml/2006/main">
              <a:ext uri="{FF2B5EF4-FFF2-40B4-BE49-F238E27FC236}">
                <a16:creationId xmlns:a16="http://schemas.microsoft.com/office/drawing/2014/main" id="{F71FDAF5-B177-447B-970D-4D2942062D7E}"/>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66312E-398A-4DB0-838F-3313FF597BA3}"/>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18</a:t>
            </a:r>
          </a:p>
        </p:txBody>
      </p:sp>
      <p:sp>
        <p:nvSpPr>
          <p:cNvPr id="3" name="">
            <a:extLst xmlns:a="http://schemas.openxmlformats.org/drawingml/2006/main">
              <a:ext uri="{FF2B5EF4-FFF2-40B4-BE49-F238E27FC236}">
                <a16:creationId xmlns:a16="http://schemas.microsoft.com/office/drawing/2014/main" id="{68213942-097C-4E08-AFD5-FE1FB11FBE1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48256B39-85C2-4577-9607-1EB61DB4E296}"/>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D6B5D7-8A09-497C-91C1-44A7AC02098A}"/>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C7DEA9-7161-44D8-B138-DEF97CDE0B15}"/>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CCCFC46-29DA-41B4-A23D-38992BC17E0E}"/>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C34F2C-4BED-44CA-BF78-228D87C3E4D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97B54F-83FE-4E46-83DB-C5AD7CD0D447}"/>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8">
            <a:extLst xmlns:a="http://schemas.openxmlformats.org/drawingml/2006/main">
              <a:ext uri="{FF2B5EF4-FFF2-40B4-BE49-F238E27FC236}">
                <a16:creationId xmlns:a16="http://schemas.microsoft.com/office/drawing/2014/main" id="{E2923DE6-5C26-4A02-9771-919214D5BE18}"/>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53756CF-C954-4D12-AD3B-439C2F36AD31}"/>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64F69151-69C6-4872-8397-1B0ED67449C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ReAct interleaves reasoning and action</a:t>
            </a:r>
          </a:p>
        </p:txBody>
      </p:sp>
      <p:sp>
        <p:nvSpPr>
          <p:cNvPr id="13" name="">
            <a:extLst xmlns:a="http://schemas.openxmlformats.org/drawingml/2006/main">
              <a:ext uri="{FF2B5EF4-FFF2-40B4-BE49-F238E27FC236}">
                <a16:creationId xmlns:a16="http://schemas.microsoft.com/office/drawing/2014/main" id="{CCFE11DD-D2AE-41A9-B50D-EEC9E79E6DE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36F745-6A1D-44A1-AE96-347BCB7EF11B}"/>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EDC9BB-FC28-4227-BCE2-4617CFBD1C64}"/>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FEFF3D9-4754-4620-879C-B71651BFD5A9}"/>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9B2E15F4-2E84-4D7A-A20C-2AC293D603AE}"/>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Reason</a:t>
            </a:r>
          </a:p>
        </p:txBody>
      </p:sp>
      <p:sp>
        <p:nvSpPr>
          <p:cNvPr id="18" name="">
            <a:extLst xmlns:a="http://schemas.openxmlformats.org/drawingml/2006/main">
              <a:ext uri="{FF2B5EF4-FFF2-40B4-BE49-F238E27FC236}">
                <a16:creationId xmlns:a16="http://schemas.microsoft.com/office/drawing/2014/main" id="{3FCA46D1-F416-447F-A32A-7EA64CA30D8E}"/>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Form a hypothesis or decide what is missing.</a:t>
            </a:r>
          </a:p>
        </p:txBody>
      </p:sp>
      <p:sp>
        <p:nvSpPr>
          <p:cNvPr id="19" name="">
            <a:extLst xmlns:a="http://schemas.openxmlformats.org/drawingml/2006/main">
              <a:ext uri="{FF2B5EF4-FFF2-40B4-BE49-F238E27FC236}">
                <a16:creationId xmlns:a16="http://schemas.microsoft.com/office/drawing/2014/main" id="{096D2803-C014-4FB6-9BC1-9BA9B18CC4D4}"/>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C369ABB-5F1F-43FD-8AEB-87368E911870}"/>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6F4AED50-305F-46AB-8C98-B191318D8396}"/>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Act</a:t>
            </a:r>
          </a:p>
        </p:txBody>
      </p:sp>
      <p:sp>
        <p:nvSpPr>
          <p:cNvPr id="22" name="">
            <a:extLst xmlns:a="http://schemas.openxmlformats.org/drawingml/2006/main">
              <a:ext uri="{FF2B5EF4-FFF2-40B4-BE49-F238E27FC236}">
                <a16:creationId xmlns:a16="http://schemas.microsoft.com/office/drawing/2014/main" id="{7C9152A0-7231-4AE6-8C34-827F01EEE529}"/>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Call a tool or interact with the environment.</a:t>
            </a:r>
          </a:p>
        </p:txBody>
      </p:sp>
      <p:sp>
        <p:nvSpPr>
          <p:cNvPr id="23" name="">
            <a:extLst xmlns:a="http://schemas.openxmlformats.org/drawingml/2006/main">
              <a:ext uri="{FF2B5EF4-FFF2-40B4-BE49-F238E27FC236}">
                <a16:creationId xmlns:a16="http://schemas.microsoft.com/office/drawing/2014/main" id="{25EBD4BB-A460-4AF1-82AE-6CFE15D1EE1C}"/>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8913EB4-9972-40D6-ADC7-0F5C0513798D}"/>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416C583E-AC41-4F89-9840-6DE17186BA2D}"/>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Observe</a:t>
            </a:r>
          </a:p>
        </p:txBody>
      </p:sp>
      <p:sp>
        <p:nvSpPr>
          <p:cNvPr id="26" name="">
            <a:extLst xmlns:a="http://schemas.openxmlformats.org/drawingml/2006/main">
              <a:ext uri="{FF2B5EF4-FFF2-40B4-BE49-F238E27FC236}">
                <a16:creationId xmlns:a16="http://schemas.microsoft.com/office/drawing/2014/main" id="{95D5671F-02A1-4CB1-A207-A326AE0A230F}"/>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Receive new evidence or a tool result.</a:t>
            </a:r>
          </a:p>
        </p:txBody>
      </p:sp>
      <p:sp>
        <p:nvSpPr>
          <p:cNvPr id="27" name="">
            <a:extLst xmlns:a="http://schemas.openxmlformats.org/drawingml/2006/main">
              <a:ext uri="{FF2B5EF4-FFF2-40B4-BE49-F238E27FC236}">
                <a16:creationId xmlns:a16="http://schemas.microsoft.com/office/drawing/2014/main" id="{3D27A5C6-0883-497D-84DA-7F4EC377D91B}"/>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2CFD37B-5353-4313-AD48-13769561900D}"/>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BB26481E-639E-4B03-AE80-B529D60D9071}"/>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Revise</a:t>
            </a:r>
          </a:p>
        </p:txBody>
      </p:sp>
      <p:sp>
        <p:nvSpPr>
          <p:cNvPr id="30" name="">
            <a:extLst xmlns:a="http://schemas.openxmlformats.org/drawingml/2006/main">
              <a:ext uri="{FF2B5EF4-FFF2-40B4-BE49-F238E27FC236}">
                <a16:creationId xmlns:a16="http://schemas.microsoft.com/office/drawing/2014/main" id="{388F0A09-E840-40F1-91AD-6F2B2D326B05}"/>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Update the plan and repeat as needed.</a:t>
            </a:r>
          </a:p>
        </p:txBody>
      </p:sp>
    </p:spTree>
    <p:extLst>
      <p:ext uri="{BB962C8B-B14F-4D97-AF65-F5344CB8AC3E}">
        <p14:creationId xmlns:p14="http://schemas.microsoft.com/office/powerpoint/2010/main" val="1589804599"/>
      </p:ext>
    </p:extLst>
  </p:cSld>
</p:sld>
</file>

<file path=ppt/slides/slide19.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19">
            <a:extLst xmlns:a="http://schemas.openxmlformats.org/drawingml/2006/main">
              <a:ext uri="{FF2B5EF4-FFF2-40B4-BE49-F238E27FC236}">
                <a16:creationId xmlns:a16="http://schemas.microsoft.com/office/drawing/2014/main" id="{4AC5D1BF-2A78-490D-B0C5-9FD14D510FB7}"/>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A18C47-FA38-4C38-92F2-2A638355C1FA}"/>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19</a:t>
            </a:r>
          </a:p>
        </p:txBody>
      </p:sp>
      <p:sp>
        <p:nvSpPr>
          <p:cNvPr id="3" name="">
            <a:extLst xmlns:a="http://schemas.openxmlformats.org/drawingml/2006/main">
              <a:ext uri="{FF2B5EF4-FFF2-40B4-BE49-F238E27FC236}">
                <a16:creationId xmlns:a16="http://schemas.microsoft.com/office/drawing/2014/main" id="{39AF7719-8539-40D2-BA93-98EB8A011711}"/>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B4F16AFE-2834-4609-931C-A184D073C9C9}"/>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66E314-2C80-45B3-B109-70A738600471}"/>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C099272-6EF8-473A-B13C-011ECA384EBE}"/>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5A6738-3098-4BA0-83D7-F5C627A83751}"/>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A8A86C7-DBB7-4DBE-8DF8-E57AB39DFE4B}"/>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28D4F03-03E6-4A4E-9541-9C013C3D11CC}"/>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19">
            <a:extLst xmlns:a="http://schemas.openxmlformats.org/drawingml/2006/main">
              <a:ext uri="{FF2B5EF4-FFF2-40B4-BE49-F238E27FC236}">
                <a16:creationId xmlns:a16="http://schemas.microsoft.com/office/drawing/2014/main" id="{BF8C87BD-66FB-4EC3-9348-0ADA5BB7A88C}"/>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D03132A-A141-412C-8410-FC396601F8D0}"/>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6C2A8F9D-1E17-4375-AA66-E86C488B391A}"/>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Planning turns goals into tractable steps</a:t>
            </a:r>
          </a:p>
        </p:txBody>
      </p:sp>
      <p:sp>
        <p:nvSpPr>
          <p:cNvPr id="13" name="">
            <a:extLst xmlns:a="http://schemas.openxmlformats.org/drawingml/2006/main">
              <a:ext uri="{FF2B5EF4-FFF2-40B4-BE49-F238E27FC236}">
                <a16:creationId xmlns:a16="http://schemas.microsoft.com/office/drawing/2014/main" id="{4922D065-296A-4098-BD0A-9C4E8641232D}"/>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ADF07E-B746-422F-A53D-F4A8DBC2C102}"/>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DECOMPOSE</a:t>
            </a:r>
          </a:p>
        </p:txBody>
      </p:sp>
      <p:sp>
        <p:nvSpPr>
          <p:cNvPr id="15" name="">
            <a:extLst xmlns:a="http://schemas.openxmlformats.org/drawingml/2006/main">
              <a:ext uri="{FF2B5EF4-FFF2-40B4-BE49-F238E27FC236}">
                <a16:creationId xmlns:a16="http://schemas.microsoft.com/office/drawing/2014/main" id="{F36F68A4-78E3-4771-AD05-E92588ADC8BC}"/>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49FE530-DE92-4D31-A9B0-8D126ED46BC3}"/>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Break a broad objective into smaller deliverables or checks.</a:t>
            </a:r>
          </a:p>
        </p:txBody>
      </p:sp>
      <p:sp>
        <p:nvSpPr>
          <p:cNvPr id="17" name="">
            <a:extLst xmlns:a="http://schemas.openxmlformats.org/drawingml/2006/main">
              <a:ext uri="{FF2B5EF4-FFF2-40B4-BE49-F238E27FC236}">
                <a16:creationId xmlns:a16="http://schemas.microsoft.com/office/drawing/2014/main" id="{3EC6FF28-A440-438D-AA7F-F65549AF2620}"/>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ORDER</a:t>
            </a:r>
          </a:p>
        </p:txBody>
      </p:sp>
      <p:sp>
        <p:nvSpPr>
          <p:cNvPr id="18" name="">
            <a:extLst xmlns:a="http://schemas.openxmlformats.org/drawingml/2006/main">
              <a:ext uri="{FF2B5EF4-FFF2-40B4-BE49-F238E27FC236}">
                <a16:creationId xmlns:a16="http://schemas.microsoft.com/office/drawing/2014/main" id="{6465B8C0-359A-4EC6-A579-00952A583FA6}"/>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378A34F-4D31-450F-A9F4-CA1BADA0D227}"/>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Place dependencies, approvals, and evidence gathering in a safe sequence.</a:t>
            </a:r>
          </a:p>
        </p:txBody>
      </p:sp>
      <p:sp>
        <p:nvSpPr>
          <p:cNvPr id="20" name="">
            <a:extLst xmlns:a="http://schemas.openxmlformats.org/drawingml/2006/main">
              <a:ext uri="{FF2B5EF4-FFF2-40B4-BE49-F238E27FC236}">
                <a16:creationId xmlns:a16="http://schemas.microsoft.com/office/drawing/2014/main" id="{E2D0D5C8-D066-429D-B505-28003094A213}"/>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REPLAN</a:t>
            </a:r>
          </a:p>
        </p:txBody>
      </p:sp>
      <p:sp>
        <p:nvSpPr>
          <p:cNvPr id="21" name="">
            <a:extLst xmlns:a="http://schemas.openxmlformats.org/drawingml/2006/main">
              <a:ext uri="{FF2B5EF4-FFF2-40B4-BE49-F238E27FC236}">
                <a16:creationId xmlns:a16="http://schemas.microsoft.com/office/drawing/2014/main" id="{3E985EAD-5BC0-4F2A-9C7C-9BB3808E2A10}"/>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CADD8D9-B67E-41BA-B09F-7750991C4D85}"/>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Change course when tools fail, evidence conflicts, or constraints appear.</a:t>
            </a:r>
          </a:p>
        </p:txBody>
      </p:sp>
    </p:spTree>
    <p:extLst>
      <p:ext uri="{BB962C8B-B14F-4D97-AF65-F5344CB8AC3E}">
        <p14:creationId xmlns:p14="http://schemas.microsoft.com/office/powerpoint/2010/main" val="2063038371"/>
      </p:ext>
    </p:extLst>
  </p:cSld>
</p:sld>
</file>

<file path=ppt/slides/slide20.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0">
            <a:extLst xmlns:a="http://schemas.openxmlformats.org/drawingml/2006/main">
              <a:ext uri="{FF2B5EF4-FFF2-40B4-BE49-F238E27FC236}">
                <a16:creationId xmlns:a16="http://schemas.microsoft.com/office/drawing/2014/main" id="{AE2ABEB2-8435-4573-AE55-870808D3DC67}"/>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249BAE-9943-4818-913D-1D7B9599CE6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20</a:t>
            </a:r>
          </a:p>
        </p:txBody>
      </p:sp>
      <p:sp>
        <p:nvSpPr>
          <p:cNvPr id="3" name="">
            <a:extLst xmlns:a="http://schemas.openxmlformats.org/drawingml/2006/main">
              <a:ext uri="{FF2B5EF4-FFF2-40B4-BE49-F238E27FC236}">
                <a16:creationId xmlns:a16="http://schemas.microsoft.com/office/drawing/2014/main" id="{96C5B4D0-2752-4961-9FAE-8B02F25C7529}"/>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05753AC1-B7C0-4219-8906-99549901A48B}"/>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48512FD-E4C9-4D40-B023-9175ED2C651E}"/>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9CE32FB-BF25-43F8-9DE8-64E5A62A2A89}"/>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E271E0F-2EC6-4F52-A2DD-658ACCD2DF75}"/>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9987F65-A87D-4CCB-AFDC-ACCA249E9522}"/>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8F51ECE-1D87-4B81-B7F6-5908E820CF73}"/>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0">
            <a:extLst xmlns:a="http://schemas.openxmlformats.org/drawingml/2006/main">
              <a:ext uri="{FF2B5EF4-FFF2-40B4-BE49-F238E27FC236}">
                <a16:creationId xmlns:a16="http://schemas.microsoft.com/office/drawing/2014/main" id="{57320EBE-8A8C-4A6E-9BE2-3607C4F08AE5}"/>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864849-A1F2-4DB6-9BE1-52D72A77F752}"/>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4A9F9C83-A059-4AA0-B49E-C3F9EC3E17BA}"/>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Tool selection is a policy decision</a:t>
            </a:r>
          </a:p>
        </p:txBody>
      </p:sp>
      <p:sp>
        <p:nvSpPr>
          <p:cNvPr id="13" name="">
            <a:extLst xmlns:a="http://schemas.openxmlformats.org/drawingml/2006/main">
              <a:ext uri="{FF2B5EF4-FFF2-40B4-BE49-F238E27FC236}">
                <a16:creationId xmlns:a16="http://schemas.microsoft.com/office/drawing/2014/main" id="{708787EE-9403-4BE8-98A0-425D30CA6F74}"/>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AD167E-2FEF-4801-A096-944824242AF3}"/>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WHEN</a:t>
            </a:r>
          </a:p>
        </p:txBody>
      </p:sp>
      <p:sp>
        <p:nvSpPr>
          <p:cNvPr id="15" name="">
            <a:extLst xmlns:a="http://schemas.openxmlformats.org/drawingml/2006/main">
              <a:ext uri="{FF2B5EF4-FFF2-40B4-BE49-F238E27FC236}">
                <a16:creationId xmlns:a16="http://schemas.microsoft.com/office/drawing/2014/main" id="{C1D06730-5B4A-4F07-AAE2-0425034523EF}"/>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3250D0A-B874-4D3B-9DC6-13EB57CD2B59}"/>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Use a tool when the model lacks current state, precision, or the ability to act.</a:t>
            </a:r>
          </a:p>
        </p:txBody>
      </p:sp>
      <p:sp>
        <p:nvSpPr>
          <p:cNvPr id="17" name="">
            <a:extLst xmlns:a="http://schemas.openxmlformats.org/drawingml/2006/main">
              <a:ext uri="{FF2B5EF4-FFF2-40B4-BE49-F238E27FC236}">
                <a16:creationId xmlns:a16="http://schemas.microsoft.com/office/drawing/2014/main" id="{7179BB5A-BE16-4C79-A7F7-76396DCBFDB7}"/>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WHICH</a:t>
            </a:r>
          </a:p>
        </p:txBody>
      </p:sp>
      <p:sp>
        <p:nvSpPr>
          <p:cNvPr id="18" name="">
            <a:extLst xmlns:a="http://schemas.openxmlformats.org/drawingml/2006/main">
              <a:ext uri="{FF2B5EF4-FFF2-40B4-BE49-F238E27FC236}">
                <a16:creationId xmlns:a16="http://schemas.microsoft.com/office/drawing/2014/main" id="{47DC0A90-A590-4626-9E20-9E2FAEA33449}"/>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C219E0-F7A0-49A6-9766-C15972DF6AA6}"/>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Choose the narrowest tool whose capability and permissions match the step.</a:t>
            </a:r>
          </a:p>
        </p:txBody>
      </p:sp>
      <p:sp>
        <p:nvSpPr>
          <p:cNvPr id="20" name="">
            <a:extLst xmlns:a="http://schemas.openxmlformats.org/drawingml/2006/main">
              <a:ext uri="{FF2B5EF4-FFF2-40B4-BE49-F238E27FC236}">
                <a16:creationId xmlns:a16="http://schemas.microsoft.com/office/drawing/2014/main" id="{8BD589A7-F19F-4730-8780-66C14F19B6B3}"/>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HOW</a:t>
            </a:r>
          </a:p>
        </p:txBody>
      </p:sp>
      <p:sp>
        <p:nvSpPr>
          <p:cNvPr id="21" name="">
            <a:extLst xmlns:a="http://schemas.openxmlformats.org/drawingml/2006/main">
              <a:ext uri="{FF2B5EF4-FFF2-40B4-BE49-F238E27FC236}">
                <a16:creationId xmlns:a16="http://schemas.microsoft.com/office/drawing/2014/main" id="{23F8206B-0045-4BA2-B814-20E9902BB76D}"/>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1F67DB6-D5C3-4644-9C38-884D1D7784F6}"/>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Validate arguments, inspect results, and stop loops that do not converge.</a:t>
            </a:r>
          </a:p>
        </p:txBody>
      </p:sp>
    </p:spTree>
    <p:extLst>
      <p:ext uri="{BB962C8B-B14F-4D97-AF65-F5344CB8AC3E}">
        <p14:creationId xmlns:p14="http://schemas.microsoft.com/office/powerpoint/2010/main" val="740569871"/>
      </p:ext>
    </p:extLst>
  </p:cSld>
</p:sld>
</file>

<file path=ppt/slides/slide21.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21">
            <a:extLst xmlns:a="http://schemas.openxmlformats.org/drawingml/2006/main">
              <a:ext uri="{FF2B5EF4-FFF2-40B4-BE49-F238E27FC236}">
                <a16:creationId xmlns:a16="http://schemas.microsoft.com/office/drawing/2014/main" id="{25CCED2A-0065-43F3-8753-EC3CAEBDE9EB}"/>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A55238-FD99-4CF4-9012-9D4B0DB0E005}"/>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21</a:t>
            </a:r>
          </a:p>
        </p:txBody>
      </p:sp>
      <p:sp>
        <p:nvSpPr>
          <p:cNvPr id="3" name="">
            <a:extLst xmlns:a="http://schemas.openxmlformats.org/drawingml/2006/main">
              <a:ext uri="{FF2B5EF4-FFF2-40B4-BE49-F238E27FC236}">
                <a16:creationId xmlns:a16="http://schemas.microsoft.com/office/drawing/2014/main" id="{A83DC161-9F78-4D5D-B852-AD638344D406}"/>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6FDB2C92-647E-4270-8ED7-3FD3B198E111}"/>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C68FA0-62E6-47D7-9E80-6C49203716BE}"/>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38E0DE2-8F0E-41B6-83C8-52E79DCD039B}"/>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AFCC12-48F4-41E0-8B43-CE249538F5A8}"/>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8F41A74-1667-4E39-B2CE-E4899A80FC52}"/>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377DF3-1488-4BF5-A2E4-AA2AFD3B1D42}"/>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1">
            <a:extLst xmlns:a="http://schemas.openxmlformats.org/drawingml/2006/main">
              <a:ext uri="{FF2B5EF4-FFF2-40B4-BE49-F238E27FC236}">
                <a16:creationId xmlns:a16="http://schemas.microsoft.com/office/drawing/2014/main" id="{1AB9D064-3F21-46E2-B9FB-3E9D290FB546}"/>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5A34758-81D1-4019-8363-A555C9C60F6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2741256C-F1E7-4B09-BCC1-586BE5D9BA20}"/>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Memory is a lifecycle</a:t>
            </a:r>
          </a:p>
        </p:txBody>
      </p:sp>
      <p:sp>
        <p:nvSpPr>
          <p:cNvPr id="13" name="">
            <a:extLst xmlns:a="http://schemas.openxmlformats.org/drawingml/2006/main">
              <a:ext uri="{FF2B5EF4-FFF2-40B4-BE49-F238E27FC236}">
                <a16:creationId xmlns:a16="http://schemas.microsoft.com/office/drawing/2014/main" id="{DD6587CF-33DC-4242-B784-C37911A30B5D}"/>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B25EB2-C300-46AF-9337-DA8C40545BCB}"/>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77A14F2-3D89-4277-9499-89B9FBBF2F4A}"/>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0CC9935-57B5-4DDA-984F-BC1B724F2768}"/>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DBDAEEB2-86DC-468B-85D1-975ADB426D63}"/>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Capture</a:t>
            </a:r>
          </a:p>
        </p:txBody>
      </p:sp>
      <p:sp>
        <p:nvSpPr>
          <p:cNvPr id="18" name="">
            <a:extLst xmlns:a="http://schemas.openxmlformats.org/drawingml/2006/main">
              <a:ext uri="{FF2B5EF4-FFF2-40B4-BE49-F238E27FC236}">
                <a16:creationId xmlns:a16="http://schemas.microsoft.com/office/drawing/2014/main" id="{01F21364-A1B4-454D-8FE0-56418A5879FD}"/>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Record sources, events, decisions, and artifacts.</a:t>
            </a:r>
          </a:p>
        </p:txBody>
      </p:sp>
      <p:sp>
        <p:nvSpPr>
          <p:cNvPr id="19" name="">
            <a:extLst xmlns:a="http://schemas.openxmlformats.org/drawingml/2006/main">
              <a:ext uri="{FF2B5EF4-FFF2-40B4-BE49-F238E27FC236}">
                <a16:creationId xmlns:a16="http://schemas.microsoft.com/office/drawing/2014/main" id="{C07E193F-101E-4F44-9A99-E84A4681EA95}"/>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5CF0EA7-CCDB-4293-BAF5-8B0DDF5B34B2}"/>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9A85E255-5C3D-4BBD-B887-F48913D44550}"/>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Organize</a:t>
            </a:r>
          </a:p>
        </p:txBody>
      </p:sp>
      <p:sp>
        <p:nvSpPr>
          <p:cNvPr id="22" name="">
            <a:extLst xmlns:a="http://schemas.openxmlformats.org/drawingml/2006/main">
              <a:ext uri="{FF2B5EF4-FFF2-40B4-BE49-F238E27FC236}">
                <a16:creationId xmlns:a16="http://schemas.microsoft.com/office/drawing/2014/main" id="{2DB437AA-A239-4A6B-9B83-DD4AC541E7E0}"/>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Structure knowledge for future retrieval.</a:t>
            </a:r>
          </a:p>
        </p:txBody>
      </p:sp>
      <p:sp>
        <p:nvSpPr>
          <p:cNvPr id="23" name="">
            <a:extLst xmlns:a="http://schemas.openxmlformats.org/drawingml/2006/main">
              <a:ext uri="{FF2B5EF4-FFF2-40B4-BE49-F238E27FC236}">
                <a16:creationId xmlns:a16="http://schemas.microsoft.com/office/drawing/2014/main" id="{CBFBFB97-0B16-43BE-942A-5917BD18CDF6}"/>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949B372-ACDA-419C-89E3-8937C2267ACC}"/>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FA8B162F-E47E-4F39-ABF6-BCB2D74C012E}"/>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Retrieve</a:t>
            </a:r>
          </a:p>
        </p:txBody>
      </p:sp>
      <p:sp>
        <p:nvSpPr>
          <p:cNvPr id="26" name="">
            <a:extLst xmlns:a="http://schemas.openxmlformats.org/drawingml/2006/main">
              <a:ext uri="{FF2B5EF4-FFF2-40B4-BE49-F238E27FC236}">
                <a16:creationId xmlns:a16="http://schemas.microsoft.com/office/drawing/2014/main" id="{49A411B5-FB5C-4D88-9EDA-AFD2F5B74FBB}"/>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Bring only relevant evidence into working context.</a:t>
            </a:r>
          </a:p>
        </p:txBody>
      </p:sp>
      <p:sp>
        <p:nvSpPr>
          <p:cNvPr id="27" name="">
            <a:extLst xmlns:a="http://schemas.openxmlformats.org/drawingml/2006/main">
              <a:ext uri="{FF2B5EF4-FFF2-40B4-BE49-F238E27FC236}">
                <a16:creationId xmlns:a16="http://schemas.microsoft.com/office/drawing/2014/main" id="{627A04B8-A7FE-4F05-B502-F360E76E0657}"/>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04A8668-6AE1-4391-A65E-44C91B2EA122}"/>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B81951AA-D82E-4E30-A18E-834FBE7B1D6C}"/>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Update</a:t>
            </a:r>
          </a:p>
        </p:txBody>
      </p:sp>
      <p:sp>
        <p:nvSpPr>
          <p:cNvPr id="30" name="">
            <a:extLst xmlns:a="http://schemas.openxmlformats.org/drawingml/2006/main">
              <a:ext uri="{FF2B5EF4-FFF2-40B4-BE49-F238E27FC236}">
                <a16:creationId xmlns:a16="http://schemas.microsoft.com/office/drawing/2014/main" id="{A85C441D-BB80-4414-951B-7737BDD128E2}"/>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Correct, supersede, or archive knowledge as the project changes.</a:t>
            </a:r>
          </a:p>
        </p:txBody>
      </p:sp>
    </p:spTree>
    <p:extLst>
      <p:ext uri="{BB962C8B-B14F-4D97-AF65-F5344CB8AC3E}">
        <p14:creationId xmlns:p14="http://schemas.microsoft.com/office/powerpoint/2010/main" val="442873753"/>
      </p:ext>
    </p:extLst>
  </p:cSld>
</p:sld>
</file>

<file path=ppt/slides/slide22.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2">
            <a:extLst xmlns:a="http://schemas.openxmlformats.org/drawingml/2006/main">
              <a:ext uri="{FF2B5EF4-FFF2-40B4-BE49-F238E27FC236}">
                <a16:creationId xmlns:a16="http://schemas.microsoft.com/office/drawing/2014/main" id="{DB6D1960-FD01-4A28-9018-960BC12C6529}"/>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56B53A-F6DA-416C-854B-81C3D7F6FC74}"/>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22</a:t>
            </a:r>
          </a:p>
        </p:txBody>
      </p:sp>
      <p:sp>
        <p:nvSpPr>
          <p:cNvPr id="3" name="">
            <a:extLst xmlns:a="http://schemas.openxmlformats.org/drawingml/2006/main">
              <a:ext uri="{FF2B5EF4-FFF2-40B4-BE49-F238E27FC236}">
                <a16:creationId xmlns:a16="http://schemas.microsoft.com/office/drawing/2014/main" id="{2E517DF2-ADE8-4833-92E2-F65FCD4B079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3B996BC5-78A0-4948-B1E6-9D3DAF490B1B}"/>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1D087DE-591B-4477-9A64-A73196F7C976}"/>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2DC90E-D2CA-4BE7-A8B5-2513F22A4700}"/>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9B4F3C8-8B1F-4827-8E7A-8A46509C7391}"/>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70C9AA9-6292-4563-8D0B-5C95FA82178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677100-4E61-46EA-A909-5516CA172FFF}"/>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2">
            <a:extLst xmlns:a="http://schemas.openxmlformats.org/drawingml/2006/main">
              <a:ext uri="{FF2B5EF4-FFF2-40B4-BE49-F238E27FC236}">
                <a16:creationId xmlns:a16="http://schemas.microsoft.com/office/drawing/2014/main" id="{3154F6F8-8D9F-4DF9-AE22-DD6EF5FCF222}"/>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A6781B4-5FA7-417C-AFFB-8C1CDED76D8B}"/>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5620D818-BCFF-4314-B28D-28A85AC9BFC6}"/>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RAG grounds generation in retrieved evidence</a:t>
            </a:r>
          </a:p>
        </p:txBody>
      </p:sp>
      <p:sp>
        <p:nvSpPr>
          <p:cNvPr id="13" name="">
            <a:extLst xmlns:a="http://schemas.openxmlformats.org/drawingml/2006/main">
              <a:ext uri="{FF2B5EF4-FFF2-40B4-BE49-F238E27FC236}">
                <a16:creationId xmlns:a16="http://schemas.microsoft.com/office/drawing/2014/main" id="{90B5B14D-964B-43B7-8B63-3462B4F3CD6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3B9141-EDE8-4021-8011-CB913268039C}"/>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RETRIEVE</a:t>
            </a:r>
          </a:p>
        </p:txBody>
      </p:sp>
      <p:sp>
        <p:nvSpPr>
          <p:cNvPr id="15" name="">
            <a:extLst xmlns:a="http://schemas.openxmlformats.org/drawingml/2006/main">
              <a:ext uri="{FF2B5EF4-FFF2-40B4-BE49-F238E27FC236}">
                <a16:creationId xmlns:a16="http://schemas.microsoft.com/office/drawing/2014/main" id="{65D87169-A13E-4403-8ACE-9B3E3AB7FA90}"/>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252A0FD-5462-46D2-8E97-738113A75885}"/>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Find relevant passages from an external, updateable knowledge source.</a:t>
            </a:r>
          </a:p>
        </p:txBody>
      </p:sp>
      <p:sp>
        <p:nvSpPr>
          <p:cNvPr id="17" name="">
            <a:extLst xmlns:a="http://schemas.openxmlformats.org/drawingml/2006/main">
              <a:ext uri="{FF2B5EF4-FFF2-40B4-BE49-F238E27FC236}">
                <a16:creationId xmlns:a16="http://schemas.microsoft.com/office/drawing/2014/main" id="{45470B48-BAD4-4D45-BE63-9FFDF2ABD380}"/>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AUGMENT</a:t>
            </a:r>
          </a:p>
        </p:txBody>
      </p:sp>
      <p:sp>
        <p:nvSpPr>
          <p:cNvPr id="18" name="">
            <a:extLst xmlns:a="http://schemas.openxmlformats.org/drawingml/2006/main">
              <a:ext uri="{FF2B5EF4-FFF2-40B4-BE49-F238E27FC236}">
                <a16:creationId xmlns:a16="http://schemas.microsoft.com/office/drawing/2014/main" id="{4F1164C1-8464-4B6A-895A-C2D1218BACC8}"/>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71948F3-C971-4A1B-8DB9-E5C3B8E8EB47}"/>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Place those passages and provenance in the model’s context.</a:t>
            </a:r>
          </a:p>
        </p:txBody>
      </p:sp>
      <p:sp>
        <p:nvSpPr>
          <p:cNvPr id="20" name="">
            <a:extLst xmlns:a="http://schemas.openxmlformats.org/drawingml/2006/main">
              <a:ext uri="{FF2B5EF4-FFF2-40B4-BE49-F238E27FC236}">
                <a16:creationId xmlns:a16="http://schemas.microsoft.com/office/drawing/2014/main" id="{CE674AF9-6E3B-4DAF-B956-CF8CDDB8B92C}"/>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GENERATE</a:t>
            </a:r>
          </a:p>
        </p:txBody>
      </p:sp>
      <p:sp>
        <p:nvSpPr>
          <p:cNvPr id="21" name="">
            <a:extLst xmlns:a="http://schemas.openxmlformats.org/drawingml/2006/main">
              <a:ext uri="{FF2B5EF4-FFF2-40B4-BE49-F238E27FC236}">
                <a16:creationId xmlns:a16="http://schemas.microsoft.com/office/drawing/2014/main" id="{424CBAF9-FC16-438D-AB50-ABD493876BAC}"/>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7BBC4F6-915C-4310-BE4F-1E4F30943130}"/>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Produce an answer conditioned on both model knowledge and retrieved evidence.</a:t>
            </a:r>
          </a:p>
        </p:txBody>
      </p:sp>
    </p:spTree>
    <p:extLst>
      <p:ext uri="{BB962C8B-B14F-4D97-AF65-F5344CB8AC3E}">
        <p14:creationId xmlns:p14="http://schemas.microsoft.com/office/powerpoint/2010/main" val="411415133"/>
      </p:ext>
    </p:extLst>
  </p:cSld>
</p:sld>
</file>

<file path=ppt/slides/slide23.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3">
            <a:extLst xmlns:a="http://schemas.openxmlformats.org/drawingml/2006/main">
              <a:ext uri="{FF2B5EF4-FFF2-40B4-BE49-F238E27FC236}">
                <a16:creationId xmlns:a16="http://schemas.microsoft.com/office/drawing/2014/main" id="{DC112174-A435-483E-9517-41F5CEF2014E}"/>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F8AB9D-E314-4EB1-A22C-08AB622A5D14}"/>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23</a:t>
            </a:r>
          </a:p>
        </p:txBody>
      </p:sp>
      <p:sp>
        <p:nvSpPr>
          <p:cNvPr id="3" name="">
            <a:extLst xmlns:a="http://schemas.openxmlformats.org/drawingml/2006/main">
              <a:ext uri="{FF2B5EF4-FFF2-40B4-BE49-F238E27FC236}">
                <a16:creationId xmlns:a16="http://schemas.microsoft.com/office/drawing/2014/main" id="{A4905D73-0ED4-4966-96FC-AA76433DCFC3}"/>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D9F74914-8502-4D61-BF70-A8D31643C82B}"/>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2F1934-DDFB-4C99-B7AB-E753290F2C21}"/>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91F5D7-523B-4A33-9161-9C30BA17E1BC}"/>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89AD87-FBA0-4AE9-8F73-84FB84BFE22C}"/>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D589748-8441-4F85-A0DA-7AA0D6385B20}"/>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0ACF8F5-B217-40D8-9692-263513C8DDF4}"/>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3">
            <a:extLst xmlns:a="http://schemas.openxmlformats.org/drawingml/2006/main">
              <a:ext uri="{FF2B5EF4-FFF2-40B4-BE49-F238E27FC236}">
                <a16:creationId xmlns:a16="http://schemas.microsoft.com/office/drawing/2014/main" id="{18FC8DD9-1516-468C-9CCA-B903A7EF49EC}"/>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C0C4B8-66CC-4970-8792-B98B3F2DB1FC}"/>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BFA090D3-25A5-4E84-9DA2-1B860D239237}"/>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Reflection converts outcomes into guidance</a:t>
            </a:r>
          </a:p>
        </p:txBody>
      </p:sp>
      <p:sp>
        <p:nvSpPr>
          <p:cNvPr id="13" name="">
            <a:extLst xmlns:a="http://schemas.openxmlformats.org/drawingml/2006/main">
              <a:ext uri="{FF2B5EF4-FFF2-40B4-BE49-F238E27FC236}">
                <a16:creationId xmlns:a16="http://schemas.microsoft.com/office/drawing/2014/main" id="{89F7B136-1050-4BA5-B3B5-11323613303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CDABB5B-95B8-4C2E-BDFB-E0ED98FC0BC2}"/>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COMPARE</a:t>
            </a:r>
          </a:p>
        </p:txBody>
      </p:sp>
      <p:sp>
        <p:nvSpPr>
          <p:cNvPr id="15" name="">
            <a:extLst xmlns:a="http://schemas.openxmlformats.org/drawingml/2006/main">
              <a:ext uri="{FF2B5EF4-FFF2-40B4-BE49-F238E27FC236}">
                <a16:creationId xmlns:a16="http://schemas.microsoft.com/office/drawing/2014/main" id="{34B8BDD1-34BB-4EA8-A2F2-EC7815CB1D62}"/>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FE1C38-378E-4347-A915-0C52E1F8B8A1}"/>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Did the result satisfy the objective, constraints, and evidence standard?</a:t>
            </a:r>
          </a:p>
        </p:txBody>
      </p:sp>
      <p:sp>
        <p:nvSpPr>
          <p:cNvPr id="17" name="">
            <a:extLst xmlns:a="http://schemas.openxmlformats.org/drawingml/2006/main">
              <a:ext uri="{FF2B5EF4-FFF2-40B4-BE49-F238E27FC236}">
                <a16:creationId xmlns:a16="http://schemas.microsoft.com/office/drawing/2014/main" id="{476A7376-CB62-4107-8292-CAA05E72512F}"/>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DIAGNOSE</a:t>
            </a:r>
          </a:p>
        </p:txBody>
      </p:sp>
      <p:sp>
        <p:nvSpPr>
          <p:cNvPr id="18" name="">
            <a:extLst xmlns:a="http://schemas.openxmlformats.org/drawingml/2006/main">
              <a:ext uri="{FF2B5EF4-FFF2-40B4-BE49-F238E27FC236}">
                <a16:creationId xmlns:a16="http://schemas.microsoft.com/office/drawing/2014/main" id="{62BD0A13-3176-4F0D-881E-AC461D42D9B1}"/>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3C935F4-0FDC-4E88-9747-F11F2DAD8C55}"/>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Was the failure caused by the plan, tool, data, permissions, or model?</a:t>
            </a:r>
          </a:p>
        </p:txBody>
      </p:sp>
      <p:sp>
        <p:nvSpPr>
          <p:cNvPr id="20" name="">
            <a:extLst xmlns:a="http://schemas.openxmlformats.org/drawingml/2006/main">
              <a:ext uri="{FF2B5EF4-FFF2-40B4-BE49-F238E27FC236}">
                <a16:creationId xmlns:a16="http://schemas.microsoft.com/office/drawing/2014/main" id="{189BA8EE-9E31-423C-8AE8-2A0A3A416534}"/>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ADAPT</a:t>
            </a:r>
          </a:p>
        </p:txBody>
      </p:sp>
      <p:sp>
        <p:nvSpPr>
          <p:cNvPr id="21" name="">
            <a:extLst xmlns:a="http://schemas.openxmlformats.org/drawingml/2006/main">
              <a:ext uri="{FF2B5EF4-FFF2-40B4-BE49-F238E27FC236}">
                <a16:creationId xmlns:a16="http://schemas.microsoft.com/office/drawing/2014/main" id="{1919A49B-5F3C-4CDF-AE2A-E0BD15156658}"/>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40FA63A-2F8F-47F9-AD8F-A1BAB707A0ED}"/>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Revise the next step or store a durable lesson for future work.</a:t>
            </a:r>
          </a:p>
        </p:txBody>
      </p:sp>
    </p:spTree>
    <p:extLst>
      <p:ext uri="{BB962C8B-B14F-4D97-AF65-F5344CB8AC3E}">
        <p14:creationId xmlns:p14="http://schemas.microsoft.com/office/powerpoint/2010/main" val="2019462132"/>
      </p:ext>
    </p:extLst>
  </p:cSld>
</p:sld>
</file>

<file path=ppt/slides/slide24.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4">
            <a:extLst xmlns:a="http://schemas.openxmlformats.org/drawingml/2006/main">
              <a:ext uri="{FF2B5EF4-FFF2-40B4-BE49-F238E27FC236}">
                <a16:creationId xmlns:a16="http://schemas.microsoft.com/office/drawing/2014/main" id="{20935E72-12CD-4C1E-BEC3-A96D17ABF613}"/>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B1C4E2-B3FC-4A43-BE91-42102000CB31}"/>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24</a:t>
            </a:r>
          </a:p>
        </p:txBody>
      </p:sp>
      <p:sp>
        <p:nvSpPr>
          <p:cNvPr id="3" name="">
            <a:extLst xmlns:a="http://schemas.openxmlformats.org/drawingml/2006/main">
              <a:ext uri="{FF2B5EF4-FFF2-40B4-BE49-F238E27FC236}">
                <a16:creationId xmlns:a16="http://schemas.microsoft.com/office/drawing/2014/main" id="{9FA8FACE-6967-4791-92EC-FA485123E9B0}"/>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A3CCCCD3-F228-4B49-9E32-F25CCC60AD8D}"/>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ED770D-EF58-46F3-8B5F-BE3974EF1E92}"/>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3979E89-6CD8-4D96-810B-F0B13F5403DF}"/>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45DC11-5E6F-4DE0-9E4E-618D951AC262}"/>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5C5336-4715-4819-B9AF-AD2D9144FA2E}"/>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437923B-5B79-4669-B10B-EE219D2063BB}"/>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4">
            <a:extLst xmlns:a="http://schemas.openxmlformats.org/drawingml/2006/main">
              <a:ext uri="{FF2B5EF4-FFF2-40B4-BE49-F238E27FC236}">
                <a16:creationId xmlns:a16="http://schemas.microsoft.com/office/drawing/2014/main" id="{C732875D-AA3F-4E02-B412-06DF37911C4F}"/>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62E8D28-A090-4812-8318-51FD90F8AD8D}"/>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B0AA1EE9-8025-4058-961A-0DFFB5EDE25F}"/>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Orchestration can stay simple</a:t>
            </a:r>
          </a:p>
        </p:txBody>
      </p:sp>
      <p:sp>
        <p:nvSpPr>
          <p:cNvPr id="13" name="">
            <a:extLst xmlns:a="http://schemas.openxmlformats.org/drawingml/2006/main">
              <a:ext uri="{FF2B5EF4-FFF2-40B4-BE49-F238E27FC236}">
                <a16:creationId xmlns:a16="http://schemas.microsoft.com/office/drawing/2014/main" id="{679361D2-B246-40B1-9796-226579C668ED}"/>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BCD782A-864D-4307-8C86-122B8C88D0A0}"/>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SEQUENTIAL</a:t>
            </a:r>
          </a:p>
        </p:txBody>
      </p:sp>
      <p:sp>
        <p:nvSpPr>
          <p:cNvPr id="15" name="">
            <a:extLst xmlns:a="http://schemas.openxmlformats.org/drawingml/2006/main">
              <a:ext uri="{FF2B5EF4-FFF2-40B4-BE49-F238E27FC236}">
                <a16:creationId xmlns:a16="http://schemas.microsoft.com/office/drawing/2014/main" id="{2A124869-15FF-4709-A943-4AD26DB7D6A1}"/>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9A5E704-40C4-4735-A660-EBF3A0EB79E5}"/>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One step feeds the next. Best when dependencies are clear.</a:t>
            </a:r>
          </a:p>
        </p:txBody>
      </p:sp>
      <p:sp>
        <p:nvSpPr>
          <p:cNvPr id="17" name="">
            <a:extLst xmlns:a="http://schemas.openxmlformats.org/drawingml/2006/main">
              <a:ext uri="{FF2B5EF4-FFF2-40B4-BE49-F238E27FC236}">
                <a16:creationId xmlns:a16="http://schemas.microsoft.com/office/drawing/2014/main" id="{E359D787-87A4-4444-A0D4-01E46B66A651}"/>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PARALLEL</a:t>
            </a:r>
          </a:p>
        </p:txBody>
      </p:sp>
      <p:sp>
        <p:nvSpPr>
          <p:cNvPr id="18" name="">
            <a:extLst xmlns:a="http://schemas.openxmlformats.org/drawingml/2006/main">
              <a:ext uri="{FF2B5EF4-FFF2-40B4-BE49-F238E27FC236}">
                <a16:creationId xmlns:a16="http://schemas.microsoft.com/office/drawing/2014/main" id="{490B9229-F65C-4B96-8E87-FB436E48F761}"/>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D826199-4ABC-44C9-8DC8-99F2B3A18F17}"/>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Independent subtasks run together. Best when evidence can be reconciled.</a:t>
            </a:r>
          </a:p>
        </p:txBody>
      </p:sp>
      <p:sp>
        <p:nvSpPr>
          <p:cNvPr id="20" name="">
            <a:extLst xmlns:a="http://schemas.openxmlformats.org/drawingml/2006/main">
              <a:ext uri="{FF2B5EF4-FFF2-40B4-BE49-F238E27FC236}">
                <a16:creationId xmlns:a16="http://schemas.microsoft.com/office/drawing/2014/main" id="{533540A1-7349-4C0F-86EF-DAB8DA0C6F0D}"/>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ROUTED</a:t>
            </a:r>
          </a:p>
        </p:txBody>
      </p:sp>
      <p:sp>
        <p:nvSpPr>
          <p:cNvPr id="21" name="">
            <a:extLst xmlns:a="http://schemas.openxmlformats.org/drawingml/2006/main">
              <a:ext uri="{FF2B5EF4-FFF2-40B4-BE49-F238E27FC236}">
                <a16:creationId xmlns:a16="http://schemas.microsoft.com/office/drawing/2014/main" id="{0C28611D-5E5C-4145-AEAF-136BD26097CA}"/>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D16C429-87A0-40AD-839F-B05BE6BB1CA1}"/>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 coordinator selects a specialized workflow. Best for recurring task families.</a:t>
            </a:r>
          </a:p>
        </p:txBody>
      </p:sp>
    </p:spTree>
    <p:extLst>
      <p:ext uri="{BB962C8B-B14F-4D97-AF65-F5344CB8AC3E}">
        <p14:creationId xmlns:p14="http://schemas.microsoft.com/office/powerpoint/2010/main" val="74181833"/>
      </p:ext>
    </p:extLst>
  </p:cSld>
</p:sld>
</file>

<file path=ppt/slides/slide25.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25">
            <a:extLst xmlns:a="http://schemas.openxmlformats.org/drawingml/2006/main">
              <a:ext uri="{FF2B5EF4-FFF2-40B4-BE49-F238E27FC236}">
                <a16:creationId xmlns:a16="http://schemas.microsoft.com/office/drawing/2014/main" id="{8FB91B14-6B3B-4183-8877-9FCE00543C24}"/>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3BB6EB-24CB-4F2B-BEE3-3849B0F66FDC}"/>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25</a:t>
            </a:r>
          </a:p>
        </p:txBody>
      </p:sp>
      <p:sp>
        <p:nvSpPr>
          <p:cNvPr id="3" name="">
            <a:extLst xmlns:a="http://schemas.openxmlformats.org/drawingml/2006/main">
              <a:ext uri="{FF2B5EF4-FFF2-40B4-BE49-F238E27FC236}">
                <a16:creationId xmlns:a16="http://schemas.microsoft.com/office/drawing/2014/main" id="{A700A165-7F7A-452A-9D7A-5455D8192520}"/>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DE318141-ECBD-4D24-94C2-3BFFF6674EE8}"/>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8570222-1D7B-429F-9428-B1E5B9C800F6}"/>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DCC32E-BFB7-41C4-9B7A-5966E5F52545}"/>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782EEBB-9A12-423E-A866-EE207E83C5D1}"/>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8AA7BD2-EDC1-4AB4-B190-F9C16117D051}"/>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E9F9DC6-B19B-4723-A160-B91F6481BBD1}"/>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5">
            <a:extLst xmlns:a="http://schemas.openxmlformats.org/drawingml/2006/main">
              <a:ext uri="{FF2B5EF4-FFF2-40B4-BE49-F238E27FC236}">
                <a16:creationId xmlns:a16="http://schemas.microsoft.com/office/drawing/2014/main" id="{3B38BF03-62A9-4E74-84F6-EBBF79F5D33E}"/>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0612A91-DDC8-4D89-8BC6-F574ED0B93F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FB9DAB7D-8179-4FD3-8DB9-3ED83091D6E5}"/>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Autonomy should rise with evidence</a:t>
            </a:r>
          </a:p>
        </p:txBody>
      </p:sp>
      <p:sp>
        <p:nvSpPr>
          <p:cNvPr id="13" name="">
            <a:extLst xmlns:a="http://schemas.openxmlformats.org/drawingml/2006/main">
              <a:ext uri="{FF2B5EF4-FFF2-40B4-BE49-F238E27FC236}">
                <a16:creationId xmlns:a16="http://schemas.microsoft.com/office/drawing/2014/main" id="{8D01ECFB-2DFD-4046-AE0E-89BBEE9DA7D7}"/>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5B8CBA-7673-4EA1-ABEC-CB73D5044204}"/>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EF1BA49-F7E1-44D5-B287-BD63D8612A62}"/>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F3C4170-3569-44D4-AA58-4434D84B4A2D}"/>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ABF62A3F-98BD-4A41-9585-DC795882D97A}"/>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Suggest</a:t>
            </a:r>
          </a:p>
        </p:txBody>
      </p:sp>
      <p:sp>
        <p:nvSpPr>
          <p:cNvPr id="18" name="">
            <a:extLst xmlns:a="http://schemas.openxmlformats.org/drawingml/2006/main">
              <a:ext uri="{FF2B5EF4-FFF2-40B4-BE49-F238E27FC236}">
                <a16:creationId xmlns:a16="http://schemas.microsoft.com/office/drawing/2014/main" id="{91E8D387-3071-4B21-9C02-B2702E521AFE}"/>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Draft options; a person chooses.</a:t>
            </a:r>
          </a:p>
        </p:txBody>
      </p:sp>
      <p:sp>
        <p:nvSpPr>
          <p:cNvPr id="19" name="">
            <a:extLst xmlns:a="http://schemas.openxmlformats.org/drawingml/2006/main">
              <a:ext uri="{FF2B5EF4-FFF2-40B4-BE49-F238E27FC236}">
                <a16:creationId xmlns:a16="http://schemas.microsoft.com/office/drawing/2014/main" id="{7949A848-E8DB-4328-BE87-4257777CFDDD}"/>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C1F4B28-8305-4F77-BE4E-8578307FF19F}"/>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6904EB78-549D-4A6E-9400-B5780057478F}"/>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Prepare</a:t>
            </a:r>
          </a:p>
        </p:txBody>
      </p:sp>
      <p:sp>
        <p:nvSpPr>
          <p:cNvPr id="22" name="">
            <a:extLst xmlns:a="http://schemas.openxmlformats.org/drawingml/2006/main">
              <a:ext uri="{FF2B5EF4-FFF2-40B4-BE49-F238E27FC236}">
                <a16:creationId xmlns:a16="http://schemas.microsoft.com/office/drawing/2014/main" id="{6D491202-27FD-42F7-B82B-18A4ED53D6BE}"/>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Create artifacts; a person reviews.</a:t>
            </a:r>
          </a:p>
        </p:txBody>
      </p:sp>
      <p:sp>
        <p:nvSpPr>
          <p:cNvPr id="23" name="">
            <a:extLst xmlns:a="http://schemas.openxmlformats.org/drawingml/2006/main">
              <a:ext uri="{FF2B5EF4-FFF2-40B4-BE49-F238E27FC236}">
                <a16:creationId xmlns:a16="http://schemas.microsoft.com/office/drawing/2014/main" id="{7A03FFDE-20BA-49FB-A176-0D4884406464}"/>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1767685-755C-4FA4-BA03-2C4EFD9FB3B0}"/>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EAEFD1A4-B0BC-4367-886B-55B35EBD1C54}"/>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Execute</a:t>
            </a:r>
          </a:p>
        </p:txBody>
      </p:sp>
      <p:sp>
        <p:nvSpPr>
          <p:cNvPr id="26" name="">
            <a:extLst xmlns:a="http://schemas.openxmlformats.org/drawingml/2006/main">
              <a:ext uri="{FF2B5EF4-FFF2-40B4-BE49-F238E27FC236}">
                <a16:creationId xmlns:a16="http://schemas.microsoft.com/office/drawing/2014/main" id="{9851825B-1E09-4D2D-81AF-8F7AFE8A8699}"/>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Act within narrow, reversible limits.</a:t>
            </a:r>
          </a:p>
        </p:txBody>
      </p:sp>
      <p:sp>
        <p:nvSpPr>
          <p:cNvPr id="27" name="">
            <a:extLst xmlns:a="http://schemas.openxmlformats.org/drawingml/2006/main">
              <a:ext uri="{FF2B5EF4-FFF2-40B4-BE49-F238E27FC236}">
                <a16:creationId xmlns:a16="http://schemas.microsoft.com/office/drawing/2014/main" id="{D91E0E17-7597-4D63-AA22-D7A935C1FF58}"/>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05B6581-1FC3-4A7F-8DA1-D8490A971169}"/>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CD827228-FAE2-40BA-9257-A9EB8B0549E9}"/>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Monitor</a:t>
            </a:r>
          </a:p>
        </p:txBody>
      </p:sp>
      <p:sp>
        <p:nvSpPr>
          <p:cNvPr id="30" name="">
            <a:extLst xmlns:a="http://schemas.openxmlformats.org/drawingml/2006/main">
              <a:ext uri="{FF2B5EF4-FFF2-40B4-BE49-F238E27FC236}">
                <a16:creationId xmlns:a16="http://schemas.microsoft.com/office/drawing/2014/main" id="{3EB9B5FD-2BFC-412A-BA21-34CE82BB6106}"/>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Run repeatedly with logs, thresholds, and stop conditions.</a:t>
            </a:r>
          </a:p>
        </p:txBody>
      </p:sp>
    </p:spTree>
    <p:extLst>
      <p:ext uri="{BB962C8B-B14F-4D97-AF65-F5344CB8AC3E}">
        <p14:creationId xmlns:p14="http://schemas.microsoft.com/office/powerpoint/2010/main" val="2097121024"/>
      </p:ext>
    </p:extLst>
  </p:cSld>
</p:sld>
</file>

<file path=ppt/slides/slide26.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6">
            <a:extLst xmlns:a="http://schemas.openxmlformats.org/drawingml/2006/main">
              <a:ext uri="{FF2B5EF4-FFF2-40B4-BE49-F238E27FC236}">
                <a16:creationId xmlns:a16="http://schemas.microsoft.com/office/drawing/2014/main" id="{5C018F11-FE0D-4E50-8492-5A2EC40F6036}"/>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C43C4A-3EBF-4AD2-B58D-FF0400399968}"/>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26</a:t>
            </a:r>
          </a:p>
        </p:txBody>
      </p:sp>
      <p:sp>
        <p:nvSpPr>
          <p:cNvPr id="3" name="">
            <a:extLst xmlns:a="http://schemas.openxmlformats.org/drawingml/2006/main">
              <a:ext uri="{FF2B5EF4-FFF2-40B4-BE49-F238E27FC236}">
                <a16:creationId xmlns:a16="http://schemas.microsoft.com/office/drawing/2014/main" id="{8CD2D8AA-6E68-4242-8F2E-934EF4D93EC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A29C98B2-F818-4285-AB84-83C8B4FA1DA4}"/>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85A486-2BA1-47E2-ACA0-325E4ACE07EE}"/>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5829C8F-674B-4E7F-B146-16AB1F54F683}"/>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01FA8A4-6B80-463B-B807-AB7ADD066770}"/>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BBA333-C8F4-407F-B06A-93464FF61B50}"/>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0AAC7DA-B692-443E-87AB-1EA75D95E3F1}"/>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6">
            <a:extLst xmlns:a="http://schemas.openxmlformats.org/drawingml/2006/main">
              <a:ext uri="{FF2B5EF4-FFF2-40B4-BE49-F238E27FC236}">
                <a16:creationId xmlns:a16="http://schemas.microsoft.com/office/drawing/2014/main" id="{048A5CD0-9997-45AB-9619-C70A11335207}"/>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F6EA95-8552-484B-93C8-A24EEEA952C4}"/>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9329F76A-D762-4592-BBB9-289AFE6F8664}"/>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Failure is usually systemic</a:t>
            </a:r>
          </a:p>
        </p:txBody>
      </p:sp>
      <p:sp>
        <p:nvSpPr>
          <p:cNvPr id="13" name="">
            <a:extLst xmlns:a="http://schemas.openxmlformats.org/drawingml/2006/main">
              <a:ext uri="{FF2B5EF4-FFF2-40B4-BE49-F238E27FC236}">
                <a16:creationId xmlns:a16="http://schemas.microsoft.com/office/drawing/2014/main" id="{3A495F3D-3F08-440E-9D7A-400458E38306}"/>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005B5B0-8E4C-4CB8-83E2-D10191F33B29}"/>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KNOWLEDGE</a:t>
            </a:r>
          </a:p>
        </p:txBody>
      </p:sp>
      <p:sp>
        <p:nvSpPr>
          <p:cNvPr id="15" name="">
            <a:extLst xmlns:a="http://schemas.openxmlformats.org/drawingml/2006/main">
              <a:ext uri="{FF2B5EF4-FFF2-40B4-BE49-F238E27FC236}">
                <a16:creationId xmlns:a16="http://schemas.microsoft.com/office/drawing/2014/main" id="{09F0A1DE-F11F-4467-9595-9A1716FEB218}"/>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1D2A66E-BB75-4CF6-8363-CD39E6C87DE4}"/>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Hallucinated facts, stale evidence, weak retrieval, missing context.</a:t>
            </a:r>
          </a:p>
        </p:txBody>
      </p:sp>
      <p:sp>
        <p:nvSpPr>
          <p:cNvPr id="17" name="">
            <a:extLst xmlns:a="http://schemas.openxmlformats.org/drawingml/2006/main">
              <a:ext uri="{FF2B5EF4-FFF2-40B4-BE49-F238E27FC236}">
                <a16:creationId xmlns:a16="http://schemas.microsoft.com/office/drawing/2014/main" id="{5027ADAF-DFA2-467F-9533-2F421A30E0AF}"/>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ACTION</a:t>
            </a:r>
          </a:p>
        </p:txBody>
      </p:sp>
      <p:sp>
        <p:nvSpPr>
          <p:cNvPr id="18" name="">
            <a:extLst xmlns:a="http://schemas.openxmlformats.org/drawingml/2006/main">
              <a:ext uri="{FF2B5EF4-FFF2-40B4-BE49-F238E27FC236}">
                <a16:creationId xmlns:a16="http://schemas.microsoft.com/office/drawing/2014/main" id="{5DC4306E-EF57-470C-8D8D-B8E55B2A1E95}"/>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C955921-7937-47F7-BAF2-BB239C4A8B5B}"/>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Wrong tool, malformed arguments, unintended writes, repeated loops.</a:t>
            </a:r>
          </a:p>
        </p:txBody>
      </p:sp>
      <p:sp>
        <p:nvSpPr>
          <p:cNvPr id="20" name="">
            <a:extLst xmlns:a="http://schemas.openxmlformats.org/drawingml/2006/main">
              <a:ext uri="{FF2B5EF4-FFF2-40B4-BE49-F238E27FC236}">
                <a16:creationId xmlns:a16="http://schemas.microsoft.com/office/drawing/2014/main" id="{88F702B5-405D-47E1-8EB9-80233E6B9F64}"/>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GOVERNANCE</a:t>
            </a:r>
          </a:p>
        </p:txBody>
      </p:sp>
      <p:sp>
        <p:nvSpPr>
          <p:cNvPr id="21" name="">
            <a:extLst xmlns:a="http://schemas.openxmlformats.org/drawingml/2006/main">
              <a:ext uri="{FF2B5EF4-FFF2-40B4-BE49-F238E27FC236}">
                <a16:creationId xmlns:a16="http://schemas.microsoft.com/office/drawing/2014/main" id="{AE9D2048-E757-4F5D-B2C0-CEF2BB3A5AAC}"/>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515460E-2CBA-4D99-88C0-1128101EF359}"/>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Unclear ownership, hidden provenance, privacy leakage, premature publication.</a:t>
            </a:r>
          </a:p>
        </p:txBody>
      </p:sp>
    </p:spTree>
    <p:extLst>
      <p:ext uri="{BB962C8B-B14F-4D97-AF65-F5344CB8AC3E}">
        <p14:creationId xmlns:p14="http://schemas.microsoft.com/office/powerpoint/2010/main" val="1617591089"/>
      </p:ext>
    </p:extLst>
  </p:cSld>
</p:sld>
</file>

<file path=ppt/slides/slide27.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3" name="metadata-rail-27">
            <a:extLst xmlns:a="http://schemas.openxmlformats.org/drawingml/2006/main">
              <a:ext uri="{FF2B5EF4-FFF2-40B4-BE49-F238E27FC236}">
                <a16:creationId xmlns:a16="http://schemas.microsoft.com/office/drawing/2014/main" id="{43F7F84E-8CFF-4C8A-9054-95DEED4ED903}"/>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009B6C-23F8-4638-91DF-6FD699D8EF59}"/>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27</a:t>
            </a:r>
          </a:p>
        </p:txBody>
      </p:sp>
      <p:sp>
        <p:nvSpPr>
          <p:cNvPr id="3" name="">
            <a:extLst xmlns:a="http://schemas.openxmlformats.org/drawingml/2006/main">
              <a:ext uri="{FF2B5EF4-FFF2-40B4-BE49-F238E27FC236}">
                <a16:creationId xmlns:a16="http://schemas.microsoft.com/office/drawing/2014/main" id="{70A8E3D4-0A2F-4D3F-B5FF-E50B16FAB6F5}"/>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DF86DB4E-18FC-40BA-A7BB-4DE9EEF5D90A}"/>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B226FB0-B657-4D65-9E15-594E2093857A}"/>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353C4EE-479A-4917-B2B4-44D088C02E1D}"/>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62B6AB-6BC0-4188-A819-A9A5A0239351}"/>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6BEA57-2246-40B5-AF5C-142A4510E392}"/>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1BDBE7-4189-42B3-8761-DE89A1164ACB}"/>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7">
            <a:extLst xmlns:a="http://schemas.openxmlformats.org/drawingml/2006/main">
              <a:ext uri="{FF2B5EF4-FFF2-40B4-BE49-F238E27FC236}">
                <a16:creationId xmlns:a16="http://schemas.microsoft.com/office/drawing/2014/main" id="{FDE98371-AC84-4F26-AA52-30EE0809571B}"/>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A7047D-4141-4AF0-B969-7C142C2B4151}"/>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D9325F74-A75F-4944-B27E-50F03395127B}"/>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Keep the human at the decision boundary</a:t>
            </a:r>
          </a:p>
        </p:txBody>
      </p:sp>
      <p:sp>
        <p:nvSpPr>
          <p:cNvPr id="13" name="">
            <a:extLst xmlns:a="http://schemas.openxmlformats.org/drawingml/2006/main">
              <a:ext uri="{FF2B5EF4-FFF2-40B4-BE49-F238E27FC236}">
                <a16:creationId xmlns:a16="http://schemas.microsoft.com/office/drawing/2014/main" id="{368FA712-BB2B-40FA-9CE4-FD0E7A0D8724}"/>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2794B0-3B5A-47D3-9727-F5E86E072450}"/>
              </a:ext>
            </a:extLst>
          </p:cNvPr>
          <p:cNvSpPr>
            <a:spLocks xmlns:a="http://schemas.openxmlformats.org/drawingml/2006/main" noGrp="1"/>
          </p:cNvSpPr>
          <p:nvPr/>
        </p:nvSpPr>
        <p:spPr>
          <a:xfrm xmlns:a="http://schemas.openxmlformats.org/drawingml/2006/main">
            <a:off x="914400" y="20002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FFC000"/>
                </a:solidFill>
              </a:defRPr>
            </a:pPr>
            <a:r>
              <a:rPr sz="1275" b="1" i="0">
                <a:solidFill>
                  <a:srgbClr val="FFC000"/>
                </a:solidFill>
              </a:rPr>
              <a:t>AREA</a:t>
            </a:r>
          </a:p>
        </p:txBody>
      </p:sp>
      <p:sp>
        <p:nvSpPr>
          <p:cNvPr id="15" name="">
            <a:extLst xmlns:a="http://schemas.openxmlformats.org/drawingml/2006/main">
              <a:ext uri="{FF2B5EF4-FFF2-40B4-BE49-F238E27FC236}">
                <a16:creationId xmlns:a16="http://schemas.microsoft.com/office/drawing/2014/main" id="{BCA351AF-1BA5-4B08-8C29-2EABFADDB246}"/>
              </a:ext>
            </a:extLst>
          </p:cNvPr>
          <p:cNvSpPr>
            <a:spLocks xmlns:a="http://schemas.openxmlformats.org/drawingml/2006/main" noGrp="1"/>
          </p:cNvSpPr>
          <p:nvPr/>
        </p:nvSpPr>
        <p:spPr>
          <a:xfrm xmlns:a="http://schemas.openxmlformats.org/drawingml/2006/main">
            <a:off x="3429000" y="2000250"/>
            <a:ext cx="3524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FFC000"/>
                </a:solidFill>
              </a:defRPr>
            </a:pPr>
            <a:r>
              <a:rPr sz="1275" b="1" i="0">
                <a:solidFill>
                  <a:srgbClr val="FFC000"/>
                </a:solidFill>
              </a:rPr>
              <a:t>AGENT PREPARES</a:t>
            </a:r>
          </a:p>
        </p:txBody>
      </p:sp>
      <p:sp>
        <p:nvSpPr>
          <p:cNvPr id="16" name="">
            <a:extLst xmlns:a="http://schemas.openxmlformats.org/drawingml/2006/main">
              <a:ext uri="{FF2B5EF4-FFF2-40B4-BE49-F238E27FC236}">
                <a16:creationId xmlns:a16="http://schemas.microsoft.com/office/drawing/2014/main" id="{BE810B58-36CA-4C44-B53A-BDFC2455DD9F}"/>
              </a:ext>
            </a:extLst>
          </p:cNvPr>
          <p:cNvSpPr>
            <a:spLocks xmlns:a="http://schemas.openxmlformats.org/drawingml/2006/main" noGrp="1"/>
          </p:cNvSpPr>
          <p:nvPr/>
        </p:nvSpPr>
        <p:spPr>
          <a:xfrm xmlns:a="http://schemas.openxmlformats.org/drawingml/2006/main">
            <a:off x="7239000" y="20002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FFC000"/>
                </a:solidFill>
              </a:defRPr>
            </a:pPr>
            <a:r>
              <a:rPr sz="1275" b="1" i="0">
                <a:solidFill>
                  <a:srgbClr val="FFC000"/>
                </a:solidFill>
              </a:rPr>
              <a:t>HUMAN DECIDES</a:t>
            </a:r>
          </a:p>
        </p:txBody>
      </p:sp>
      <p:sp>
        <p:nvSpPr>
          <p:cNvPr id="17" name="">
            <a:extLst xmlns:a="http://schemas.openxmlformats.org/drawingml/2006/main">
              <a:ext uri="{FF2B5EF4-FFF2-40B4-BE49-F238E27FC236}">
                <a16:creationId xmlns:a16="http://schemas.microsoft.com/office/drawing/2014/main" id="{302EEE76-D758-4CE6-9FDD-EF8C77ECC49A}"/>
              </a:ext>
            </a:extLst>
          </p:cNvPr>
          <p:cNvSpPr>
            <a:spLocks xmlns:a="http://schemas.openxmlformats.org/drawingml/2006/main" noGrp="1"/>
          </p:cNvSpPr>
          <p:nvPr/>
        </p:nvSpPr>
        <p:spPr>
          <a:xfrm xmlns:a="http://schemas.openxmlformats.org/drawingml/2006/main">
            <a:off x="914400" y="2400300"/>
            <a:ext cx="100965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422C49A-27E3-4C39-A644-190199039CCF}"/>
              </a:ext>
            </a:extLst>
          </p:cNvPr>
          <p:cNvSpPr>
            <a:spLocks xmlns:a="http://schemas.openxmlformats.org/drawingml/2006/main" noGrp="1"/>
          </p:cNvSpPr>
          <p:nvPr/>
        </p:nvSpPr>
        <p:spPr>
          <a:xfrm xmlns:a="http://schemas.openxmlformats.org/drawingml/2006/main">
            <a:off x="914400" y="26479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650" b="1" i="0">
                <a:solidFill>
                  <a:srgbClr val="FFC000"/>
                </a:solidFill>
              </a:defRPr>
            </a:pPr>
            <a:r>
              <a:rPr sz="1650" b="1" i="0">
                <a:solidFill>
                  <a:srgbClr val="FFC000"/>
                </a:solidFill>
              </a:rPr>
              <a:t>Research</a:t>
            </a:r>
          </a:p>
        </p:txBody>
      </p:sp>
      <p:sp>
        <p:nvSpPr>
          <p:cNvPr id="19" name="">
            <a:extLst xmlns:a="http://schemas.openxmlformats.org/drawingml/2006/main">
              <a:ext uri="{FF2B5EF4-FFF2-40B4-BE49-F238E27FC236}">
                <a16:creationId xmlns:a16="http://schemas.microsoft.com/office/drawing/2014/main" id="{4FD2E150-6DF1-49A8-A32A-DFA51840CAE3}"/>
              </a:ext>
            </a:extLst>
          </p:cNvPr>
          <p:cNvSpPr>
            <a:spLocks xmlns:a="http://schemas.openxmlformats.org/drawingml/2006/main" noGrp="1"/>
          </p:cNvSpPr>
          <p:nvPr/>
        </p:nvSpPr>
        <p:spPr>
          <a:xfrm xmlns:a="http://schemas.openxmlformats.org/drawingml/2006/main">
            <a:off x="3429000" y="26479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Search, organize, draft, compare</a:t>
            </a:r>
          </a:p>
        </p:txBody>
      </p:sp>
      <p:sp>
        <p:nvSpPr>
          <p:cNvPr id="20" name="">
            <a:extLst xmlns:a="http://schemas.openxmlformats.org/drawingml/2006/main">
              <a:ext uri="{FF2B5EF4-FFF2-40B4-BE49-F238E27FC236}">
                <a16:creationId xmlns:a16="http://schemas.microsoft.com/office/drawing/2014/main" id="{48B74C6D-89AB-4582-9A96-3FE572FBC1E1}"/>
              </a:ext>
            </a:extLst>
          </p:cNvPr>
          <p:cNvSpPr>
            <a:spLocks xmlns:a="http://schemas.openxmlformats.org/drawingml/2006/main" noGrp="1"/>
          </p:cNvSpPr>
          <p:nvPr/>
        </p:nvSpPr>
        <p:spPr>
          <a:xfrm xmlns:a="http://schemas.openxmlformats.org/drawingml/2006/main">
            <a:off x="7239000" y="2647950"/>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Validate sources, interpretation, and claims</a:t>
            </a:r>
          </a:p>
        </p:txBody>
      </p:sp>
      <p:sp>
        <p:nvSpPr>
          <p:cNvPr id="21" name="">
            <a:extLst xmlns:a="http://schemas.openxmlformats.org/drawingml/2006/main">
              <a:ext uri="{FF2B5EF4-FFF2-40B4-BE49-F238E27FC236}">
                <a16:creationId xmlns:a16="http://schemas.microsoft.com/office/drawing/2014/main" id="{5E3CC6AE-AD7D-4DF6-8020-1B27C4608B2F}"/>
              </a:ext>
            </a:extLst>
          </p:cNvPr>
          <p:cNvSpPr>
            <a:spLocks xmlns:a="http://schemas.openxmlformats.org/drawingml/2006/main" noGrp="1"/>
          </p:cNvSpPr>
          <p:nvPr/>
        </p:nvSpPr>
        <p:spPr>
          <a:xfrm xmlns:a="http://schemas.openxmlformats.org/drawingml/2006/main">
            <a:off x="914400" y="3390900"/>
            <a:ext cx="10096500" cy="9525"/>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5777310-E4C1-43B6-863B-2A49177EE5AE}"/>
              </a:ext>
            </a:extLst>
          </p:cNvPr>
          <p:cNvSpPr>
            <a:spLocks xmlns:a="http://schemas.openxmlformats.org/drawingml/2006/main" noGrp="1"/>
          </p:cNvSpPr>
          <p:nvPr/>
        </p:nvSpPr>
        <p:spPr>
          <a:xfrm xmlns:a="http://schemas.openxmlformats.org/drawingml/2006/main">
            <a:off x="914400" y="35433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650" b="1" i="0">
                <a:solidFill>
                  <a:srgbClr val="FFC000"/>
                </a:solidFill>
              </a:defRPr>
            </a:pPr>
            <a:r>
              <a:rPr sz="1650" b="1" i="0">
                <a:solidFill>
                  <a:srgbClr val="FFC000"/>
                </a:solidFill>
              </a:rPr>
              <a:t>Education</a:t>
            </a:r>
          </a:p>
        </p:txBody>
      </p:sp>
      <p:sp>
        <p:nvSpPr>
          <p:cNvPr id="23" name="">
            <a:extLst xmlns:a="http://schemas.openxmlformats.org/drawingml/2006/main">
              <a:ext uri="{FF2B5EF4-FFF2-40B4-BE49-F238E27FC236}">
                <a16:creationId xmlns:a16="http://schemas.microsoft.com/office/drawing/2014/main" id="{01F8B55D-3805-47BC-966A-064CC5C810F5}"/>
              </a:ext>
            </a:extLst>
          </p:cNvPr>
          <p:cNvSpPr>
            <a:spLocks xmlns:a="http://schemas.openxmlformats.org/drawingml/2006/main" noGrp="1"/>
          </p:cNvSpPr>
          <p:nvPr/>
        </p:nvSpPr>
        <p:spPr>
          <a:xfrm xmlns:a="http://schemas.openxmlformats.org/drawingml/2006/main">
            <a:off x="3429000" y="35433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Prepare materials, examples, feedback drafts</a:t>
            </a:r>
          </a:p>
        </p:txBody>
      </p:sp>
      <p:sp>
        <p:nvSpPr>
          <p:cNvPr id="24" name="">
            <a:extLst xmlns:a="http://schemas.openxmlformats.org/drawingml/2006/main">
              <a:ext uri="{FF2B5EF4-FFF2-40B4-BE49-F238E27FC236}">
                <a16:creationId xmlns:a16="http://schemas.microsoft.com/office/drawing/2014/main" id="{FF33D9EF-9432-4A9F-A9CB-8A45287BAFBF}"/>
              </a:ext>
            </a:extLst>
          </p:cNvPr>
          <p:cNvSpPr>
            <a:spLocks xmlns:a="http://schemas.openxmlformats.org/drawingml/2006/main" noGrp="1"/>
          </p:cNvSpPr>
          <p:nvPr/>
        </p:nvSpPr>
        <p:spPr>
          <a:xfrm xmlns:a="http://schemas.openxmlformats.org/drawingml/2006/main">
            <a:off x="7239000" y="3543300"/>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Approve objectives, assessment, grades</a:t>
            </a:r>
          </a:p>
        </p:txBody>
      </p:sp>
      <p:sp>
        <p:nvSpPr>
          <p:cNvPr id="25" name="">
            <a:extLst xmlns:a="http://schemas.openxmlformats.org/drawingml/2006/main">
              <a:ext uri="{FF2B5EF4-FFF2-40B4-BE49-F238E27FC236}">
                <a16:creationId xmlns:a16="http://schemas.microsoft.com/office/drawing/2014/main" id="{4A452261-33E6-4757-A768-9CBA47F11429}"/>
              </a:ext>
            </a:extLst>
          </p:cNvPr>
          <p:cNvSpPr>
            <a:spLocks xmlns:a="http://schemas.openxmlformats.org/drawingml/2006/main" noGrp="1"/>
          </p:cNvSpPr>
          <p:nvPr/>
        </p:nvSpPr>
        <p:spPr>
          <a:xfrm xmlns:a="http://schemas.openxmlformats.org/drawingml/2006/main">
            <a:off x="914400" y="4286250"/>
            <a:ext cx="10096500" cy="9525"/>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EAED9A0-31CE-4CBC-B165-5AFF6E90E713}"/>
              </a:ext>
            </a:extLst>
          </p:cNvPr>
          <p:cNvSpPr>
            <a:spLocks xmlns:a="http://schemas.openxmlformats.org/drawingml/2006/main" noGrp="1"/>
          </p:cNvSpPr>
          <p:nvPr/>
        </p:nvSpPr>
        <p:spPr>
          <a:xfrm xmlns:a="http://schemas.openxmlformats.org/drawingml/2006/main">
            <a:off x="914400" y="44386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650" b="1" i="0">
                <a:solidFill>
                  <a:srgbClr val="FFC000"/>
                </a:solidFill>
              </a:defRPr>
            </a:pPr>
            <a:r>
              <a:rPr sz="1650" b="1" i="0">
                <a:solidFill>
                  <a:srgbClr val="FFC000"/>
                </a:solidFill>
              </a:rPr>
              <a:t>Community</a:t>
            </a:r>
          </a:p>
        </p:txBody>
      </p:sp>
      <p:sp>
        <p:nvSpPr>
          <p:cNvPr id="27" name="">
            <a:extLst xmlns:a="http://schemas.openxmlformats.org/drawingml/2006/main">
              <a:ext uri="{FF2B5EF4-FFF2-40B4-BE49-F238E27FC236}">
                <a16:creationId xmlns:a16="http://schemas.microsoft.com/office/drawing/2014/main" id="{6618D098-533F-49C6-AD28-8A1A4D49385E}"/>
              </a:ext>
            </a:extLst>
          </p:cNvPr>
          <p:cNvSpPr>
            <a:spLocks xmlns:a="http://schemas.openxmlformats.org/drawingml/2006/main" noGrp="1"/>
          </p:cNvSpPr>
          <p:nvPr/>
        </p:nvSpPr>
        <p:spPr>
          <a:xfrm xmlns:a="http://schemas.openxmlformats.org/drawingml/2006/main">
            <a:off x="3429000" y="44386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Adapt formats and draft public assets</a:t>
            </a:r>
          </a:p>
        </p:txBody>
      </p:sp>
      <p:sp>
        <p:nvSpPr>
          <p:cNvPr id="28" name="">
            <a:extLst xmlns:a="http://schemas.openxmlformats.org/drawingml/2006/main">
              <a:ext uri="{FF2B5EF4-FFF2-40B4-BE49-F238E27FC236}">
                <a16:creationId xmlns:a16="http://schemas.microsoft.com/office/drawing/2014/main" id="{EB5E16F1-DFD1-43B9-87BF-C75BF130C24E}"/>
              </a:ext>
            </a:extLst>
          </p:cNvPr>
          <p:cNvSpPr>
            <a:spLocks xmlns:a="http://schemas.openxmlformats.org/drawingml/2006/main" noGrp="1"/>
          </p:cNvSpPr>
          <p:nvPr/>
        </p:nvSpPr>
        <p:spPr>
          <a:xfrm xmlns:a="http://schemas.openxmlformats.org/drawingml/2006/main">
            <a:off x="7239000" y="4438650"/>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Confirm consent, context, accessibility</a:t>
            </a:r>
          </a:p>
        </p:txBody>
      </p:sp>
      <p:sp>
        <p:nvSpPr>
          <p:cNvPr id="29" name="">
            <a:extLst xmlns:a="http://schemas.openxmlformats.org/drawingml/2006/main">
              <a:ext uri="{FF2B5EF4-FFF2-40B4-BE49-F238E27FC236}">
                <a16:creationId xmlns:a16="http://schemas.microsoft.com/office/drawing/2014/main" id="{3D1FAFA6-E473-4086-9E3D-7065FB89C043}"/>
              </a:ext>
            </a:extLst>
          </p:cNvPr>
          <p:cNvSpPr>
            <a:spLocks xmlns:a="http://schemas.openxmlformats.org/drawingml/2006/main" noGrp="1"/>
          </p:cNvSpPr>
          <p:nvPr/>
        </p:nvSpPr>
        <p:spPr>
          <a:xfrm xmlns:a="http://schemas.openxmlformats.org/drawingml/2006/main">
            <a:off x="914400" y="5181600"/>
            <a:ext cx="10096500" cy="9525"/>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78AF4E2-AB01-4ABA-BDB5-CED1099D20BC}"/>
              </a:ext>
            </a:extLst>
          </p:cNvPr>
          <p:cNvSpPr>
            <a:spLocks xmlns:a="http://schemas.openxmlformats.org/drawingml/2006/main" noGrp="1"/>
          </p:cNvSpPr>
          <p:nvPr/>
        </p:nvSpPr>
        <p:spPr>
          <a:xfrm xmlns:a="http://schemas.openxmlformats.org/drawingml/2006/main">
            <a:off x="914400" y="533400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650" b="1" i="0">
                <a:solidFill>
                  <a:srgbClr val="FFC000"/>
                </a:solidFill>
              </a:defRPr>
            </a:pPr>
            <a:r>
              <a:rPr sz="1650" b="1" i="0">
                <a:solidFill>
                  <a:srgbClr val="FFC000"/>
                </a:solidFill>
              </a:rPr>
              <a:t>Publication</a:t>
            </a:r>
          </a:p>
        </p:txBody>
      </p:sp>
      <p:sp>
        <p:nvSpPr>
          <p:cNvPr id="31" name="">
            <a:extLst xmlns:a="http://schemas.openxmlformats.org/drawingml/2006/main">
              <a:ext uri="{FF2B5EF4-FFF2-40B4-BE49-F238E27FC236}">
                <a16:creationId xmlns:a16="http://schemas.microsoft.com/office/drawing/2014/main" id="{9CDB5FE9-95F1-4033-B1D7-5D5B39C491F9}"/>
              </a:ext>
            </a:extLst>
          </p:cNvPr>
          <p:cNvSpPr>
            <a:spLocks xmlns:a="http://schemas.openxmlformats.org/drawingml/2006/main" noGrp="1"/>
          </p:cNvSpPr>
          <p:nvPr/>
        </p:nvSpPr>
        <p:spPr>
          <a:xfrm xmlns:a="http://schemas.openxmlformats.org/drawingml/2006/main">
            <a:off x="3429000" y="533400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Assemble a reviewed export</a:t>
            </a:r>
          </a:p>
        </p:txBody>
      </p:sp>
      <p:sp>
        <p:nvSpPr>
          <p:cNvPr id="32" name="">
            <a:extLst xmlns:a="http://schemas.openxmlformats.org/drawingml/2006/main">
              <a:ext uri="{FF2B5EF4-FFF2-40B4-BE49-F238E27FC236}">
                <a16:creationId xmlns:a16="http://schemas.microsoft.com/office/drawing/2014/main" id="{CB9E2039-F139-4619-8C8F-1BB92DCF4FD3}"/>
              </a:ext>
            </a:extLst>
          </p:cNvPr>
          <p:cNvSpPr>
            <a:spLocks xmlns:a="http://schemas.openxmlformats.org/drawingml/2006/main" noGrp="1"/>
          </p:cNvSpPr>
          <p:nvPr/>
        </p:nvSpPr>
        <p:spPr>
          <a:xfrm xmlns:a="http://schemas.openxmlformats.org/drawingml/2006/main">
            <a:off x="7239000" y="5334000"/>
            <a:ext cx="381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425" b="0" i="0">
                <a:solidFill>
                  <a:srgbClr val="FFFFFF"/>
                </a:solidFill>
              </a:defRPr>
            </a:pPr>
            <a:r>
              <a:rPr sz="1425" b="0" i="0">
                <a:solidFill>
                  <a:srgbClr val="FFFFFF"/>
                </a:solidFill>
              </a:rPr>
              <a:t>Approve the exact release</a:t>
            </a:r>
          </a:p>
        </p:txBody>
      </p:sp>
    </p:spTree>
    <p:extLst>
      <p:ext uri="{BB962C8B-B14F-4D97-AF65-F5344CB8AC3E}">
        <p14:creationId xmlns:p14="http://schemas.microsoft.com/office/powerpoint/2010/main" val="177723179"/>
      </p:ext>
    </p:extLst>
  </p:cSld>
</p:sld>
</file>

<file path=ppt/slides/slide28.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28">
            <a:extLst xmlns:a="http://schemas.openxmlformats.org/drawingml/2006/main">
              <a:ext uri="{FF2B5EF4-FFF2-40B4-BE49-F238E27FC236}">
                <a16:creationId xmlns:a16="http://schemas.microsoft.com/office/drawing/2014/main" id="{02A06CAF-9002-4618-B6D6-44A0DE08B911}"/>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1E23BB-1A45-4931-B598-E747337CD1EF}"/>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28</a:t>
            </a:r>
          </a:p>
        </p:txBody>
      </p:sp>
      <p:sp>
        <p:nvSpPr>
          <p:cNvPr id="3" name="">
            <a:extLst xmlns:a="http://schemas.openxmlformats.org/drawingml/2006/main">
              <a:ext uri="{FF2B5EF4-FFF2-40B4-BE49-F238E27FC236}">
                <a16:creationId xmlns:a16="http://schemas.microsoft.com/office/drawing/2014/main" id="{0E6AD9FC-D672-4C27-B781-DB8218DF0253}"/>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THEORY</a:t>
            </a:r>
          </a:p>
        </p:txBody>
      </p:sp>
      <p:sp>
        <p:nvSpPr>
          <p:cNvPr id="4" name="">
            <a:extLst xmlns:a="http://schemas.openxmlformats.org/drawingml/2006/main">
              <a:ext uri="{FF2B5EF4-FFF2-40B4-BE49-F238E27FC236}">
                <a16:creationId xmlns:a16="http://schemas.microsoft.com/office/drawing/2014/main" id="{AC862309-A9D0-4194-8FFF-DF46435F2D51}"/>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7A2D8B-EE3E-4586-859C-E5AB6692A886}"/>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F381C5-CFA4-4F3F-8310-B6C601897604}"/>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FF1619-B383-4638-A6B2-5B2365E44DE7}"/>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50DE9D-2985-4915-A2DC-A68B71592523}"/>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8655E5-E854-4575-9D94-F61B82C142CE}"/>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28">
            <a:extLst xmlns:a="http://schemas.openxmlformats.org/drawingml/2006/main">
              <a:ext uri="{FF2B5EF4-FFF2-40B4-BE49-F238E27FC236}">
                <a16:creationId xmlns:a16="http://schemas.microsoft.com/office/drawing/2014/main" id="{5A0F76C5-2A9B-44AE-8118-84536AE46CD9}"/>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451146C-ACE1-47FE-B3B6-EA2E689B061E}"/>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A248F659-1B9B-46E6-8EE3-B813C485820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Evaluate the whole agent system</a:t>
            </a:r>
          </a:p>
        </p:txBody>
      </p:sp>
      <p:sp>
        <p:nvSpPr>
          <p:cNvPr id="13" name="">
            <a:extLst xmlns:a="http://schemas.openxmlformats.org/drawingml/2006/main">
              <a:ext uri="{FF2B5EF4-FFF2-40B4-BE49-F238E27FC236}">
                <a16:creationId xmlns:a16="http://schemas.microsoft.com/office/drawing/2014/main" id="{F718D0FE-AF0C-4B69-B961-6705BB010BFE}"/>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F45225-9B5B-4C2A-BABE-6E2888461616}"/>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QUALITY</a:t>
            </a:r>
          </a:p>
        </p:txBody>
      </p:sp>
      <p:sp>
        <p:nvSpPr>
          <p:cNvPr id="15" name="">
            <a:extLst xmlns:a="http://schemas.openxmlformats.org/drawingml/2006/main">
              <a:ext uri="{FF2B5EF4-FFF2-40B4-BE49-F238E27FC236}">
                <a16:creationId xmlns:a16="http://schemas.microsoft.com/office/drawing/2014/main" id="{0D61EC9B-C115-43F6-AF1C-E8729F366AC1}"/>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150B5C2-9E78-4056-849A-05067125735F}"/>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Correctness, relevance, clarity, and traceable evidence.</a:t>
            </a:r>
          </a:p>
        </p:txBody>
      </p:sp>
      <p:sp>
        <p:nvSpPr>
          <p:cNvPr id="17" name="">
            <a:extLst xmlns:a="http://schemas.openxmlformats.org/drawingml/2006/main">
              <a:ext uri="{FF2B5EF4-FFF2-40B4-BE49-F238E27FC236}">
                <a16:creationId xmlns:a16="http://schemas.microsoft.com/office/drawing/2014/main" id="{792B41F7-A88C-4FAC-9AAA-13D115BB0C53}"/>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PROCESS</a:t>
            </a:r>
          </a:p>
        </p:txBody>
      </p:sp>
      <p:sp>
        <p:nvSpPr>
          <p:cNvPr id="18" name="">
            <a:extLst xmlns:a="http://schemas.openxmlformats.org/drawingml/2006/main">
              <a:ext uri="{FF2B5EF4-FFF2-40B4-BE49-F238E27FC236}">
                <a16:creationId xmlns:a16="http://schemas.microsoft.com/office/drawing/2014/main" id="{4685675F-552C-48A2-87EF-C71B04DB222D}"/>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E757CF5-667A-42A0-8914-1173F61E5D16}"/>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Task completion, tool reliability, recovery, cost, and time.</a:t>
            </a:r>
          </a:p>
        </p:txBody>
      </p:sp>
      <p:sp>
        <p:nvSpPr>
          <p:cNvPr id="20" name="">
            <a:extLst xmlns:a="http://schemas.openxmlformats.org/drawingml/2006/main">
              <a:ext uri="{FF2B5EF4-FFF2-40B4-BE49-F238E27FC236}">
                <a16:creationId xmlns:a16="http://schemas.microsoft.com/office/drawing/2014/main" id="{A93E1DDC-0A38-4024-8FA6-5D65D10632AE}"/>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RISK</a:t>
            </a:r>
          </a:p>
        </p:txBody>
      </p:sp>
      <p:sp>
        <p:nvSpPr>
          <p:cNvPr id="21" name="">
            <a:extLst xmlns:a="http://schemas.openxmlformats.org/drawingml/2006/main">
              <a:ext uri="{FF2B5EF4-FFF2-40B4-BE49-F238E27FC236}">
                <a16:creationId xmlns:a16="http://schemas.microsoft.com/office/drawing/2014/main" id="{3F400489-CDE0-4C7E-93EE-63795AF4C0A5}"/>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C7AA70A-8E74-42F3-A786-EB5939072547}"/>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Privacy, bias, security, reversibility, and human oversight.</a:t>
            </a:r>
          </a:p>
        </p:txBody>
      </p:sp>
    </p:spTree>
    <p:extLst>
      <p:ext uri="{BB962C8B-B14F-4D97-AF65-F5344CB8AC3E}">
        <p14:creationId xmlns:p14="http://schemas.microsoft.com/office/powerpoint/2010/main" val="1805038081"/>
      </p:ext>
    </p:extLst>
  </p:cSld>
</p:sld>
</file>

<file path=ppt/slides/slide29.xml><?xml version="1.0" encoding="utf-8"?>
<p:sld xmlns:p="http://schemas.openxmlformats.org/presentationml/2006/main">
  <p:cSld>
    <p:bg>
      <p:bgPr>
        <a:solidFill xmlns:a="http://schemas.openxmlformats.org/drawingml/2006/main">
          <a:srgbClr val="F0F2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9D6114-A0B7-4CF6-8DF6-797D9516618F}"/>
              </a:ext>
            </a:extLst>
          </p:cNvPr>
          <p:cNvSpPr>
            <a:spLocks xmlns:a="http://schemas.openxmlformats.org/drawingml/2006/main" noGrp="1"/>
          </p:cNvSpPr>
          <p:nvPr/>
        </p:nvSpPr>
        <p:spPr>
          <a:xfrm xmlns:a="http://schemas.openxmlformats.org/drawingml/2006/main">
            <a:off x="0" y="0"/>
            <a:ext cx="3714750" cy="6858000"/>
          </a:xfrm>
          <a:prstGeom xmlns:a="http://schemas.openxmlformats.org/drawingml/2006/main" prst="rect">
            <a:avLst/>
          </a:prstGeom>
          <a:solidFill xmlns:a="http://schemas.openxmlformats.org/drawingml/2006/main">
            <a:srgbClr val="EFB8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B1BFF38-2551-4012-9AFC-CFF5869854CA}"/>
              </a:ext>
            </a:extLst>
          </p:cNvPr>
          <p:cNvSpPr>
            <a:spLocks xmlns:a="http://schemas.openxmlformats.org/drawingml/2006/main" noGrp="1"/>
          </p:cNvSpPr>
          <p:nvPr/>
        </p:nvSpPr>
        <p:spPr>
          <a:xfrm xmlns:a="http://schemas.openxmlformats.org/drawingml/2006/main">
            <a:off x="3714750" y="0"/>
            <a:ext cx="8096250" cy="6858000"/>
          </a:xfrm>
          <a:prstGeom xmlns:a="http://schemas.openxmlformats.org/drawingml/2006/main" prst="rect">
            <a:avLst/>
          </a:prstGeom>
          <a:solidFill xmlns:a="http://schemas.openxmlformats.org/drawingml/2006/main">
            <a:srgbClr val="014A7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C43549-79AE-43A8-BBC5-B10A4CD9B4E3}"/>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A5C7BC0-1E7F-4893-878D-558BC6BD8735}"/>
              </a:ext>
            </a:extLst>
          </p:cNvPr>
          <p:cNvSpPr>
            <a:spLocks xmlns:a="http://schemas.openxmlformats.org/drawingml/2006/main" noGrp="1"/>
          </p:cNvSpPr>
          <p:nvPr/>
        </p:nvSpPr>
        <p:spPr>
          <a:xfrm xmlns:a="http://schemas.openxmlformats.org/drawingml/2006/main">
            <a:off x="762000" y="876300"/>
            <a:ext cx="238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8850" b="1" i="0">
                <a:solidFill>
                  <a:srgbClr val="014A74"/>
                </a:solidFill>
              </a:defRPr>
            </a:pPr>
            <a:r>
              <a:rPr sz="8850" b="1" i="0">
                <a:solidFill>
                  <a:srgbClr val="014A74"/>
                </a:solidFill>
              </a:rPr>
              <a:t>03</a:t>
            </a:r>
          </a:p>
        </p:txBody>
      </p:sp>
      <p:sp>
        <p:nvSpPr>
          <p:cNvPr id="5" name="">
            <a:extLst xmlns:a="http://schemas.openxmlformats.org/drawingml/2006/main">
              <a:ext uri="{FF2B5EF4-FFF2-40B4-BE49-F238E27FC236}">
                <a16:creationId xmlns:a16="http://schemas.microsoft.com/office/drawing/2014/main" id="{E7221048-83AF-4103-A046-AE4F22979EA4}"/>
              </a:ext>
            </a:extLst>
          </p:cNvPr>
          <p:cNvSpPr>
            <a:spLocks xmlns:a="http://schemas.openxmlformats.org/drawingml/2006/main" noGrp="1"/>
          </p:cNvSpPr>
          <p:nvPr/>
        </p:nvSpPr>
        <p:spPr>
          <a:xfrm xmlns:a="http://schemas.openxmlformats.org/drawingml/2006/main">
            <a:off x="4381500" y="171450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4350" b="0" i="0">
                <a:solidFill>
                  <a:srgbClr val="FFFFFF"/>
                </a:solidFill>
              </a:defRPr>
            </a:pPr>
            <a:r>
              <a:rPr sz="4350" b="0" i="0">
                <a:solidFill>
                  <a:srgbClr val="FFFFFF"/>
                </a:solidFill>
              </a:rPr>
              <a:t>ACADEMIC DESIGN</a:t>
            </a:r>
          </a:p>
        </p:txBody>
      </p:sp>
      <p:sp>
        <p:nvSpPr>
          <p:cNvPr id="6" name="">
            <a:extLst xmlns:a="http://schemas.openxmlformats.org/drawingml/2006/main">
              <a:ext uri="{FF2B5EF4-FFF2-40B4-BE49-F238E27FC236}">
                <a16:creationId xmlns:a16="http://schemas.microsoft.com/office/drawing/2014/main" id="{17733D39-D61D-4E41-B921-84A2F6DF5E81}"/>
              </a:ext>
            </a:extLst>
          </p:cNvPr>
          <p:cNvSpPr>
            <a:spLocks xmlns:a="http://schemas.openxmlformats.org/drawingml/2006/main" noGrp="1"/>
          </p:cNvSpPr>
          <p:nvPr/>
        </p:nvSpPr>
        <p:spPr>
          <a:xfrm xmlns:a="http://schemas.openxmlformats.org/drawingml/2006/main">
            <a:off x="4419600" y="3562350"/>
            <a:ext cx="619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Map one agentic workspace to the distinct responsibilities of Tri Dharma.</a:t>
            </a:r>
          </a:p>
        </p:txBody>
      </p:sp>
      <p:sp>
        <p:nvSpPr>
          <p:cNvPr id="7" name="">
            <a:extLst xmlns:a="http://schemas.openxmlformats.org/drawingml/2006/main">
              <a:ext uri="{FF2B5EF4-FFF2-40B4-BE49-F238E27FC236}">
                <a16:creationId xmlns:a16="http://schemas.microsoft.com/office/drawing/2014/main" id="{D12CCF94-DBDB-4B99-9E4D-6E382D356DEB}"/>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ctr">
              <a:defRPr sz="1050" b="1" i="0">
                <a:solidFill>
                  <a:srgbClr val="014A74"/>
                </a:solidFill>
              </a:defRPr>
            </a:pPr>
            <a:r>
              <a:rPr sz="1050" b="1" i="0">
                <a:solidFill>
                  <a:srgbClr val="014A74"/>
                </a:solidFill>
              </a:rPr>
              <a:t>29</a:t>
            </a:r>
          </a:p>
        </p:txBody>
      </p:sp>
      <p:sp>
        <p:nvSpPr>
          <p:cNvPr id="8" name="">
            <a:extLst xmlns:a="http://schemas.openxmlformats.org/drawingml/2006/main">
              <a:ext uri="{FF2B5EF4-FFF2-40B4-BE49-F238E27FC236}">
                <a16:creationId xmlns:a16="http://schemas.microsoft.com/office/drawing/2014/main" id="{8C4CBC7C-2C99-4B7D-A6E0-B4C258E4435A}"/>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014A74"/>
                </a:solidFill>
              </a:defRPr>
            </a:pPr>
            <a:r>
              <a:rPr sz="975" b="1" i="0">
                <a:solidFill>
                  <a:srgbClr val="014A74"/>
                </a:solidFill>
              </a:rPr>
              <a:t>CREATED WITH AFK RESEARCH</a:t>
            </a:r>
          </a:p>
        </p:txBody>
      </p:sp>
    </p:spTree>
    <p:extLst>
      <p:ext uri="{BB962C8B-B14F-4D97-AF65-F5344CB8AC3E}">
        <p14:creationId xmlns:p14="http://schemas.microsoft.com/office/powerpoint/2010/main" val="506151166"/>
      </p:ext>
    </p:extLst>
  </p:cSld>
</p:sld>
</file>

<file path=ppt/slides/slide30.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6" name="metadata-rail-30">
            <a:extLst xmlns:a="http://schemas.openxmlformats.org/drawingml/2006/main">
              <a:ext uri="{FF2B5EF4-FFF2-40B4-BE49-F238E27FC236}">
                <a16:creationId xmlns:a16="http://schemas.microsoft.com/office/drawing/2014/main" id="{AF5FBB21-12C9-419D-B364-C4436ED2EE49}"/>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B3D45B-3CEC-4AE3-854F-FD38161920C5}"/>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30</a:t>
            </a:r>
          </a:p>
        </p:txBody>
      </p:sp>
      <p:sp>
        <p:nvSpPr>
          <p:cNvPr id="3" name="">
            <a:extLst xmlns:a="http://schemas.openxmlformats.org/drawingml/2006/main">
              <a:ext uri="{FF2B5EF4-FFF2-40B4-BE49-F238E27FC236}">
                <a16:creationId xmlns:a16="http://schemas.microsoft.com/office/drawing/2014/main" id="{65A269B6-90D0-462E-A890-61472D60C9B8}"/>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E8B82DBF-184E-44F8-A577-D48A7A3D8515}"/>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3C7F63A-580E-4B4D-8573-88A79FD5D02A}"/>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74C0FC4-24DA-48E5-820A-325B9993FA47}"/>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32DB0FD-BA77-4E80-864C-323D514A089B}"/>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92F337-C66B-49BD-8C4C-8C9664AD7A0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8905648-9B8D-48BB-A706-75496FDDFE77}"/>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0">
            <a:extLst xmlns:a="http://schemas.openxmlformats.org/drawingml/2006/main">
              <a:ext uri="{FF2B5EF4-FFF2-40B4-BE49-F238E27FC236}">
                <a16:creationId xmlns:a16="http://schemas.microsoft.com/office/drawing/2014/main" id="{213CD91E-2A4D-4EC4-A4E1-5960A0A4FCEA}"/>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55600B-8C7B-4F10-BFF6-353B942272CD}"/>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E76A76E9-735B-48E4-87C3-E484A3069F1C}"/>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Three obligations need three operational homes</a:t>
            </a:r>
          </a:p>
        </p:txBody>
      </p:sp>
      <p:sp>
        <p:nvSpPr>
          <p:cNvPr id="13" name="">
            <a:extLst xmlns:a="http://schemas.openxmlformats.org/drawingml/2006/main">
              <a:ext uri="{FF2B5EF4-FFF2-40B4-BE49-F238E27FC236}">
                <a16:creationId xmlns:a16="http://schemas.microsoft.com/office/drawing/2014/main" id="{1D400372-527D-47D7-A3A3-5A9E561A547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BDB2C65-1088-4698-B825-CAF7EA42A00E}"/>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.BRAIN</a:t>
            </a:r>
          </a:p>
        </p:txBody>
      </p:sp>
      <p:sp>
        <p:nvSpPr>
          <p:cNvPr id="15" name="">
            <a:extLst xmlns:a="http://schemas.openxmlformats.org/drawingml/2006/main">
              <a:ext uri="{FF2B5EF4-FFF2-40B4-BE49-F238E27FC236}">
                <a16:creationId xmlns:a16="http://schemas.microsoft.com/office/drawing/2014/main" id="{5280C364-E944-4553-8E65-A77EE94A9E52}"/>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230C9A1-5052-4E08-A704-AB81B5B40200}"/>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Sources, knowledge, questions, syntheses, and research outputs.</a:t>
            </a:r>
          </a:p>
        </p:txBody>
      </p:sp>
      <p:sp>
        <p:nvSpPr>
          <p:cNvPr id="17" name="">
            <a:extLst xmlns:a="http://schemas.openxmlformats.org/drawingml/2006/main">
              <a:ext uri="{FF2B5EF4-FFF2-40B4-BE49-F238E27FC236}">
                <a16:creationId xmlns:a16="http://schemas.microsoft.com/office/drawing/2014/main" id="{A96F76C0-03A6-464F-BFA2-C613F62B1D15}"/>
              </a:ext>
            </a:extLst>
          </p:cNvPr>
          <p:cNvSpPr>
            <a:spLocks xmlns:a="http://schemas.openxmlformats.org/drawingml/2006/main" noGrp="1"/>
          </p:cNvSpPr>
          <p:nvPr/>
        </p:nvSpPr>
        <p:spPr>
          <a:xfrm xmlns:a="http://schemas.openxmlformats.org/drawingml/2006/main">
            <a:off x="914400" y="552450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C8D5DC"/>
                </a:solidFill>
              </a:defRPr>
            </a:pPr>
            <a:r>
              <a:rPr sz="1275" b="1" i="0">
                <a:solidFill>
                  <a:srgbClr val="C8D5DC"/>
                </a:solidFill>
              </a:rPr>
              <a:t>Research continuity</a:t>
            </a:r>
          </a:p>
        </p:txBody>
      </p:sp>
      <p:sp>
        <p:nvSpPr>
          <p:cNvPr id="18" name="">
            <a:extLst xmlns:a="http://schemas.openxmlformats.org/drawingml/2006/main">
              <a:ext uri="{FF2B5EF4-FFF2-40B4-BE49-F238E27FC236}">
                <a16:creationId xmlns:a16="http://schemas.microsoft.com/office/drawing/2014/main" id="{87917604-F9E4-4F58-8A7A-6878ED809E8A}"/>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.SCHEDULE</a:t>
            </a:r>
          </a:p>
        </p:txBody>
      </p:sp>
      <p:sp>
        <p:nvSpPr>
          <p:cNvPr id="19" name="">
            <a:extLst xmlns:a="http://schemas.openxmlformats.org/drawingml/2006/main">
              <a:ext uri="{FF2B5EF4-FFF2-40B4-BE49-F238E27FC236}">
                <a16:creationId xmlns:a16="http://schemas.microsoft.com/office/drawing/2014/main" id="{F53921B1-5372-45BA-B3EA-12698D7B4D38}"/>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E19E2EF-D6A0-4BA7-BF55-58083FD32F6A}"/>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Recurring prompts, teaching rhythms, checks, and planned follow-ups.</a:t>
            </a:r>
          </a:p>
        </p:txBody>
      </p:sp>
      <p:sp>
        <p:nvSpPr>
          <p:cNvPr id="21" name="">
            <a:extLst xmlns:a="http://schemas.openxmlformats.org/drawingml/2006/main">
              <a:ext uri="{FF2B5EF4-FFF2-40B4-BE49-F238E27FC236}">
                <a16:creationId xmlns:a16="http://schemas.microsoft.com/office/drawing/2014/main" id="{AD2BAD61-A0FE-400A-92C9-15B0C8B2BFE5}"/>
              </a:ext>
            </a:extLst>
          </p:cNvPr>
          <p:cNvSpPr>
            <a:spLocks xmlns:a="http://schemas.openxmlformats.org/drawingml/2006/main" noGrp="1"/>
          </p:cNvSpPr>
          <p:nvPr/>
        </p:nvSpPr>
        <p:spPr>
          <a:xfrm xmlns:a="http://schemas.openxmlformats.org/drawingml/2006/main">
            <a:off x="4457700" y="552450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C8D5DC"/>
                </a:solidFill>
              </a:defRPr>
            </a:pPr>
            <a:r>
              <a:rPr sz="1275" b="1" i="0">
                <a:solidFill>
                  <a:srgbClr val="C8D5DC"/>
                </a:solidFill>
              </a:rPr>
              <a:t>Operational continuity</a:t>
            </a:r>
          </a:p>
        </p:txBody>
      </p:sp>
      <p:sp>
        <p:nvSpPr>
          <p:cNvPr id="22" name="">
            <a:extLst xmlns:a="http://schemas.openxmlformats.org/drawingml/2006/main">
              <a:ext uri="{FF2B5EF4-FFF2-40B4-BE49-F238E27FC236}">
                <a16:creationId xmlns:a16="http://schemas.microsoft.com/office/drawing/2014/main" id="{AEAA3395-9871-4CC9-A1AD-464B356061BF}"/>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.DESIGN</a:t>
            </a:r>
          </a:p>
        </p:txBody>
      </p:sp>
      <p:sp>
        <p:nvSpPr>
          <p:cNvPr id="23" name="">
            <a:extLst xmlns:a="http://schemas.openxmlformats.org/drawingml/2006/main">
              <a:ext uri="{FF2B5EF4-FFF2-40B4-BE49-F238E27FC236}">
                <a16:creationId xmlns:a16="http://schemas.microsoft.com/office/drawing/2014/main" id="{2B44C44F-D79D-4DA2-9BC3-D26B55EF4009}"/>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7CB312B-624D-42C6-8587-39B5505271D7}"/>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Visual rules, templates, examples, and consistent audience-facing artifacts.</a:t>
            </a:r>
          </a:p>
        </p:txBody>
      </p:sp>
      <p:sp>
        <p:nvSpPr>
          <p:cNvPr id="25" name="">
            <a:extLst xmlns:a="http://schemas.openxmlformats.org/drawingml/2006/main">
              <a:ext uri="{FF2B5EF4-FFF2-40B4-BE49-F238E27FC236}">
                <a16:creationId xmlns:a16="http://schemas.microsoft.com/office/drawing/2014/main" id="{17A2E7CD-65D4-40CE-88E1-49F9D3813C45}"/>
              </a:ext>
            </a:extLst>
          </p:cNvPr>
          <p:cNvSpPr>
            <a:spLocks xmlns:a="http://schemas.openxmlformats.org/drawingml/2006/main" noGrp="1"/>
          </p:cNvSpPr>
          <p:nvPr/>
        </p:nvSpPr>
        <p:spPr>
          <a:xfrm xmlns:a="http://schemas.openxmlformats.org/drawingml/2006/main">
            <a:off x="8001000" y="5524500"/>
            <a:ext cx="3200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75" b="1" i="0">
                <a:solidFill>
                  <a:srgbClr val="C8D5DC"/>
                </a:solidFill>
              </a:defRPr>
            </a:pPr>
            <a:r>
              <a:rPr sz="1275" b="1" i="0">
                <a:solidFill>
                  <a:srgbClr val="C8D5DC"/>
                </a:solidFill>
              </a:rPr>
              <a:t>Communication continuity</a:t>
            </a:r>
          </a:p>
        </p:txBody>
      </p:sp>
    </p:spTree>
    <p:extLst>
      <p:ext uri="{BB962C8B-B14F-4D97-AF65-F5344CB8AC3E}">
        <p14:creationId xmlns:p14="http://schemas.microsoft.com/office/powerpoint/2010/main" val="1107179368"/>
      </p:ext>
    </p:extLst>
  </p:cSld>
</p:sld>
</file>

<file path=ppt/slides/slide31.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31">
            <a:extLst xmlns:a="http://schemas.openxmlformats.org/drawingml/2006/main">
              <a:ext uri="{FF2B5EF4-FFF2-40B4-BE49-F238E27FC236}">
                <a16:creationId xmlns:a16="http://schemas.microsoft.com/office/drawing/2014/main" id="{D8996F16-66FB-43FB-B461-6E9C3A117F75}"/>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61A8FC-B4AF-45E9-8DD7-8D30ECF938D5}"/>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31</a:t>
            </a:r>
          </a:p>
        </p:txBody>
      </p:sp>
      <p:sp>
        <p:nvSpPr>
          <p:cNvPr id="3" name="">
            <a:extLst xmlns:a="http://schemas.openxmlformats.org/drawingml/2006/main">
              <a:ext uri="{FF2B5EF4-FFF2-40B4-BE49-F238E27FC236}">
                <a16:creationId xmlns:a16="http://schemas.microsoft.com/office/drawing/2014/main" id="{85B90AC4-7036-404B-9D92-9B550CADB9FF}"/>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E2F70936-BF24-47AF-B04B-49310313A724}"/>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62A4AF-809F-4688-B1AF-7DAFC8A60CF8}"/>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BFB74D-D839-4CF9-9F4E-ED99AB8056A9}"/>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FB9B403-3D03-40CB-BF0C-4BEF61113506}"/>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1F28E1-1E43-49C3-B576-1C5BDAD8406E}"/>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6D49065-2042-4550-96FF-70159BBC54F0}"/>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1">
            <a:extLst xmlns:a="http://schemas.openxmlformats.org/drawingml/2006/main">
              <a:ext uri="{FF2B5EF4-FFF2-40B4-BE49-F238E27FC236}">
                <a16:creationId xmlns:a16="http://schemas.microsoft.com/office/drawing/2014/main" id="{75ABC129-E840-4AD5-9E2B-0532238479B7}"/>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8023B1A-759D-4E69-A5FA-0E3F6FCD2CA8}"/>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06CD3C39-734B-49A6-B456-0FBC0AA1A9F6}"/>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One source, three reviewed outcomes</a:t>
            </a:r>
          </a:p>
        </p:txBody>
      </p:sp>
      <p:sp>
        <p:nvSpPr>
          <p:cNvPr id="13" name="">
            <a:extLst xmlns:a="http://schemas.openxmlformats.org/drawingml/2006/main">
              <a:ext uri="{FF2B5EF4-FFF2-40B4-BE49-F238E27FC236}">
                <a16:creationId xmlns:a16="http://schemas.microsoft.com/office/drawing/2014/main" id="{79D043CB-F4F3-49DA-8E50-9845F699E2CA}"/>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9F89F0-E68E-4463-BA81-2EBC25FA73FF}"/>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04E3450-8A5A-4B7D-BDCB-6DCA5DB57794}"/>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29AF2FC-9C1B-4429-97F8-85413E0C1760}"/>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6ADB08AB-BCD5-4F51-A5F8-5AAC7107E969}"/>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Ingest</a:t>
            </a:r>
          </a:p>
        </p:txBody>
      </p:sp>
      <p:sp>
        <p:nvSpPr>
          <p:cNvPr id="18" name="">
            <a:extLst xmlns:a="http://schemas.openxmlformats.org/drawingml/2006/main">
              <a:ext uri="{FF2B5EF4-FFF2-40B4-BE49-F238E27FC236}">
                <a16:creationId xmlns:a16="http://schemas.microsoft.com/office/drawing/2014/main" id="{FDD4890C-1FD4-46F0-80D3-B13C874F9C9B}"/>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Capture the source and its provenance.</a:t>
            </a:r>
          </a:p>
        </p:txBody>
      </p:sp>
      <p:sp>
        <p:nvSpPr>
          <p:cNvPr id="19" name="">
            <a:extLst xmlns:a="http://schemas.openxmlformats.org/drawingml/2006/main">
              <a:ext uri="{FF2B5EF4-FFF2-40B4-BE49-F238E27FC236}">
                <a16:creationId xmlns:a16="http://schemas.microsoft.com/office/drawing/2014/main" id="{41CDC62A-4B99-4B64-AFD5-B223904BBA45}"/>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7C2CD3A-6290-4552-84B7-17464E33C6AB}"/>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2332DE8F-A5EC-44AE-AA6B-5B8F9C90472D}"/>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Synthesize</a:t>
            </a:r>
          </a:p>
        </p:txBody>
      </p:sp>
      <p:sp>
        <p:nvSpPr>
          <p:cNvPr id="22" name="">
            <a:extLst xmlns:a="http://schemas.openxmlformats.org/drawingml/2006/main">
              <a:ext uri="{FF2B5EF4-FFF2-40B4-BE49-F238E27FC236}">
                <a16:creationId xmlns:a16="http://schemas.microsoft.com/office/drawing/2014/main" id="{F20C5091-E866-4ED2-8038-7B9F9B355F21}"/>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Extract concepts, claims, and open questions.</a:t>
            </a:r>
          </a:p>
        </p:txBody>
      </p:sp>
      <p:sp>
        <p:nvSpPr>
          <p:cNvPr id="23" name="">
            <a:extLst xmlns:a="http://schemas.openxmlformats.org/drawingml/2006/main">
              <a:ext uri="{FF2B5EF4-FFF2-40B4-BE49-F238E27FC236}">
                <a16:creationId xmlns:a16="http://schemas.microsoft.com/office/drawing/2014/main" id="{B25B3538-90CE-4BF9-978E-22A446DF8E9F}"/>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57FA3AC-D057-453F-85AB-CDE06B6173CD}"/>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6BACB36E-B909-403A-A0B3-88E5CF32A6B8}"/>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Transform</a:t>
            </a:r>
          </a:p>
        </p:txBody>
      </p:sp>
      <p:sp>
        <p:nvSpPr>
          <p:cNvPr id="26" name="">
            <a:extLst xmlns:a="http://schemas.openxmlformats.org/drawingml/2006/main">
              <a:ext uri="{FF2B5EF4-FFF2-40B4-BE49-F238E27FC236}">
                <a16:creationId xmlns:a16="http://schemas.microsoft.com/office/drawing/2014/main" id="{E8DE3D72-D25A-4D3A-8856-81AFDF0158BC}"/>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Adapt for research, teaching, or community use.</a:t>
            </a:r>
          </a:p>
        </p:txBody>
      </p:sp>
      <p:sp>
        <p:nvSpPr>
          <p:cNvPr id="27" name="">
            <a:extLst xmlns:a="http://schemas.openxmlformats.org/drawingml/2006/main">
              <a:ext uri="{FF2B5EF4-FFF2-40B4-BE49-F238E27FC236}">
                <a16:creationId xmlns:a16="http://schemas.microsoft.com/office/drawing/2014/main" id="{28D8974F-D529-4CFB-83A6-CE1CB4947405}"/>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CB48510-3F82-4EB8-B1C2-CEA81D051379}"/>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BA8026D6-7D43-42E6-A38F-8E81FFFB841D}"/>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Review</a:t>
            </a:r>
          </a:p>
        </p:txBody>
      </p:sp>
      <p:sp>
        <p:nvSpPr>
          <p:cNvPr id="30" name="">
            <a:extLst xmlns:a="http://schemas.openxmlformats.org/drawingml/2006/main">
              <a:ext uri="{FF2B5EF4-FFF2-40B4-BE49-F238E27FC236}">
                <a16:creationId xmlns:a16="http://schemas.microsoft.com/office/drawing/2014/main" id="{F5C2454B-8B96-4E1E-93B1-9B8CB025E5B8}"/>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Apply domain, privacy, and release checks.</a:t>
            </a:r>
          </a:p>
        </p:txBody>
      </p:sp>
    </p:spTree>
    <p:extLst>
      <p:ext uri="{BB962C8B-B14F-4D97-AF65-F5344CB8AC3E}">
        <p14:creationId xmlns:p14="http://schemas.microsoft.com/office/powerpoint/2010/main" val="478277510"/>
      </p:ext>
    </p:extLst>
  </p:cSld>
</p:sld>
</file>

<file path=ppt/slides/slide32.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2">
            <a:extLst xmlns:a="http://schemas.openxmlformats.org/drawingml/2006/main">
              <a:ext uri="{FF2B5EF4-FFF2-40B4-BE49-F238E27FC236}">
                <a16:creationId xmlns:a16="http://schemas.microsoft.com/office/drawing/2014/main" id="{138A8F9A-E6E4-4A0A-AB7A-FC2491D1E27E}"/>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27DBA1-E755-41F7-AA85-A9B7103970F6}"/>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32</a:t>
            </a:r>
          </a:p>
        </p:txBody>
      </p:sp>
      <p:sp>
        <p:nvSpPr>
          <p:cNvPr id="3" name="">
            <a:extLst xmlns:a="http://schemas.openxmlformats.org/drawingml/2006/main">
              <a:ext uri="{FF2B5EF4-FFF2-40B4-BE49-F238E27FC236}">
                <a16:creationId xmlns:a16="http://schemas.microsoft.com/office/drawing/2014/main" id="{61844F35-7128-4F0E-83D9-374A9C5637A4}"/>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8F1A29A0-C817-4CF2-BC43-6AA3CC9C293F}"/>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1606C22-F677-43B4-B899-698A6318965F}"/>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9A2B4E-420B-414D-ABAC-07FEEB2782DF}"/>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18F268-3CA0-4B3F-9ADF-DE9DC411CB4F}"/>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7CA3EC-9C2D-4ADF-AA77-AD9BECFB72B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3E917C0-4518-4052-BFA4-7C7F6AA52A68}"/>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2">
            <a:extLst xmlns:a="http://schemas.openxmlformats.org/drawingml/2006/main">
              <a:ext uri="{FF2B5EF4-FFF2-40B4-BE49-F238E27FC236}">
                <a16:creationId xmlns:a16="http://schemas.microsoft.com/office/drawing/2014/main" id="{90A4EA01-244D-4039-B8BB-66FCD4015713}"/>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ED2DBC-0A72-449A-AFF5-85052E69D64F}"/>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ABC0D1FE-EB12-4EFB-9AE5-AC6AB7F4CCE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Research workspace: evidence before output</a:t>
            </a:r>
          </a:p>
        </p:txBody>
      </p:sp>
      <p:sp>
        <p:nvSpPr>
          <p:cNvPr id="13" name="">
            <a:extLst xmlns:a="http://schemas.openxmlformats.org/drawingml/2006/main">
              <a:ext uri="{FF2B5EF4-FFF2-40B4-BE49-F238E27FC236}">
                <a16:creationId xmlns:a16="http://schemas.microsoft.com/office/drawing/2014/main" id="{EE65B09F-590F-44AB-82F5-307EC584C4E1}"/>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853A93B-500C-49CB-A71D-81694A3CF891}"/>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RAW</a:t>
            </a:r>
          </a:p>
        </p:txBody>
      </p:sp>
      <p:sp>
        <p:nvSpPr>
          <p:cNvPr id="15" name="">
            <a:extLst xmlns:a="http://schemas.openxmlformats.org/drawingml/2006/main">
              <a:ext uri="{FF2B5EF4-FFF2-40B4-BE49-F238E27FC236}">
                <a16:creationId xmlns:a16="http://schemas.microsoft.com/office/drawing/2014/main" id="{F5F32DC9-96F0-46DC-B44A-1C95C757DB4E}"/>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A837058-19CC-4F7E-8B9C-BE3948D09656}"/>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Immutable captures and provenance records.</a:t>
            </a:r>
          </a:p>
        </p:txBody>
      </p:sp>
      <p:sp>
        <p:nvSpPr>
          <p:cNvPr id="17" name="">
            <a:extLst xmlns:a="http://schemas.openxmlformats.org/drawingml/2006/main">
              <a:ext uri="{FF2B5EF4-FFF2-40B4-BE49-F238E27FC236}">
                <a16:creationId xmlns:a16="http://schemas.microsoft.com/office/drawing/2014/main" id="{0FBE2E2B-4EFC-4558-AB6F-46DBF80CAE5F}"/>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WIKI</a:t>
            </a:r>
          </a:p>
        </p:txBody>
      </p:sp>
      <p:sp>
        <p:nvSpPr>
          <p:cNvPr id="18" name="">
            <a:extLst xmlns:a="http://schemas.openxmlformats.org/drawingml/2006/main">
              <a:ext uri="{FF2B5EF4-FFF2-40B4-BE49-F238E27FC236}">
                <a16:creationId xmlns:a16="http://schemas.microsoft.com/office/drawing/2014/main" id="{816EE684-9C00-40FA-9E64-E0C304905B7C}"/>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85C158-877F-4715-949D-9CE7D9257406}"/>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Maintained concepts, claims, questions, and syntheses.</a:t>
            </a:r>
          </a:p>
        </p:txBody>
      </p:sp>
      <p:sp>
        <p:nvSpPr>
          <p:cNvPr id="20" name="">
            <a:extLst xmlns:a="http://schemas.openxmlformats.org/drawingml/2006/main">
              <a:ext uri="{FF2B5EF4-FFF2-40B4-BE49-F238E27FC236}">
                <a16:creationId xmlns:a16="http://schemas.microsoft.com/office/drawing/2014/main" id="{1156FBB8-ABBF-445C-879C-8566CB6A11D7}"/>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OUTPUT</a:t>
            </a:r>
          </a:p>
        </p:txBody>
      </p:sp>
      <p:sp>
        <p:nvSpPr>
          <p:cNvPr id="21" name="">
            <a:extLst xmlns:a="http://schemas.openxmlformats.org/drawingml/2006/main">
              <a:ext uri="{FF2B5EF4-FFF2-40B4-BE49-F238E27FC236}">
                <a16:creationId xmlns:a16="http://schemas.microsoft.com/office/drawing/2014/main" id="{897187B2-5E78-4801-8D0D-C452A1DB68E4}"/>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4A46062-451F-4B1F-8B0D-07198FAE0E0E}"/>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Drafts and artifacts that link back to evidence.</a:t>
            </a:r>
          </a:p>
        </p:txBody>
      </p:sp>
    </p:spTree>
    <p:extLst>
      <p:ext uri="{BB962C8B-B14F-4D97-AF65-F5344CB8AC3E}">
        <p14:creationId xmlns:p14="http://schemas.microsoft.com/office/powerpoint/2010/main" val="53909180"/>
      </p:ext>
    </p:extLst>
  </p:cSld>
</p:sld>
</file>

<file path=ppt/slides/slide33.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3">
            <a:extLst xmlns:a="http://schemas.openxmlformats.org/drawingml/2006/main">
              <a:ext uri="{FF2B5EF4-FFF2-40B4-BE49-F238E27FC236}">
                <a16:creationId xmlns:a16="http://schemas.microsoft.com/office/drawing/2014/main" id="{BA2C5691-06D2-4AA4-969D-1DDDEF367AE1}"/>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249E0A-508B-4F2B-8CA6-DB104BC82BBF}"/>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33</a:t>
            </a:r>
          </a:p>
        </p:txBody>
      </p:sp>
      <p:sp>
        <p:nvSpPr>
          <p:cNvPr id="3" name="">
            <a:extLst xmlns:a="http://schemas.openxmlformats.org/drawingml/2006/main">
              <a:ext uri="{FF2B5EF4-FFF2-40B4-BE49-F238E27FC236}">
                <a16:creationId xmlns:a16="http://schemas.microsoft.com/office/drawing/2014/main" id="{7B9C90DC-5CC2-43C2-B867-EAC28D71AC48}"/>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DE95E283-F76F-40A2-8507-D8E5A9239AD8}"/>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D34DCD9-4789-4085-B1F9-6E9EE203EC2B}"/>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DBFF45-2AEB-45F6-BFEB-E41AB569C159}"/>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BC00E0-BA20-4E98-8064-5A6E57BED7EE}"/>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D714EA-1870-4682-944C-B19055403375}"/>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87ADCC9-DEF2-477B-9651-4C0D39C75CA6}"/>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3">
            <a:extLst xmlns:a="http://schemas.openxmlformats.org/drawingml/2006/main">
              <a:ext uri="{FF2B5EF4-FFF2-40B4-BE49-F238E27FC236}">
                <a16:creationId xmlns:a16="http://schemas.microsoft.com/office/drawing/2014/main" id="{2C8D221A-F21E-4FAD-90DA-8998353F1729}"/>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C7D22D-B2BB-4D6E-8D96-75957417836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6F823F1D-E0DF-431F-97CA-C97E384F55EA}"/>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Education workspace: repeatable preparation</a:t>
            </a:r>
          </a:p>
        </p:txBody>
      </p:sp>
      <p:sp>
        <p:nvSpPr>
          <p:cNvPr id="13" name="">
            <a:extLst xmlns:a="http://schemas.openxmlformats.org/drawingml/2006/main">
              <a:ext uri="{FF2B5EF4-FFF2-40B4-BE49-F238E27FC236}">
                <a16:creationId xmlns:a16="http://schemas.microsoft.com/office/drawing/2014/main" id="{03DF36D4-ABB3-401D-A5EA-EBDD56DD71AA}"/>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EFEFC1-A289-46BC-B554-8E9944C9D21D}"/>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DESIGN</a:t>
            </a:r>
          </a:p>
        </p:txBody>
      </p:sp>
      <p:sp>
        <p:nvSpPr>
          <p:cNvPr id="15" name="">
            <a:extLst xmlns:a="http://schemas.openxmlformats.org/drawingml/2006/main">
              <a:ext uri="{FF2B5EF4-FFF2-40B4-BE49-F238E27FC236}">
                <a16:creationId xmlns:a16="http://schemas.microsoft.com/office/drawing/2014/main" id="{CFF4E263-1427-4278-AF6A-15A813DE3C23}"/>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17C03C0-50A0-440D-BC61-DD99B82E14A7}"/>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Start from learning outcomes, misconceptions, and authentic tasks.</a:t>
            </a:r>
          </a:p>
        </p:txBody>
      </p:sp>
      <p:sp>
        <p:nvSpPr>
          <p:cNvPr id="17" name="">
            <a:extLst xmlns:a="http://schemas.openxmlformats.org/drawingml/2006/main">
              <a:ext uri="{FF2B5EF4-FFF2-40B4-BE49-F238E27FC236}">
                <a16:creationId xmlns:a16="http://schemas.microsoft.com/office/drawing/2014/main" id="{5F67DD73-B8DC-42CF-9AD3-5A5F872EFEB0}"/>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PRODUCE</a:t>
            </a:r>
          </a:p>
        </p:txBody>
      </p:sp>
      <p:sp>
        <p:nvSpPr>
          <p:cNvPr id="18" name="">
            <a:extLst xmlns:a="http://schemas.openxmlformats.org/drawingml/2006/main">
              <a:ext uri="{FF2B5EF4-FFF2-40B4-BE49-F238E27FC236}">
                <a16:creationId xmlns:a16="http://schemas.microsoft.com/office/drawing/2014/main" id="{385F9904-1911-49A7-9F9A-3AFF1C27BE88}"/>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E5DEB60-86CD-443E-80C0-567CBB57FBBD}"/>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Generate examples, slides, activities, rubrics, and feedback drafts.</a:t>
            </a:r>
          </a:p>
        </p:txBody>
      </p:sp>
      <p:sp>
        <p:nvSpPr>
          <p:cNvPr id="20" name="">
            <a:extLst xmlns:a="http://schemas.openxmlformats.org/drawingml/2006/main">
              <a:ext uri="{FF2B5EF4-FFF2-40B4-BE49-F238E27FC236}">
                <a16:creationId xmlns:a16="http://schemas.microsoft.com/office/drawing/2014/main" id="{273B1409-63A5-49C3-9353-A4230E64DADF}"/>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REVIEW</a:t>
            </a:r>
          </a:p>
        </p:txBody>
      </p:sp>
      <p:sp>
        <p:nvSpPr>
          <p:cNvPr id="21" name="">
            <a:extLst xmlns:a="http://schemas.openxmlformats.org/drawingml/2006/main">
              <a:ext uri="{FF2B5EF4-FFF2-40B4-BE49-F238E27FC236}">
                <a16:creationId xmlns:a16="http://schemas.microsoft.com/office/drawing/2014/main" id="{C06FFB77-3AD3-425A-954F-743637B137B1}"/>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EDA6D31-1FA3-42F2-9891-FD94486EE3B6}"/>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Check pedagogy, accessibility, integrity, and student data handling.</a:t>
            </a:r>
          </a:p>
        </p:txBody>
      </p:sp>
    </p:spTree>
    <p:extLst>
      <p:ext uri="{BB962C8B-B14F-4D97-AF65-F5344CB8AC3E}">
        <p14:creationId xmlns:p14="http://schemas.microsoft.com/office/powerpoint/2010/main" val="756058980"/>
      </p:ext>
    </p:extLst>
  </p:cSld>
</p:sld>
</file>

<file path=ppt/slides/slide34.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4">
            <a:extLst xmlns:a="http://schemas.openxmlformats.org/drawingml/2006/main">
              <a:ext uri="{FF2B5EF4-FFF2-40B4-BE49-F238E27FC236}">
                <a16:creationId xmlns:a16="http://schemas.microsoft.com/office/drawing/2014/main" id="{A435AF97-0C2D-430A-8DA3-AD500A7BD8E0}"/>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D39A82-7192-4067-80B5-2B39B8B8E0A8}"/>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34</a:t>
            </a:r>
          </a:p>
        </p:txBody>
      </p:sp>
      <p:sp>
        <p:nvSpPr>
          <p:cNvPr id="3" name="">
            <a:extLst xmlns:a="http://schemas.openxmlformats.org/drawingml/2006/main">
              <a:ext uri="{FF2B5EF4-FFF2-40B4-BE49-F238E27FC236}">
                <a16:creationId xmlns:a16="http://schemas.microsoft.com/office/drawing/2014/main" id="{B10ED3BF-2644-4777-B303-A8E2AEFB6801}"/>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76071F31-08F5-4400-A1AA-2AE5B05351C1}"/>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F4A95A-40E7-44F9-A084-8C3AF2C37124}"/>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CB60E9-8FA0-46B5-B1F0-BFEC31BABD50}"/>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2CBF318-6E9E-4FB4-A3B3-047FF6DDCA59}"/>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C6CBF9-7F5D-401F-ADD2-BB5ECBC6F58B}"/>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9041526-0A97-4D39-842F-BE37F9F65377}"/>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4">
            <a:extLst xmlns:a="http://schemas.openxmlformats.org/drawingml/2006/main">
              <a:ext uri="{FF2B5EF4-FFF2-40B4-BE49-F238E27FC236}">
                <a16:creationId xmlns:a16="http://schemas.microsoft.com/office/drawing/2014/main" id="{55338473-E344-43E5-A03A-6802C6EEB2E9}"/>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BE4E56-1379-4C8E-BAB5-A226D988A433}"/>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88F61BAC-D68D-4149-825A-90F3315E8E63}"/>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Community workspace: translate with context</a:t>
            </a:r>
          </a:p>
        </p:txBody>
      </p:sp>
      <p:sp>
        <p:nvSpPr>
          <p:cNvPr id="13" name="">
            <a:extLst xmlns:a="http://schemas.openxmlformats.org/drawingml/2006/main">
              <a:ext uri="{FF2B5EF4-FFF2-40B4-BE49-F238E27FC236}">
                <a16:creationId xmlns:a16="http://schemas.microsoft.com/office/drawing/2014/main" id="{479FF912-1769-4508-8062-5D1FEC43D9B1}"/>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10370D-697C-4B87-8193-6B73DB4F6F42}"/>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CONTEXT</a:t>
            </a:r>
          </a:p>
        </p:txBody>
      </p:sp>
      <p:sp>
        <p:nvSpPr>
          <p:cNvPr id="15" name="">
            <a:extLst xmlns:a="http://schemas.openxmlformats.org/drawingml/2006/main">
              <a:ext uri="{FF2B5EF4-FFF2-40B4-BE49-F238E27FC236}">
                <a16:creationId xmlns:a16="http://schemas.microsoft.com/office/drawing/2014/main" id="{E0AD7EBD-60B9-43BE-B0C7-17A77430E613}"/>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77E2E42-E218-46C4-AC52-B0498DF74F3A}"/>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Identify community goals, language, constraints, and consent.</a:t>
            </a:r>
          </a:p>
        </p:txBody>
      </p:sp>
      <p:sp>
        <p:nvSpPr>
          <p:cNvPr id="17" name="">
            <a:extLst xmlns:a="http://schemas.openxmlformats.org/drawingml/2006/main">
              <a:ext uri="{FF2B5EF4-FFF2-40B4-BE49-F238E27FC236}">
                <a16:creationId xmlns:a16="http://schemas.microsoft.com/office/drawing/2014/main" id="{91D4E18A-F666-4865-A3F6-7C2F51F855E3}"/>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FORMAT</a:t>
            </a:r>
          </a:p>
        </p:txBody>
      </p:sp>
      <p:sp>
        <p:nvSpPr>
          <p:cNvPr id="18" name="">
            <a:extLst xmlns:a="http://schemas.openxmlformats.org/drawingml/2006/main">
              <a:ext uri="{FF2B5EF4-FFF2-40B4-BE49-F238E27FC236}">
                <a16:creationId xmlns:a16="http://schemas.microsoft.com/office/drawing/2014/main" id="{19D1315B-7C61-4897-94C1-500FD2B20E87}"/>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1BCDAAC-BA34-4E28-8EE7-B7D6DAE2CFF7}"/>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Choose accessible media, visual conventions, and distribution channels.</a:t>
            </a:r>
          </a:p>
        </p:txBody>
      </p:sp>
      <p:sp>
        <p:nvSpPr>
          <p:cNvPr id="20" name="">
            <a:extLst xmlns:a="http://schemas.openxmlformats.org/drawingml/2006/main">
              <a:ext uri="{FF2B5EF4-FFF2-40B4-BE49-F238E27FC236}">
                <a16:creationId xmlns:a16="http://schemas.microsoft.com/office/drawing/2014/main" id="{CF11047A-C8FA-4162-8D4D-09F801AA4E41}"/>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FEEDBACK</a:t>
            </a:r>
          </a:p>
        </p:txBody>
      </p:sp>
      <p:sp>
        <p:nvSpPr>
          <p:cNvPr id="21" name="">
            <a:extLst xmlns:a="http://schemas.openxmlformats.org/drawingml/2006/main">
              <a:ext uri="{FF2B5EF4-FFF2-40B4-BE49-F238E27FC236}">
                <a16:creationId xmlns:a16="http://schemas.microsoft.com/office/drawing/2014/main" id="{AC3D0622-27BC-4B77-A527-D5FF61458417}"/>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A221D14-4011-4C82-9487-6DC7FF754649}"/>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Record questions and outcomes as new evidence for the project.</a:t>
            </a:r>
          </a:p>
        </p:txBody>
      </p:sp>
    </p:spTree>
    <p:extLst>
      <p:ext uri="{BB962C8B-B14F-4D97-AF65-F5344CB8AC3E}">
        <p14:creationId xmlns:p14="http://schemas.microsoft.com/office/powerpoint/2010/main" val="2080446115"/>
      </p:ext>
    </p:extLst>
  </p:cSld>
</p:sld>
</file>

<file path=ppt/slides/slide35.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5">
            <a:extLst xmlns:a="http://schemas.openxmlformats.org/drawingml/2006/main">
              <a:ext uri="{FF2B5EF4-FFF2-40B4-BE49-F238E27FC236}">
                <a16:creationId xmlns:a16="http://schemas.microsoft.com/office/drawing/2014/main" id="{80221A6F-C8C0-461A-86EC-4828DC6BA5ED}"/>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579089-F0D0-496A-B9F9-D43BF4A327DE}"/>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35</a:t>
            </a:r>
          </a:p>
        </p:txBody>
      </p:sp>
      <p:sp>
        <p:nvSpPr>
          <p:cNvPr id="3" name="">
            <a:extLst xmlns:a="http://schemas.openxmlformats.org/drawingml/2006/main">
              <a:ext uri="{FF2B5EF4-FFF2-40B4-BE49-F238E27FC236}">
                <a16:creationId xmlns:a16="http://schemas.microsoft.com/office/drawing/2014/main" id="{3E1378A3-FFED-442A-8D72-1586C8F68717}"/>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DBE5EDCE-8141-4274-A424-5DFF3454A18C}"/>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1140D8-385C-4D65-A0A9-4B725293A7DE}"/>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8EAA74E-D220-4585-83C4-69206DC383DB}"/>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F4F53A-C74A-46AB-AC7C-11EC517A858C}"/>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D0263BD-B72C-4AAF-A8DD-55E78EF6CDE1}"/>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768147C-F267-4892-A9F1-E7DC2C533E56}"/>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5">
            <a:extLst xmlns:a="http://schemas.openxmlformats.org/drawingml/2006/main">
              <a:ext uri="{FF2B5EF4-FFF2-40B4-BE49-F238E27FC236}">
                <a16:creationId xmlns:a16="http://schemas.microsoft.com/office/drawing/2014/main" id="{B9D6C9EF-F704-4F89-B409-D0327DB38FBF}"/>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6E2363-F818-443B-96AA-5138FF6BCF46}"/>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B1AE063D-E7E7-4295-863B-3853EA311BE8}"/>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GitHub becomes the coordination backbone</a:t>
            </a:r>
          </a:p>
        </p:txBody>
      </p:sp>
      <p:sp>
        <p:nvSpPr>
          <p:cNvPr id="13" name="">
            <a:extLst xmlns:a="http://schemas.openxmlformats.org/drawingml/2006/main">
              <a:ext uri="{FF2B5EF4-FFF2-40B4-BE49-F238E27FC236}">
                <a16:creationId xmlns:a16="http://schemas.microsoft.com/office/drawing/2014/main" id="{11B9E470-A4B9-480F-874B-1905DFEE6678}"/>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C947288-21A8-4A10-95CB-4418BA4969FE}"/>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ISSUES</a:t>
            </a:r>
          </a:p>
        </p:txBody>
      </p:sp>
      <p:sp>
        <p:nvSpPr>
          <p:cNvPr id="15" name="">
            <a:extLst xmlns:a="http://schemas.openxmlformats.org/drawingml/2006/main">
              <a:ext uri="{FF2B5EF4-FFF2-40B4-BE49-F238E27FC236}">
                <a16:creationId xmlns:a16="http://schemas.microsoft.com/office/drawing/2014/main" id="{77CA8A93-C54A-4029-846D-ACD259BF504A}"/>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40C5794-5F6F-400F-BED5-94B6D3B006F3}"/>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Turn goals and open questions into visible, assignable work.</a:t>
            </a:r>
          </a:p>
        </p:txBody>
      </p:sp>
      <p:sp>
        <p:nvSpPr>
          <p:cNvPr id="17" name="">
            <a:extLst xmlns:a="http://schemas.openxmlformats.org/drawingml/2006/main">
              <a:ext uri="{FF2B5EF4-FFF2-40B4-BE49-F238E27FC236}">
                <a16:creationId xmlns:a16="http://schemas.microsoft.com/office/drawing/2014/main" id="{56402E1D-2FEB-43A6-B72A-A2254A0905D4}"/>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COMMITS</a:t>
            </a:r>
          </a:p>
        </p:txBody>
      </p:sp>
      <p:sp>
        <p:nvSpPr>
          <p:cNvPr id="18" name="">
            <a:extLst xmlns:a="http://schemas.openxmlformats.org/drawingml/2006/main">
              <a:ext uri="{FF2B5EF4-FFF2-40B4-BE49-F238E27FC236}">
                <a16:creationId xmlns:a16="http://schemas.microsoft.com/office/drawing/2014/main" id="{970508C3-ABC2-489D-8DD2-C18485F0D900}"/>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86ED34-F846-4062-92EC-FB3CD5E02BB8}"/>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Preserve incremental changes and the reasoning attached to them.</a:t>
            </a:r>
          </a:p>
        </p:txBody>
      </p:sp>
      <p:sp>
        <p:nvSpPr>
          <p:cNvPr id="20" name="">
            <a:extLst xmlns:a="http://schemas.openxmlformats.org/drawingml/2006/main">
              <a:ext uri="{FF2B5EF4-FFF2-40B4-BE49-F238E27FC236}">
                <a16:creationId xmlns:a16="http://schemas.microsoft.com/office/drawing/2014/main" id="{C408C5CF-5EC0-44CB-A681-AC977C36BC27}"/>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REVIEWS</a:t>
            </a:r>
          </a:p>
        </p:txBody>
      </p:sp>
      <p:sp>
        <p:nvSpPr>
          <p:cNvPr id="21" name="">
            <a:extLst xmlns:a="http://schemas.openxmlformats.org/drawingml/2006/main">
              <a:ext uri="{FF2B5EF4-FFF2-40B4-BE49-F238E27FC236}">
                <a16:creationId xmlns:a16="http://schemas.microsoft.com/office/drawing/2014/main" id="{19FF48CC-6F0B-4AC2-83FB-37C7DB392A02}"/>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B438339-CFDB-46FF-8D7A-F352B821A99A}"/>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Create explicit checkpoints before sensitive changes or releases.</a:t>
            </a:r>
          </a:p>
        </p:txBody>
      </p:sp>
    </p:spTree>
    <p:extLst>
      <p:ext uri="{BB962C8B-B14F-4D97-AF65-F5344CB8AC3E}">
        <p14:creationId xmlns:p14="http://schemas.microsoft.com/office/powerpoint/2010/main" val="1001718740"/>
      </p:ext>
    </p:extLst>
  </p:cSld>
</p:sld>
</file>

<file path=ppt/slides/slide36.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6">
            <a:extLst xmlns:a="http://schemas.openxmlformats.org/drawingml/2006/main">
              <a:ext uri="{FF2B5EF4-FFF2-40B4-BE49-F238E27FC236}">
                <a16:creationId xmlns:a16="http://schemas.microsoft.com/office/drawing/2014/main" id="{D54CD543-300C-4D34-9167-D3D52C422E70}"/>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769A14-F03B-44FE-9F8B-BC0DB75CFB77}"/>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36</a:t>
            </a:r>
          </a:p>
        </p:txBody>
      </p:sp>
      <p:sp>
        <p:nvSpPr>
          <p:cNvPr id="3" name="">
            <a:extLst xmlns:a="http://schemas.openxmlformats.org/drawingml/2006/main">
              <a:ext uri="{FF2B5EF4-FFF2-40B4-BE49-F238E27FC236}">
                <a16:creationId xmlns:a16="http://schemas.microsoft.com/office/drawing/2014/main" id="{29EDD5E0-0DA7-4022-B609-989AC0A1BF02}"/>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ACADEMIC DESIGN</a:t>
            </a:r>
          </a:p>
        </p:txBody>
      </p:sp>
      <p:sp>
        <p:nvSpPr>
          <p:cNvPr id="4" name="">
            <a:extLst xmlns:a="http://schemas.openxmlformats.org/drawingml/2006/main">
              <a:ext uri="{FF2B5EF4-FFF2-40B4-BE49-F238E27FC236}">
                <a16:creationId xmlns:a16="http://schemas.microsoft.com/office/drawing/2014/main" id="{19E1773D-8F35-47A4-B0AC-18EF78ED0CEB}"/>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20B1D52-90AC-48D5-8BD3-9A9DCD8B2CFF}"/>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26CBD05-B295-40B3-92A7-95285B83E62B}"/>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7389AE-84D6-43DB-BEE6-BFD92060CE0E}"/>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B597445-70AE-4214-B294-ABDAF7C01525}"/>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6E22A62-A9B2-4DE7-87F7-B90E3650AB04}"/>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6">
            <a:extLst xmlns:a="http://schemas.openxmlformats.org/drawingml/2006/main">
              <a:ext uri="{FF2B5EF4-FFF2-40B4-BE49-F238E27FC236}">
                <a16:creationId xmlns:a16="http://schemas.microsoft.com/office/drawing/2014/main" id="{9BB58116-C145-4B64-A8CA-826E098E9058}"/>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DF854AD-9AC7-441E-BAD7-FD39FE008DFB}"/>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BF9239DC-10A0-4BC0-B488-4ED07DF7E7B6}"/>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Separate private work from public release</a:t>
            </a:r>
          </a:p>
        </p:txBody>
      </p:sp>
      <p:sp>
        <p:nvSpPr>
          <p:cNvPr id="13" name="">
            <a:extLst xmlns:a="http://schemas.openxmlformats.org/drawingml/2006/main">
              <a:ext uri="{FF2B5EF4-FFF2-40B4-BE49-F238E27FC236}">
                <a16:creationId xmlns:a16="http://schemas.microsoft.com/office/drawing/2014/main" id="{B355FCC2-0566-472B-8462-89239D6497DF}"/>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4B7BDA6-F617-42B2-BD7E-DB8A06DF5961}"/>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PRIVATE SOURCE</a:t>
            </a:r>
          </a:p>
        </p:txBody>
      </p:sp>
      <p:sp>
        <p:nvSpPr>
          <p:cNvPr id="15" name="">
            <a:extLst xmlns:a="http://schemas.openxmlformats.org/drawingml/2006/main">
              <a:ext uri="{FF2B5EF4-FFF2-40B4-BE49-F238E27FC236}">
                <a16:creationId xmlns:a16="http://schemas.microsoft.com/office/drawing/2014/main" id="{580CD4F6-2670-4F0A-A287-D3A27F6D2DA5}"/>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0307B1C-6387-4A5F-A3B9-BA7F68BA8BE4}"/>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Raw data, student information, internal notes, unpublished research, and full history.</a:t>
            </a:r>
          </a:p>
        </p:txBody>
      </p:sp>
      <p:sp>
        <p:nvSpPr>
          <p:cNvPr id="17" name="">
            <a:extLst xmlns:a="http://schemas.openxmlformats.org/drawingml/2006/main">
              <a:ext uri="{FF2B5EF4-FFF2-40B4-BE49-F238E27FC236}">
                <a16:creationId xmlns:a16="http://schemas.microsoft.com/office/drawing/2014/main" id="{DEC9C488-D2F2-4709-9576-E34F6CAAB74C}"/>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REVIEWED EXPORT</a:t>
            </a:r>
          </a:p>
        </p:txBody>
      </p:sp>
      <p:sp>
        <p:nvSpPr>
          <p:cNvPr id="18" name="">
            <a:extLst xmlns:a="http://schemas.openxmlformats.org/drawingml/2006/main">
              <a:ext uri="{FF2B5EF4-FFF2-40B4-BE49-F238E27FC236}">
                <a16:creationId xmlns:a16="http://schemas.microsoft.com/office/drawing/2014/main" id="{2807AF29-168A-4733-8B36-D7D93F4163C5}"/>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EBAA0CB-85C3-48CD-B191-AA9F867D6DF3}"/>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Only selected files, checked for rights, privacy, accuracy, and context.</a:t>
            </a:r>
          </a:p>
        </p:txBody>
      </p:sp>
      <p:sp>
        <p:nvSpPr>
          <p:cNvPr id="20" name="">
            <a:extLst xmlns:a="http://schemas.openxmlformats.org/drawingml/2006/main">
              <a:ext uri="{FF2B5EF4-FFF2-40B4-BE49-F238E27FC236}">
                <a16:creationId xmlns:a16="http://schemas.microsoft.com/office/drawing/2014/main" id="{AB8EC0C0-DB18-414A-9036-627716CA5E13}"/>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PUBLIC RELEASE</a:t>
            </a:r>
          </a:p>
        </p:txBody>
      </p:sp>
      <p:sp>
        <p:nvSpPr>
          <p:cNvPr id="21" name="">
            <a:extLst xmlns:a="http://schemas.openxmlformats.org/drawingml/2006/main">
              <a:ext uri="{FF2B5EF4-FFF2-40B4-BE49-F238E27FC236}">
                <a16:creationId xmlns:a16="http://schemas.microsoft.com/office/drawing/2014/main" id="{AF2AF529-8145-4B02-AC41-98018428D22D}"/>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9ADB821-08B6-4F95-A1CF-85752C209D52}"/>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Separate history and explicit human approval for each publication.</a:t>
            </a:r>
          </a:p>
        </p:txBody>
      </p:sp>
    </p:spTree>
    <p:extLst>
      <p:ext uri="{BB962C8B-B14F-4D97-AF65-F5344CB8AC3E}">
        <p14:creationId xmlns:p14="http://schemas.microsoft.com/office/powerpoint/2010/main" val="1695610180"/>
      </p:ext>
    </p:extLst>
  </p:cSld>
</p:sld>
</file>

<file path=ppt/slides/slide37.xml><?xml version="1.0" encoding="utf-8"?>
<p:sld xmlns:p="http://schemas.openxmlformats.org/presentationml/2006/main">
  <p:cSld>
    <p:bg>
      <p:bgPr>
        <a:solidFill xmlns:a="http://schemas.openxmlformats.org/drawingml/2006/main">
          <a:srgbClr val="F0F2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4C9018-EA30-462F-A767-0EB31B9A4712}"/>
              </a:ext>
            </a:extLst>
          </p:cNvPr>
          <p:cNvSpPr>
            <a:spLocks xmlns:a="http://schemas.openxmlformats.org/drawingml/2006/main" noGrp="1"/>
          </p:cNvSpPr>
          <p:nvPr/>
        </p:nvSpPr>
        <p:spPr>
          <a:xfrm xmlns:a="http://schemas.openxmlformats.org/drawingml/2006/main">
            <a:off x="0" y="0"/>
            <a:ext cx="3714750" cy="6858000"/>
          </a:xfrm>
          <a:prstGeom xmlns:a="http://schemas.openxmlformats.org/drawingml/2006/main" prst="rect">
            <a:avLst/>
          </a:prstGeom>
          <a:solidFill xmlns:a="http://schemas.openxmlformats.org/drawingml/2006/main">
            <a:srgbClr val="EFB8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727C988-1F3F-4980-AA16-DEB5080030C1}"/>
              </a:ext>
            </a:extLst>
          </p:cNvPr>
          <p:cNvSpPr>
            <a:spLocks xmlns:a="http://schemas.openxmlformats.org/drawingml/2006/main" noGrp="1"/>
          </p:cNvSpPr>
          <p:nvPr/>
        </p:nvSpPr>
        <p:spPr>
          <a:xfrm xmlns:a="http://schemas.openxmlformats.org/drawingml/2006/main">
            <a:off x="3714750" y="0"/>
            <a:ext cx="8096250" cy="6858000"/>
          </a:xfrm>
          <a:prstGeom xmlns:a="http://schemas.openxmlformats.org/drawingml/2006/main" prst="rect">
            <a:avLst/>
          </a:prstGeom>
          <a:solidFill xmlns:a="http://schemas.openxmlformats.org/drawingml/2006/main">
            <a:srgbClr val="014A7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8848742-2CDE-4771-A00B-32CD1BD599C0}"/>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0D0E48-F2EF-4954-82A0-D79EA4C39739}"/>
              </a:ext>
            </a:extLst>
          </p:cNvPr>
          <p:cNvSpPr>
            <a:spLocks xmlns:a="http://schemas.openxmlformats.org/drawingml/2006/main" noGrp="1"/>
          </p:cNvSpPr>
          <p:nvPr/>
        </p:nvSpPr>
        <p:spPr>
          <a:xfrm xmlns:a="http://schemas.openxmlformats.org/drawingml/2006/main">
            <a:off x="762000" y="876300"/>
            <a:ext cx="2381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8850" b="1" i="0">
                <a:solidFill>
                  <a:srgbClr val="014A74"/>
                </a:solidFill>
              </a:defRPr>
            </a:pPr>
            <a:r>
              <a:rPr sz="8850" b="1" i="0">
                <a:solidFill>
                  <a:srgbClr val="014A74"/>
                </a:solidFill>
              </a:rPr>
              <a:t>04</a:t>
            </a:r>
          </a:p>
        </p:txBody>
      </p:sp>
      <p:sp>
        <p:nvSpPr>
          <p:cNvPr id="5" name="">
            <a:extLst xmlns:a="http://schemas.openxmlformats.org/drawingml/2006/main">
              <a:ext uri="{FF2B5EF4-FFF2-40B4-BE49-F238E27FC236}">
                <a16:creationId xmlns:a16="http://schemas.microsoft.com/office/drawing/2014/main" id="{B137EE10-6492-459C-BAA2-AFBCA479C4F3}"/>
              </a:ext>
            </a:extLst>
          </p:cNvPr>
          <p:cNvSpPr>
            <a:spLocks xmlns:a="http://schemas.openxmlformats.org/drawingml/2006/main" noGrp="1"/>
          </p:cNvSpPr>
          <p:nvPr/>
        </p:nvSpPr>
        <p:spPr>
          <a:xfrm xmlns:a="http://schemas.openxmlformats.org/drawingml/2006/main">
            <a:off x="4381500" y="1714500"/>
            <a:ext cx="666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4350" b="0" i="0">
                <a:solidFill>
                  <a:srgbClr val="FFFFFF"/>
                </a:solidFill>
              </a:defRPr>
            </a:pPr>
            <a:r>
              <a:rPr sz="4350" b="0" i="0">
                <a:solidFill>
                  <a:srgbClr val="FFFFFF"/>
                </a:solidFill>
              </a:rPr>
              <a:t>IMPLEMENTATION</a:t>
            </a:r>
          </a:p>
        </p:txBody>
      </p:sp>
      <p:sp>
        <p:nvSpPr>
          <p:cNvPr id="6" name="">
            <a:extLst xmlns:a="http://schemas.openxmlformats.org/drawingml/2006/main">
              <a:ext uri="{FF2B5EF4-FFF2-40B4-BE49-F238E27FC236}">
                <a16:creationId xmlns:a16="http://schemas.microsoft.com/office/drawing/2014/main" id="{4E4F2FE3-CF03-41C6-832D-1314B2B9CB7D}"/>
              </a:ext>
            </a:extLst>
          </p:cNvPr>
          <p:cNvSpPr>
            <a:spLocks xmlns:a="http://schemas.openxmlformats.org/drawingml/2006/main" noGrp="1"/>
          </p:cNvSpPr>
          <p:nvPr/>
        </p:nvSpPr>
        <p:spPr>
          <a:xfrm xmlns:a="http://schemas.openxmlformats.org/drawingml/2006/main">
            <a:off x="4419600" y="3562350"/>
            <a:ext cx="619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Build the workspace carefully—and separate the MVP from the vision.</a:t>
            </a:r>
          </a:p>
        </p:txBody>
      </p:sp>
      <p:sp>
        <p:nvSpPr>
          <p:cNvPr id="7" name="">
            <a:extLst xmlns:a="http://schemas.openxmlformats.org/drawingml/2006/main">
              <a:ext uri="{FF2B5EF4-FFF2-40B4-BE49-F238E27FC236}">
                <a16:creationId xmlns:a16="http://schemas.microsoft.com/office/drawing/2014/main" id="{81B3D0AF-165A-43D1-A2BE-F30C16D0593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ctr">
              <a:defRPr sz="1050" b="1" i="0">
                <a:solidFill>
                  <a:srgbClr val="014A74"/>
                </a:solidFill>
              </a:defRPr>
            </a:pPr>
            <a:r>
              <a:rPr sz="1050" b="1" i="0">
                <a:solidFill>
                  <a:srgbClr val="014A74"/>
                </a:solidFill>
              </a:rPr>
              <a:t>37</a:t>
            </a:r>
          </a:p>
        </p:txBody>
      </p:sp>
      <p:sp>
        <p:nvSpPr>
          <p:cNvPr id="8" name="">
            <a:extLst xmlns:a="http://schemas.openxmlformats.org/drawingml/2006/main">
              <a:ext uri="{FF2B5EF4-FFF2-40B4-BE49-F238E27FC236}">
                <a16:creationId xmlns:a16="http://schemas.microsoft.com/office/drawing/2014/main" id="{10A1BC83-D1F9-4157-A78E-B601D26605F6}"/>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014A74"/>
                </a:solidFill>
              </a:defRPr>
            </a:pPr>
            <a:r>
              <a:rPr sz="975" b="1" i="0">
                <a:solidFill>
                  <a:srgbClr val="014A74"/>
                </a:solidFill>
              </a:rPr>
              <a:t>CREATED WITH AFK RESEARCH</a:t>
            </a:r>
          </a:p>
        </p:txBody>
      </p:sp>
    </p:spTree>
    <p:extLst>
      <p:ext uri="{BB962C8B-B14F-4D97-AF65-F5344CB8AC3E}">
        <p14:creationId xmlns:p14="http://schemas.microsoft.com/office/powerpoint/2010/main" val="599213305"/>
      </p:ext>
    </p:extLst>
  </p:cSld>
</p:sld>
</file>

<file path=ppt/slides/slide38.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38">
            <a:extLst xmlns:a="http://schemas.openxmlformats.org/drawingml/2006/main">
              <a:ext uri="{FF2B5EF4-FFF2-40B4-BE49-F238E27FC236}">
                <a16:creationId xmlns:a16="http://schemas.microsoft.com/office/drawing/2014/main" id="{FBF727AA-7066-4E0F-8978-2C45AFD122B8}"/>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964F96-EF11-4171-9EB0-B84D49C559B9}"/>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38</a:t>
            </a:r>
          </a:p>
        </p:txBody>
      </p:sp>
      <p:sp>
        <p:nvSpPr>
          <p:cNvPr id="3" name="">
            <a:extLst xmlns:a="http://schemas.openxmlformats.org/drawingml/2006/main">
              <a:ext uri="{FF2B5EF4-FFF2-40B4-BE49-F238E27FC236}">
                <a16:creationId xmlns:a16="http://schemas.microsoft.com/office/drawing/2014/main" id="{C17812DA-1E3A-4499-BF33-18D1769DBB6D}"/>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46F8B870-BE53-4505-B4D0-E3056CA738F9}"/>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C49927-F78B-4654-830F-08935AC16415}"/>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2777662-B7D4-45DB-BCF0-4BCA7B09573E}"/>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41C604-18F5-4322-A3F8-FD7EB7364417}"/>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7A035B-1168-4DDD-B846-1A2159459771}"/>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4A9C485-C24B-400C-891F-6BE19DBB7EF4}"/>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8">
            <a:extLst xmlns:a="http://schemas.openxmlformats.org/drawingml/2006/main">
              <a:ext uri="{FF2B5EF4-FFF2-40B4-BE49-F238E27FC236}">
                <a16:creationId xmlns:a16="http://schemas.microsoft.com/office/drawing/2014/main" id="{5BB7E314-B95D-41C8-92BC-B436758EBC18}"/>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4964C6-B20F-4A94-9346-4314996D4673}"/>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20FEDCD8-B437-4C0C-AC48-D58944AA5AB6}"/>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AFK Research: what exists today</a:t>
            </a:r>
          </a:p>
        </p:txBody>
      </p:sp>
      <p:sp>
        <p:nvSpPr>
          <p:cNvPr id="13" name="">
            <a:extLst xmlns:a="http://schemas.openxmlformats.org/drawingml/2006/main">
              <a:ext uri="{FF2B5EF4-FFF2-40B4-BE49-F238E27FC236}">
                <a16:creationId xmlns:a16="http://schemas.microsoft.com/office/drawing/2014/main" id="{64ED5CB4-08EA-4B80-B81C-9E85EE519B8F}"/>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F8F05C-98D4-457C-B069-82807489F1CF}"/>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IMPLEMENTED</a:t>
            </a:r>
          </a:p>
        </p:txBody>
      </p:sp>
      <p:sp>
        <p:nvSpPr>
          <p:cNvPr id="15" name="">
            <a:extLst xmlns:a="http://schemas.openxmlformats.org/drawingml/2006/main">
              <a:ext uri="{FF2B5EF4-FFF2-40B4-BE49-F238E27FC236}">
                <a16:creationId xmlns:a16="http://schemas.microsoft.com/office/drawing/2014/main" id="{983E18FB-48F8-45AC-92D5-62DF3F4BF69E}"/>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D68E215-3669-42AD-AA79-A971D92B1875}"/>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 private GitHub-hosted setup CLI, workspace scaffolding, bundled skills, managed updates, and Schedule Runner infrastructure.</a:t>
            </a:r>
          </a:p>
        </p:txBody>
      </p:sp>
      <p:sp>
        <p:nvSpPr>
          <p:cNvPr id="17" name="">
            <a:extLst xmlns:a="http://schemas.openxmlformats.org/drawingml/2006/main">
              <a:ext uri="{FF2B5EF4-FFF2-40B4-BE49-F238E27FC236}">
                <a16:creationId xmlns:a16="http://schemas.microsoft.com/office/drawing/2014/main" id="{578563E7-166C-4798-8085-43C58355BABA}"/>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COMPOSED</a:t>
            </a:r>
          </a:p>
        </p:txBody>
      </p:sp>
      <p:sp>
        <p:nvSpPr>
          <p:cNvPr id="18" name="">
            <a:extLst xmlns:a="http://schemas.openxmlformats.org/drawingml/2006/main">
              <a:ext uri="{FF2B5EF4-FFF2-40B4-BE49-F238E27FC236}">
                <a16:creationId xmlns:a16="http://schemas.microsoft.com/office/drawing/2014/main" id="{6DB88117-89A5-4979-95A9-2037FCFC150C}"/>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45969BF-4F3A-4669-B091-8878D8A0EB23}"/>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Research ingestion, presentations, design, and scheduled prompts can be assembled through installed skills and tools.</a:t>
            </a:r>
          </a:p>
        </p:txBody>
      </p:sp>
      <p:sp>
        <p:nvSpPr>
          <p:cNvPr id="20" name="">
            <a:extLst xmlns:a="http://schemas.openxmlformats.org/drawingml/2006/main">
              <a:ext uri="{FF2B5EF4-FFF2-40B4-BE49-F238E27FC236}">
                <a16:creationId xmlns:a16="http://schemas.microsoft.com/office/drawing/2014/main" id="{AAB77DC0-91A1-40EA-9C8A-26F380576059}"/>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VISION</a:t>
            </a:r>
          </a:p>
        </p:txBody>
      </p:sp>
      <p:sp>
        <p:nvSpPr>
          <p:cNvPr id="21" name="">
            <a:extLst xmlns:a="http://schemas.openxmlformats.org/drawingml/2006/main">
              <a:ext uri="{FF2B5EF4-FFF2-40B4-BE49-F238E27FC236}">
                <a16:creationId xmlns:a16="http://schemas.microsoft.com/office/drawing/2014/main" id="{9423AB03-714A-4700-8927-AE814DE94444}"/>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B2ABCC2-F4F4-4207-A874-21418A6D28E5}"/>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One-command Tri Dharma transformation, automatic grading, and automatic public portfolio updates remain unverified.</a:t>
            </a:r>
          </a:p>
        </p:txBody>
      </p:sp>
    </p:spTree>
    <p:extLst>
      <p:ext uri="{BB962C8B-B14F-4D97-AF65-F5344CB8AC3E}">
        <p14:creationId xmlns:p14="http://schemas.microsoft.com/office/powerpoint/2010/main" val="314113448"/>
      </p:ext>
    </p:extLst>
  </p:cSld>
</p:sld>
</file>

<file path=ppt/slides/slide39.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2" name="metadata-rail-39">
            <a:extLst xmlns:a="http://schemas.openxmlformats.org/drawingml/2006/main">
              <a:ext uri="{FF2B5EF4-FFF2-40B4-BE49-F238E27FC236}">
                <a16:creationId xmlns:a16="http://schemas.microsoft.com/office/drawing/2014/main" id="{85A49E50-E16A-4EFA-8D1B-945C68638B30}"/>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4C6643-84D7-4185-9D32-E7674EBA6403}"/>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39</a:t>
            </a:r>
          </a:p>
        </p:txBody>
      </p:sp>
      <p:sp>
        <p:nvSpPr>
          <p:cNvPr id="3" name="">
            <a:extLst xmlns:a="http://schemas.openxmlformats.org/drawingml/2006/main">
              <a:ext uri="{FF2B5EF4-FFF2-40B4-BE49-F238E27FC236}">
                <a16:creationId xmlns:a16="http://schemas.microsoft.com/office/drawing/2014/main" id="{DDB38682-906A-40BA-B556-FE48AAE22F62}"/>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25A551F3-E0A6-45A7-8802-19A8078FAF5D}"/>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2DCFF3-3EDE-484B-AC37-C7BB651C2D11}"/>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604A16-61F7-4C65-9983-10163ACA9AB2}"/>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5D71487-1ABD-4F18-AB83-FA3F80334750}"/>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5F36CB-81DB-4DA7-AA66-6CE12507F854}"/>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5DF345E-F0A7-4F6E-8ACB-F620297E1465}"/>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39">
            <a:extLst xmlns:a="http://schemas.openxmlformats.org/drawingml/2006/main">
              <a:ext uri="{FF2B5EF4-FFF2-40B4-BE49-F238E27FC236}">
                <a16:creationId xmlns:a16="http://schemas.microsoft.com/office/drawing/2014/main" id="{064FB110-8A38-413E-9F01-B6C76090EA22}"/>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A0086C2-72D4-4CC0-98FC-68D3C19501CC}"/>
              </a:ext>
            </a:extLst>
          </p:cNvPr>
          <p:cNvSpPr>
            <a:spLocks xmlns:a="http://schemas.openxmlformats.org/drawingml/2006/main" noGrp="1"/>
          </p:cNvSpPr>
          <p:nvPr/>
        </p:nvSpPr>
        <p:spPr>
          <a:xfrm xmlns:a="http://schemas.openxmlformats.org/drawingml/2006/main">
            <a:off x="914400" y="2000250"/>
            <a:ext cx="7715250" cy="43434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2b81055eaa864963"/>
          <a:stretch xmlns:a="http://schemas.openxmlformats.org/drawingml/2006/main"/>
        </p:blipFill>
        <p:spPr>
          <a:xfrm xmlns:a="http://schemas.openxmlformats.org/drawingml/2006/main">
            <a:off x="1029758" y="2066925"/>
            <a:ext cx="7484533" cy="42100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87AE0010-9F4F-4CF8-A20F-87864345EA32}"/>
              </a:ext>
            </a:extLst>
          </p:cNvPr>
          <p:cNvSpPr>
            <a:spLocks xmlns:a="http://schemas.openxmlformats.org/drawingml/2006/main" noGrp="1"/>
          </p:cNvSpPr>
          <p:nvPr/>
        </p:nvSpPr>
        <p:spPr>
          <a:xfrm xmlns:a="http://schemas.openxmlformats.org/drawingml/2006/main">
            <a:off x="8953500" y="21336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PLAYABLE VIDEO OUTPUT</a:t>
            </a:r>
          </a:p>
        </p:txBody>
      </p:sp>
      <p:sp>
        <p:nvSpPr>
          <p:cNvPr id="14" name="">
            <a:extLst xmlns:a="http://schemas.openxmlformats.org/drawingml/2006/main">
              <a:ext uri="{FF2B5EF4-FFF2-40B4-BE49-F238E27FC236}">
                <a16:creationId xmlns:a16="http://schemas.microsoft.com/office/drawing/2014/main" id="{858093F1-A3DC-4C70-B565-5FA2FB7A2731}"/>
              </a:ext>
            </a:extLst>
          </p:cNvPr>
          <p:cNvSpPr>
            <a:spLocks xmlns:a="http://schemas.openxmlformats.org/drawingml/2006/main" noGrp="1"/>
          </p:cNvSpPr>
          <p:nvPr/>
        </p:nvSpPr>
        <p:spPr>
          <a:xfrm xmlns:a="http://schemas.openxmlformats.org/drawingml/2006/main">
            <a:off x="8953500" y="2609850"/>
            <a:ext cx="23241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2250" b="1" i="0">
                <a:solidFill>
                  <a:srgbClr val="FFFFFF"/>
                </a:solidFill>
              </a:defRPr>
            </a:pPr>
            <a:r>
              <a:rPr sz="2250" b="1" i="0">
                <a:solidFill>
                  <a:srgbClr val="FFFFFF"/>
                </a:solidFill>
              </a:rPr>
              <a:t>Gradient descent, narrated step by step.</a:t>
            </a:r>
          </a:p>
        </p:txBody>
      </p:sp>
      <p:sp>
        <p:nvSpPr>
          <p:cNvPr id="15" name="">
            <a:extLst xmlns:a="http://schemas.openxmlformats.org/drawingml/2006/main">
              <a:ext uri="{FF2B5EF4-FFF2-40B4-BE49-F238E27FC236}">
                <a16:creationId xmlns:a16="http://schemas.microsoft.com/office/drawing/2014/main" id="{DBCCC6A8-3048-4568-BB36-BDA78B1F009D}"/>
              </a:ext>
            </a:extLst>
          </p:cNvPr>
          <p:cNvSpPr>
            <a:spLocks xmlns:a="http://schemas.openxmlformats.org/drawingml/2006/main" noGrp="1"/>
          </p:cNvSpPr>
          <p:nvPr/>
        </p:nvSpPr>
        <p:spPr>
          <a:xfrm xmlns:a="http://schemas.openxmlformats.org/drawingml/2006/main">
            <a:off x="8953500" y="4095750"/>
            <a:ext cx="23241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0" i="0">
                <a:solidFill>
                  <a:srgbClr val="C8D5DC"/>
                </a:solidFill>
              </a:defRPr>
            </a:pPr>
            <a:r>
              <a:rPr sz="1500" b="0" i="0">
                <a:solidFill>
                  <a:srgbClr val="C8D5DC"/>
                </a:solidFill>
              </a:rPr>
              <a:t>A reusable teaching asset combines visual reasoning, voice, and captions in one sequence.</a:t>
            </a:r>
          </a:p>
        </p:txBody>
      </p:sp>
      <p:sp>
        <p:nvSpPr>
          <p:cNvPr id="16" name="">
            <a:extLst xmlns:a="http://schemas.openxmlformats.org/drawingml/2006/main">
              <a:ext uri="{FF2B5EF4-FFF2-40B4-BE49-F238E27FC236}">
                <a16:creationId xmlns:a16="http://schemas.microsoft.com/office/drawing/2014/main" id="{F68E8C98-0944-4AE8-8CB6-E0D66B15B7DC}"/>
              </a:ext>
            </a:extLst>
          </p:cNvPr>
          <p:cNvSpPr>
            <a:spLocks xmlns:a="http://schemas.openxmlformats.org/drawingml/2006/main" noGrp="1"/>
          </p:cNvSpPr>
          <p:nvPr/>
        </p:nvSpPr>
        <p:spPr>
          <a:xfrm xmlns:a="http://schemas.openxmlformats.org/drawingml/2006/main">
            <a:off x="8953500" y="5334000"/>
            <a:ext cx="1104900" cy="28575"/>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228DE6A-6454-4E1B-ADC0-BDEE471EAB74}"/>
              </a:ext>
            </a:extLst>
          </p:cNvPr>
          <p:cNvSpPr>
            <a:spLocks xmlns:a="http://schemas.openxmlformats.org/drawingml/2006/main" noGrp="1"/>
          </p:cNvSpPr>
          <p:nvPr/>
        </p:nvSpPr>
        <p:spPr>
          <a:xfrm xmlns:a="http://schemas.openxmlformats.org/drawingml/2006/main">
            <a:off x="8953500" y="55245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200" b="1" i="0">
                <a:solidFill>
                  <a:srgbClr val="FFC000"/>
                </a:solidFill>
              </a:defRPr>
            </a:pPr>
            <a:r>
              <a:rPr sz="1200" b="1" i="0">
                <a:solidFill>
                  <a:srgbClr val="FFC000"/>
                </a:solidFill>
              </a:rPr>
              <a:t>CLICK TO PLAY</a:t>
            </a:r>
          </a:p>
          <a:p xmlns:a="http://schemas.openxmlformats.org/drawingml/2006/main">
            <a:pPr algn="l">
              <a:defRPr sz="1200" b="1" i="0">
                <a:solidFill>
                  <a:srgbClr val="FFC000"/>
                </a:solidFill>
              </a:defRPr>
            </a:pPr>
            <a:r>
              <a:rPr sz="1200" b="1" i="0">
                <a:solidFill>
                  <a:srgbClr val="FFC000"/>
                </a:solidFill>
              </a:rPr>
              <a:t>IN SLIDE SHOW</a:t>
            </a:r>
          </a:p>
        </p:txBody>
      </p:sp>
      <p:sp>
        <p:nvSpPr>
          <p:cNvPr id="18" name="">
            <a:extLst xmlns:a="http://schemas.openxmlformats.org/drawingml/2006/main">
              <a:ext uri="{FF2B5EF4-FFF2-40B4-BE49-F238E27FC236}">
                <a16:creationId xmlns:a16="http://schemas.microsoft.com/office/drawing/2014/main" id="{F9205FBB-E344-40C7-8F2E-32BD4D56E2E8}"/>
              </a:ext>
            </a:extLst>
          </p:cNvPr>
          <p:cNvSpPr>
            <a:spLocks xmlns:a="http://schemas.openxmlformats.org/drawingml/2006/main" noGrp="1"/>
          </p:cNvSpPr>
          <p:nvPr/>
        </p:nvSpPr>
        <p:spPr>
          <a:xfrm xmlns:a="http://schemas.openxmlformats.org/drawingml/2006/main">
            <a:off x="914400" y="6286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AFK RESEARCH · PRODUCT MEDIA</a:t>
            </a:r>
          </a:p>
        </p:txBody>
      </p:sp>
      <p:sp>
        <p:nvSpPr>
          <p:cNvPr id="19" name="slide-title">
            <a:extLst xmlns:a="http://schemas.openxmlformats.org/drawingml/2006/main">
              <a:ext uri="{FF2B5EF4-FFF2-40B4-BE49-F238E27FC236}">
                <a16:creationId xmlns:a16="http://schemas.microsoft.com/office/drawing/2014/main" id="{E1F507CF-C443-4AC4-A369-4C6383A82ED7}"/>
              </a:ext>
            </a:extLst>
          </p:cNvPr>
          <p:cNvSpPr>
            <a:spLocks xmlns:a="http://schemas.openxmlformats.org/drawingml/2006/main" noGrp="1"/>
          </p:cNvSpPr>
          <p:nvPr/>
        </p:nvSpPr>
        <p:spPr>
          <a:xfrm xmlns:a="http://schemas.openxmlformats.org/drawingml/2006/main">
            <a:off x="914400" y="990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 STEM concept becomes a playable explanation</a:t>
            </a:r>
          </a:p>
        </p:txBody>
      </p:sp>
      <p:sp>
        <p:nvSpPr>
          <p:cNvPr id="20" name="">
            <a:extLst xmlns:a="http://schemas.openxmlformats.org/drawingml/2006/main">
              <a:ext uri="{FF2B5EF4-FFF2-40B4-BE49-F238E27FC236}">
                <a16:creationId xmlns:a16="http://schemas.microsoft.com/office/drawing/2014/main" id="{B9B3F3BF-57EA-4F34-B591-D60659AF2C38}"/>
              </a:ext>
            </a:extLst>
          </p:cNvPr>
          <p:cNvSpPr>
            <a:spLocks xmlns:a="http://schemas.openxmlformats.org/drawingml/2006/main" noGrp="1"/>
          </p:cNvSpPr>
          <p:nvPr/>
        </p:nvSpPr>
        <p:spPr>
          <a:xfrm xmlns:a="http://schemas.openxmlformats.org/drawingml/2006/main">
            <a:off x="914400" y="16573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78206E8-D55B-4F1F-852F-58D293B6DA57}"/>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Tree>
    <p:extLst>
      <p:ext uri="{BB962C8B-B14F-4D97-AF65-F5344CB8AC3E}">
        <p14:creationId xmlns:p14="http://schemas.microsoft.com/office/powerpoint/2010/main" val="426072144"/>
      </p:ext>
    </p:extLst>
  </p:cSld>
</p:sld>
</file>

<file path=ppt/slides/slide40.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40">
            <a:extLst xmlns:a="http://schemas.openxmlformats.org/drawingml/2006/main">
              <a:ext uri="{FF2B5EF4-FFF2-40B4-BE49-F238E27FC236}">
                <a16:creationId xmlns:a16="http://schemas.microsoft.com/office/drawing/2014/main" id="{9BDA61A7-218D-45E7-A893-4D4B710D728F}"/>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B48836A-D5AA-4C68-BA01-036087907293}"/>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40</a:t>
            </a:r>
          </a:p>
        </p:txBody>
      </p:sp>
      <p:sp>
        <p:nvSpPr>
          <p:cNvPr id="3" name="">
            <a:extLst xmlns:a="http://schemas.openxmlformats.org/drawingml/2006/main">
              <a:ext uri="{FF2B5EF4-FFF2-40B4-BE49-F238E27FC236}">
                <a16:creationId xmlns:a16="http://schemas.microsoft.com/office/drawing/2014/main" id="{B61FE766-2E52-4D15-BF40-802AA98299FE}"/>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60B8DBE0-15AD-4A7A-9467-E581686D7B1F}"/>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8A58E83-3575-4218-A7B0-F5D61E48B113}"/>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4A7CC51-F199-413C-BC3C-7B2BED618580}"/>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1B04220-AE6F-44D9-9771-B07AE6BC3F58}"/>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8C2B2A-21E7-4062-B8C3-C95D0A7CC53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81B8F5-2AB1-4FBB-99EE-5EBFCBB4E739}"/>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0">
            <a:extLst xmlns:a="http://schemas.openxmlformats.org/drawingml/2006/main">
              <a:ext uri="{FF2B5EF4-FFF2-40B4-BE49-F238E27FC236}">
                <a16:creationId xmlns:a16="http://schemas.microsoft.com/office/drawing/2014/main" id="{B57BB1F6-98A4-43F3-97DA-097A0275B2A4}"/>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B25783-D656-40AF-8564-60D8EEBD46CE}"/>
              </a:ext>
            </a:extLst>
          </p:cNvPr>
          <p:cNvSpPr>
            <a:spLocks xmlns:a="http://schemas.openxmlformats.org/drawingml/2006/main" noGrp="1"/>
          </p:cNvSpPr>
          <p:nvPr/>
        </p:nvSpPr>
        <p:spPr>
          <a:xfrm xmlns:a="http://schemas.openxmlformats.org/drawingml/2006/main">
            <a:off x="914400" y="1847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STUDENT–AI DIALOGUE</a:t>
            </a:r>
          </a:p>
        </p:txBody>
      </p:sp>
      <p:sp>
        <p:nvSpPr>
          <p:cNvPr id="12" name="">
            <a:extLst xmlns:a="http://schemas.openxmlformats.org/drawingml/2006/main">
              <a:ext uri="{FF2B5EF4-FFF2-40B4-BE49-F238E27FC236}">
                <a16:creationId xmlns:a16="http://schemas.microsoft.com/office/drawing/2014/main" id="{1D816D5F-AF74-4DB7-86F4-781762E9D76C}"/>
              </a:ext>
            </a:extLst>
          </p:cNvPr>
          <p:cNvSpPr>
            <a:spLocks xmlns:a="http://schemas.openxmlformats.org/drawingml/2006/main" noGrp="1"/>
          </p:cNvSpPr>
          <p:nvPr/>
        </p:nvSpPr>
        <p:spPr>
          <a:xfrm xmlns:a="http://schemas.openxmlformats.org/drawingml/2006/main">
            <a:off x="6172200" y="1847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LECTURER ANALYSIS</a:t>
            </a:r>
          </a:p>
        </p:txBody>
      </p:sp>
      <p:sp>
        <p:nvSpPr>
          <p:cNvPr id="13" name="">
            <a:extLst xmlns:a="http://schemas.openxmlformats.org/drawingml/2006/main">
              <a:ext uri="{FF2B5EF4-FFF2-40B4-BE49-F238E27FC236}">
                <a16:creationId xmlns:a16="http://schemas.microsoft.com/office/drawing/2014/main" id="{18F07820-3DEE-44B9-B38A-442AB1F144A3}"/>
              </a:ext>
            </a:extLst>
          </p:cNvPr>
          <p:cNvSpPr>
            <a:spLocks xmlns:a="http://schemas.openxmlformats.org/drawingml/2006/main" noGrp="1"/>
          </p:cNvSpPr>
          <p:nvPr/>
        </p:nvSpPr>
        <p:spPr>
          <a:xfrm xmlns:a="http://schemas.openxmlformats.org/drawingml/2006/main">
            <a:off x="914400" y="2133600"/>
            <a:ext cx="4953000" cy="304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a64f6a0adf9043d3"/>
          <a:stretch xmlns:a="http://schemas.openxmlformats.org/drawingml/2006/main"/>
        </p:blipFill>
        <p:spPr>
          <a:xfrm xmlns:a="http://schemas.openxmlformats.org/drawingml/2006/main">
            <a:off x="971550" y="2238044"/>
            <a:ext cx="4838700" cy="2839111"/>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C4B0DD5-F242-4021-BF9B-86E49D835013}"/>
              </a:ext>
            </a:extLst>
          </p:cNvPr>
          <p:cNvSpPr>
            <a:spLocks xmlns:a="http://schemas.openxmlformats.org/drawingml/2006/main" noGrp="1"/>
          </p:cNvSpPr>
          <p:nvPr/>
        </p:nvSpPr>
        <p:spPr>
          <a:xfrm xmlns:a="http://schemas.openxmlformats.org/drawingml/2006/main">
            <a:off x="6172200" y="2133600"/>
            <a:ext cx="4953000" cy="304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94dea0a7c574b95"/>
          <a:stretch xmlns:a="http://schemas.openxmlformats.org/drawingml/2006/main"/>
        </p:blipFill>
        <p:spPr>
          <a:xfrm xmlns:a="http://schemas.openxmlformats.org/drawingml/2006/main">
            <a:off x="6229350" y="2218487"/>
            <a:ext cx="4838700" cy="2878226"/>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E0A57728-ECA5-4992-90B1-80E5701C5E6A}"/>
              </a:ext>
            </a:extLst>
          </p:cNvPr>
          <p:cNvSpPr>
            <a:spLocks xmlns:a="http://schemas.openxmlformats.org/drawingml/2006/main" noGrp="1"/>
          </p:cNvSpPr>
          <p:nvPr/>
        </p:nvSpPr>
        <p:spPr>
          <a:xfrm xmlns:a="http://schemas.openxmlformats.org/drawingml/2006/main">
            <a:off x="914400" y="5467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WHY IT MATTERS</a:t>
            </a:r>
          </a:p>
        </p:txBody>
      </p:sp>
      <p:sp>
        <p:nvSpPr>
          <p:cNvPr id="18" name="">
            <a:extLst xmlns:a="http://schemas.openxmlformats.org/drawingml/2006/main">
              <a:ext uri="{FF2B5EF4-FFF2-40B4-BE49-F238E27FC236}">
                <a16:creationId xmlns:a16="http://schemas.microsoft.com/office/drawing/2014/main" id="{32E3B456-A7DA-4140-B1E1-7EE4717CC85C}"/>
              </a:ext>
            </a:extLst>
          </p:cNvPr>
          <p:cNvSpPr>
            <a:spLocks xmlns:a="http://schemas.openxmlformats.org/drawingml/2006/main" noGrp="1"/>
          </p:cNvSpPr>
          <p:nvPr/>
        </p:nvSpPr>
        <p:spPr>
          <a:xfrm xmlns:a="http://schemas.openxmlformats.org/drawingml/2006/main">
            <a:off x="914400" y="5772150"/>
            <a:ext cx="10134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A product concept connects the learning interaction to a reviewable view—without delegating the assessment decision.</a:t>
            </a:r>
          </a:p>
        </p:txBody>
      </p:sp>
      <p:sp>
        <p:nvSpPr>
          <p:cNvPr id="19" name="">
            <a:extLst xmlns:a="http://schemas.openxmlformats.org/drawingml/2006/main">
              <a:ext uri="{FF2B5EF4-FFF2-40B4-BE49-F238E27FC236}">
                <a16:creationId xmlns:a16="http://schemas.microsoft.com/office/drawing/2014/main" id="{91FBC24A-25DC-4448-A43A-A25223B3AE0D}"/>
              </a:ext>
            </a:extLst>
          </p:cNvPr>
          <p:cNvSpPr>
            <a:spLocks xmlns:a="http://schemas.openxmlformats.org/drawingml/2006/main" noGrp="1"/>
          </p:cNvSpPr>
          <p:nvPr/>
        </p:nvSpPr>
        <p:spPr>
          <a:xfrm xmlns:a="http://schemas.openxmlformats.org/drawingml/2006/main">
            <a:off x="914400" y="6286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AFK RESEARCH · PRODUCT MEDIA</a:t>
            </a:r>
          </a:p>
        </p:txBody>
      </p:sp>
      <p:sp>
        <p:nvSpPr>
          <p:cNvPr id="20" name="slide-title">
            <a:extLst xmlns:a="http://schemas.openxmlformats.org/drawingml/2006/main">
              <a:ext uri="{FF2B5EF4-FFF2-40B4-BE49-F238E27FC236}">
                <a16:creationId xmlns:a16="http://schemas.microsoft.com/office/drawing/2014/main" id="{1C0E0748-5ABB-4072-BB86-82562DE9172E}"/>
              </a:ext>
            </a:extLst>
          </p:cNvPr>
          <p:cNvSpPr>
            <a:spLocks xmlns:a="http://schemas.openxmlformats.org/drawingml/2006/main" noGrp="1"/>
          </p:cNvSpPr>
          <p:nvPr/>
        </p:nvSpPr>
        <p:spPr>
          <a:xfrm xmlns:a="http://schemas.openxmlformats.org/drawingml/2006/main">
            <a:off x="914400" y="990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Student dialogue becomes evidence for review</a:t>
            </a:r>
          </a:p>
        </p:txBody>
      </p:sp>
      <p:sp>
        <p:nvSpPr>
          <p:cNvPr id="21" name="">
            <a:extLst xmlns:a="http://schemas.openxmlformats.org/drawingml/2006/main">
              <a:ext uri="{FF2B5EF4-FFF2-40B4-BE49-F238E27FC236}">
                <a16:creationId xmlns:a16="http://schemas.microsoft.com/office/drawing/2014/main" id="{312E89BD-9276-4392-A23E-DB7EA8F58953}"/>
              </a:ext>
            </a:extLst>
          </p:cNvPr>
          <p:cNvSpPr>
            <a:spLocks xmlns:a="http://schemas.openxmlformats.org/drawingml/2006/main" noGrp="1"/>
          </p:cNvSpPr>
          <p:nvPr/>
        </p:nvSpPr>
        <p:spPr>
          <a:xfrm xmlns:a="http://schemas.openxmlformats.org/drawingml/2006/main">
            <a:off x="914400" y="16573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F621B10-BB41-4209-9335-69F720EDBAB0}"/>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Tree>
    <p:extLst>
      <p:ext uri="{BB962C8B-B14F-4D97-AF65-F5344CB8AC3E}">
        <p14:creationId xmlns:p14="http://schemas.microsoft.com/office/powerpoint/2010/main" val="1816967630"/>
      </p:ext>
    </p:extLst>
  </p:cSld>
</p:sld>
</file>

<file path=ppt/slides/slide41.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2" name="metadata-rail-41">
            <a:extLst xmlns:a="http://schemas.openxmlformats.org/drawingml/2006/main">
              <a:ext uri="{FF2B5EF4-FFF2-40B4-BE49-F238E27FC236}">
                <a16:creationId xmlns:a16="http://schemas.microsoft.com/office/drawing/2014/main" id="{26E24A0C-2F65-4E03-96E5-72E1ACA0053B}"/>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E82F3B7-3C08-4F55-B6AC-4C1E8C269CC8}"/>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41</a:t>
            </a:r>
          </a:p>
        </p:txBody>
      </p:sp>
      <p:sp>
        <p:nvSpPr>
          <p:cNvPr id="3" name="">
            <a:extLst xmlns:a="http://schemas.openxmlformats.org/drawingml/2006/main">
              <a:ext uri="{FF2B5EF4-FFF2-40B4-BE49-F238E27FC236}">
                <a16:creationId xmlns:a16="http://schemas.microsoft.com/office/drawing/2014/main" id="{484AF9DE-3572-427E-876E-3E46368D0495}"/>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B565467E-21BE-4C56-BBD7-B84C09F94C4C}"/>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7722F4D-CAE5-4172-AA8E-C367C899CE6E}"/>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F837B33-3E33-434D-8E85-2C11D43D0951}"/>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787ED4-7600-498A-9C54-332B137EDDAD}"/>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EC5D98-7762-4DB9-819E-A3C55F9B77DE}"/>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C829BB4-E84E-4E5A-A722-F51D370C53AE}"/>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1">
            <a:extLst xmlns:a="http://schemas.openxmlformats.org/drawingml/2006/main">
              <a:ext uri="{FF2B5EF4-FFF2-40B4-BE49-F238E27FC236}">
                <a16:creationId xmlns:a16="http://schemas.microsoft.com/office/drawing/2014/main" id="{E3F71B82-4274-4864-93A8-7554E52EAD52}"/>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8D1AA5A-F753-4482-BF9E-3B1EB5AA243D}"/>
              </a:ext>
            </a:extLst>
          </p:cNvPr>
          <p:cNvSpPr>
            <a:spLocks xmlns:a="http://schemas.openxmlformats.org/drawingml/2006/main" noGrp="1"/>
          </p:cNvSpPr>
          <p:nvPr/>
        </p:nvSpPr>
        <p:spPr>
          <a:xfrm xmlns:a="http://schemas.openxmlformats.org/drawingml/2006/main">
            <a:off x="914400" y="18478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PUBLISHED ACADEMIC PROFILE</a:t>
            </a:r>
          </a:p>
        </p:txBody>
      </p:sp>
      <p:sp>
        <p:nvSpPr>
          <p:cNvPr id="12" name="">
            <a:extLst xmlns:a="http://schemas.openxmlformats.org/drawingml/2006/main">
              <a:ext uri="{FF2B5EF4-FFF2-40B4-BE49-F238E27FC236}">
                <a16:creationId xmlns:a16="http://schemas.microsoft.com/office/drawing/2014/main" id="{23FA5474-A5C3-4875-BFAA-54D25B7F610D}"/>
              </a:ext>
            </a:extLst>
          </p:cNvPr>
          <p:cNvSpPr>
            <a:spLocks xmlns:a="http://schemas.openxmlformats.org/drawingml/2006/main" noGrp="1"/>
          </p:cNvSpPr>
          <p:nvPr/>
        </p:nvSpPr>
        <p:spPr>
          <a:xfrm xmlns:a="http://schemas.openxmlformats.org/drawingml/2006/main">
            <a:off x="7429500" y="184785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AGENT CHANGE LOG</a:t>
            </a:r>
          </a:p>
        </p:txBody>
      </p:sp>
      <p:sp>
        <p:nvSpPr>
          <p:cNvPr id="13" name="">
            <a:extLst xmlns:a="http://schemas.openxmlformats.org/drawingml/2006/main">
              <a:ext uri="{FF2B5EF4-FFF2-40B4-BE49-F238E27FC236}">
                <a16:creationId xmlns:a16="http://schemas.microsoft.com/office/drawing/2014/main" id="{9A709B74-DBDB-487E-9454-9A00C7B07D78}"/>
              </a:ext>
            </a:extLst>
          </p:cNvPr>
          <p:cNvSpPr>
            <a:spLocks xmlns:a="http://schemas.openxmlformats.org/drawingml/2006/main" noGrp="1"/>
          </p:cNvSpPr>
          <p:nvPr/>
        </p:nvSpPr>
        <p:spPr>
          <a:xfrm xmlns:a="http://schemas.openxmlformats.org/drawingml/2006/main">
            <a:off x="914400" y="2133600"/>
            <a:ext cx="6191250" cy="3667125"/>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6ce04348fdd4073"/>
          <a:stretch xmlns:a="http://schemas.openxmlformats.org/drawingml/2006/main"/>
        </p:blipFill>
        <p:spPr>
          <a:xfrm xmlns:a="http://schemas.openxmlformats.org/drawingml/2006/main">
            <a:off x="1244318" y="2190750"/>
            <a:ext cx="5531415" cy="35528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54B2AEB-BA69-428A-BB51-AAAF84F9DDF8}"/>
              </a:ext>
            </a:extLst>
          </p:cNvPr>
          <p:cNvSpPr>
            <a:spLocks xmlns:a="http://schemas.openxmlformats.org/drawingml/2006/main" noGrp="1"/>
          </p:cNvSpPr>
          <p:nvPr/>
        </p:nvSpPr>
        <p:spPr>
          <a:xfrm xmlns:a="http://schemas.openxmlformats.org/drawingml/2006/main">
            <a:off x="7429500" y="2133600"/>
            <a:ext cx="3714750" cy="3667125"/>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1120d1a057e479c"/>
          <a:stretch xmlns:a="http://schemas.openxmlformats.org/drawingml/2006/main"/>
        </p:blipFill>
        <p:spPr>
          <a:xfrm xmlns:a="http://schemas.openxmlformats.org/drawingml/2006/main">
            <a:off x="7486650" y="2444653"/>
            <a:ext cx="3600450" cy="304502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084EDBB-DC97-4465-BD20-83849F51E582}"/>
              </a:ext>
            </a:extLst>
          </p:cNvPr>
          <p:cNvSpPr>
            <a:spLocks xmlns:a="http://schemas.openxmlformats.org/drawingml/2006/main" noGrp="1"/>
          </p:cNvSpPr>
          <p:nvPr/>
        </p:nvSpPr>
        <p:spPr>
          <a:xfrm xmlns:a="http://schemas.openxmlformats.org/drawingml/2006/main">
            <a:off x="914400" y="5962650"/>
            <a:ext cx="10229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FFFF"/>
                </a:solidFill>
              </a:defRPr>
            </a:pPr>
            <a:r>
              <a:rPr sz="1500" b="1" i="0">
                <a:solidFill>
                  <a:srgbClr val="FFFFFF"/>
                </a:solidFill>
              </a:rPr>
              <a:t>The agent prepares and validates updates; the lecturer retains the release decision.</a:t>
            </a:r>
          </a:p>
        </p:txBody>
      </p:sp>
      <p:sp>
        <p:nvSpPr>
          <p:cNvPr id="18" name="">
            <a:extLst xmlns:a="http://schemas.openxmlformats.org/drawingml/2006/main">
              <a:ext uri="{FF2B5EF4-FFF2-40B4-BE49-F238E27FC236}">
                <a16:creationId xmlns:a16="http://schemas.microsoft.com/office/drawing/2014/main" id="{97F7A31D-C53A-4140-9678-601790344F5A}"/>
              </a:ext>
            </a:extLst>
          </p:cNvPr>
          <p:cNvSpPr>
            <a:spLocks xmlns:a="http://schemas.openxmlformats.org/drawingml/2006/main" noGrp="1"/>
          </p:cNvSpPr>
          <p:nvPr/>
        </p:nvSpPr>
        <p:spPr>
          <a:xfrm xmlns:a="http://schemas.openxmlformats.org/drawingml/2006/main">
            <a:off x="914400" y="6286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AFK RESEARCH · PRODUCT MEDIA</a:t>
            </a:r>
          </a:p>
        </p:txBody>
      </p:sp>
      <p:sp>
        <p:nvSpPr>
          <p:cNvPr id="19" name="slide-title">
            <a:extLst xmlns:a="http://schemas.openxmlformats.org/drawingml/2006/main">
              <a:ext uri="{FF2B5EF4-FFF2-40B4-BE49-F238E27FC236}">
                <a16:creationId xmlns:a16="http://schemas.microsoft.com/office/drawing/2014/main" id="{288F6DBE-9EEF-4F4D-BD07-0BAF5238E090}"/>
              </a:ext>
            </a:extLst>
          </p:cNvPr>
          <p:cNvSpPr>
            <a:spLocks xmlns:a="http://schemas.openxmlformats.org/drawingml/2006/main" noGrp="1"/>
          </p:cNvSpPr>
          <p:nvPr/>
        </p:nvSpPr>
        <p:spPr>
          <a:xfrm xmlns:a="http://schemas.openxmlformats.org/drawingml/2006/main">
            <a:off x="914400" y="990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Agents can maintain an academic website</a:t>
            </a:r>
          </a:p>
        </p:txBody>
      </p:sp>
      <p:sp>
        <p:nvSpPr>
          <p:cNvPr id="20" name="">
            <a:extLst xmlns:a="http://schemas.openxmlformats.org/drawingml/2006/main">
              <a:ext uri="{FF2B5EF4-FFF2-40B4-BE49-F238E27FC236}">
                <a16:creationId xmlns:a16="http://schemas.microsoft.com/office/drawing/2014/main" id="{54415BD7-37E5-4195-B691-E6B9D377427D}"/>
              </a:ext>
            </a:extLst>
          </p:cNvPr>
          <p:cNvSpPr>
            <a:spLocks xmlns:a="http://schemas.openxmlformats.org/drawingml/2006/main" noGrp="1"/>
          </p:cNvSpPr>
          <p:nvPr/>
        </p:nvSpPr>
        <p:spPr>
          <a:xfrm xmlns:a="http://schemas.openxmlformats.org/drawingml/2006/main">
            <a:off x="914400" y="16573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C4886B-AA9E-4515-8498-5F4C007027AC}"/>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Tree>
    <p:extLst>
      <p:ext uri="{BB962C8B-B14F-4D97-AF65-F5344CB8AC3E}">
        <p14:creationId xmlns:p14="http://schemas.microsoft.com/office/powerpoint/2010/main" val="1334560884"/>
      </p:ext>
    </p:extLst>
  </p:cSld>
</p:sld>
</file>

<file path=ppt/slides/slide42.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42">
            <a:extLst xmlns:a="http://schemas.openxmlformats.org/drawingml/2006/main">
              <a:ext uri="{FF2B5EF4-FFF2-40B4-BE49-F238E27FC236}">
                <a16:creationId xmlns:a16="http://schemas.microsoft.com/office/drawing/2014/main" id="{D59007CF-3F85-49C9-AF52-CBE186898CE7}"/>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8667A4-E81F-4607-A1BA-D97B96C5B051}"/>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42</a:t>
            </a:r>
          </a:p>
        </p:txBody>
      </p:sp>
      <p:sp>
        <p:nvSpPr>
          <p:cNvPr id="3" name="">
            <a:extLst xmlns:a="http://schemas.openxmlformats.org/drawingml/2006/main">
              <a:ext uri="{FF2B5EF4-FFF2-40B4-BE49-F238E27FC236}">
                <a16:creationId xmlns:a16="http://schemas.microsoft.com/office/drawing/2014/main" id="{05FD59B6-E694-455D-987F-E299B0B22886}"/>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EE8F53C6-DEEF-48E1-8BD2-075681B88E26}"/>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1FBD354-0D35-48E0-9C96-EE51F6B8FE19}"/>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809DD3-73B3-4AA2-959F-1E957B32E142}"/>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EBE7B42-1711-4808-AD37-EBCFFC7106BF}"/>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C357F7-9842-447F-A0EF-83F1490EB20D}"/>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00F5210-786D-4AC8-BAC2-40443A364404}"/>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2">
            <a:extLst xmlns:a="http://schemas.openxmlformats.org/drawingml/2006/main">
              <a:ext uri="{FF2B5EF4-FFF2-40B4-BE49-F238E27FC236}">
                <a16:creationId xmlns:a16="http://schemas.microsoft.com/office/drawing/2014/main" id="{B79D3A53-B5FF-4D29-BBBD-56D8D6F4ECCA}"/>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B5DF1A8-6B85-40C4-A41B-BD5D4733C731}"/>
              </a:ext>
            </a:extLst>
          </p:cNvPr>
          <p:cNvSpPr>
            <a:spLocks xmlns:a="http://schemas.openxmlformats.org/drawingml/2006/main" noGrp="1"/>
          </p:cNvSpPr>
          <p:nvPr/>
        </p:nvSpPr>
        <p:spPr>
          <a:xfrm xmlns:a="http://schemas.openxmlformats.org/drawingml/2006/main">
            <a:off x="914400" y="1847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CONSISTENT ACADEMIC STORY</a:t>
            </a:r>
          </a:p>
        </p:txBody>
      </p:sp>
      <p:sp>
        <p:nvSpPr>
          <p:cNvPr id="12" name="">
            <a:extLst xmlns:a="http://schemas.openxmlformats.org/drawingml/2006/main">
              <a:ext uri="{FF2B5EF4-FFF2-40B4-BE49-F238E27FC236}">
                <a16:creationId xmlns:a16="http://schemas.microsoft.com/office/drawing/2014/main" id="{2E2974C2-AFD5-46DA-AB4C-6E45A00378F3}"/>
              </a:ext>
            </a:extLst>
          </p:cNvPr>
          <p:cNvSpPr>
            <a:spLocks xmlns:a="http://schemas.openxmlformats.org/drawingml/2006/main" noGrp="1"/>
          </p:cNvSpPr>
          <p:nvPr/>
        </p:nvSpPr>
        <p:spPr>
          <a:xfrm xmlns:a="http://schemas.openxmlformats.org/drawingml/2006/main">
            <a:off x="6172200" y="1847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RICH TECHNICAL CONTENT</a:t>
            </a:r>
          </a:p>
        </p:txBody>
      </p:sp>
      <p:sp>
        <p:nvSpPr>
          <p:cNvPr id="13" name="">
            <a:extLst xmlns:a="http://schemas.openxmlformats.org/drawingml/2006/main">
              <a:ext uri="{FF2B5EF4-FFF2-40B4-BE49-F238E27FC236}">
                <a16:creationId xmlns:a16="http://schemas.microsoft.com/office/drawing/2014/main" id="{6762DCBB-C308-45EC-AFE9-3BF9C94212EF}"/>
              </a:ext>
            </a:extLst>
          </p:cNvPr>
          <p:cNvSpPr>
            <a:spLocks xmlns:a="http://schemas.openxmlformats.org/drawingml/2006/main" noGrp="1"/>
          </p:cNvSpPr>
          <p:nvPr/>
        </p:nvSpPr>
        <p:spPr>
          <a:xfrm xmlns:a="http://schemas.openxmlformats.org/drawingml/2006/main">
            <a:off x="914400" y="2133600"/>
            <a:ext cx="4953000" cy="304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b7351fe0a6a4c96"/>
          <a:stretch xmlns:a="http://schemas.openxmlformats.org/drawingml/2006/main"/>
        </p:blipFill>
        <p:spPr>
          <a:xfrm xmlns:a="http://schemas.openxmlformats.org/drawingml/2006/main">
            <a:off x="971550" y="2229511"/>
            <a:ext cx="4838700" cy="2856177"/>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0F21F6BD-15A5-4A77-AAC1-E257015CD13A}"/>
              </a:ext>
            </a:extLst>
          </p:cNvPr>
          <p:cNvSpPr>
            <a:spLocks xmlns:a="http://schemas.openxmlformats.org/drawingml/2006/main" noGrp="1"/>
          </p:cNvSpPr>
          <p:nvPr/>
        </p:nvSpPr>
        <p:spPr>
          <a:xfrm xmlns:a="http://schemas.openxmlformats.org/drawingml/2006/main">
            <a:off x="6172200" y="2133600"/>
            <a:ext cx="4953000" cy="304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7b34b226fda54222"/>
          <a:stretch xmlns:a="http://schemas.openxmlformats.org/drawingml/2006/main"/>
        </p:blipFill>
        <p:spPr>
          <a:xfrm xmlns:a="http://schemas.openxmlformats.org/drawingml/2006/main">
            <a:off x="6265346" y="2190750"/>
            <a:ext cx="4766708" cy="29337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62080EF-0395-4196-AFAA-E3436549E759}"/>
              </a:ext>
            </a:extLst>
          </p:cNvPr>
          <p:cNvSpPr>
            <a:spLocks xmlns:a="http://schemas.openxmlformats.org/drawingml/2006/main" noGrp="1"/>
          </p:cNvSpPr>
          <p:nvPr/>
        </p:nvSpPr>
        <p:spPr>
          <a:xfrm xmlns:a="http://schemas.openxmlformats.org/drawingml/2006/main">
            <a:off x="914400" y="5467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WHY IT MATTERS</a:t>
            </a:r>
          </a:p>
        </p:txBody>
      </p:sp>
      <p:sp>
        <p:nvSpPr>
          <p:cNvPr id="18" name="">
            <a:extLst xmlns:a="http://schemas.openxmlformats.org/drawingml/2006/main">
              <a:ext uri="{FF2B5EF4-FFF2-40B4-BE49-F238E27FC236}">
                <a16:creationId xmlns:a16="http://schemas.microsoft.com/office/drawing/2014/main" id="{DE03C873-499D-4F1C-A599-014E871F948A}"/>
              </a:ext>
            </a:extLst>
          </p:cNvPr>
          <p:cNvSpPr>
            <a:spLocks xmlns:a="http://schemas.openxmlformats.org/drawingml/2006/main" noGrp="1"/>
          </p:cNvSpPr>
          <p:nvPr/>
        </p:nvSpPr>
        <p:spPr>
          <a:xfrm xmlns:a="http://schemas.openxmlformats.org/drawingml/2006/main">
            <a:off x="914400" y="5772150"/>
            <a:ext cx="10134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Shared visual rules keep the family coherent while each course or research topic preserves its own evidence.</a:t>
            </a:r>
          </a:p>
        </p:txBody>
      </p:sp>
      <p:sp>
        <p:nvSpPr>
          <p:cNvPr id="19" name="">
            <a:extLst xmlns:a="http://schemas.openxmlformats.org/drawingml/2006/main">
              <a:ext uri="{FF2B5EF4-FFF2-40B4-BE49-F238E27FC236}">
                <a16:creationId xmlns:a16="http://schemas.microsoft.com/office/drawing/2014/main" id="{2A1907DF-C95E-4DD6-BBFF-99C3F9BF2335}"/>
              </a:ext>
            </a:extLst>
          </p:cNvPr>
          <p:cNvSpPr>
            <a:spLocks xmlns:a="http://schemas.openxmlformats.org/drawingml/2006/main" noGrp="1"/>
          </p:cNvSpPr>
          <p:nvPr/>
        </p:nvSpPr>
        <p:spPr>
          <a:xfrm xmlns:a="http://schemas.openxmlformats.org/drawingml/2006/main">
            <a:off x="914400" y="6286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FFC000"/>
                </a:solidFill>
              </a:defRPr>
            </a:pPr>
            <a:r>
              <a:rPr sz="1125" b="1" i="0">
                <a:solidFill>
                  <a:srgbClr val="FFC000"/>
                </a:solidFill>
              </a:rPr>
              <a:t>AFK RESEARCH · PRODUCT MEDIA</a:t>
            </a:r>
          </a:p>
        </p:txBody>
      </p:sp>
      <p:sp>
        <p:nvSpPr>
          <p:cNvPr id="20" name="slide-title">
            <a:extLst xmlns:a="http://schemas.openxmlformats.org/drawingml/2006/main">
              <a:ext uri="{FF2B5EF4-FFF2-40B4-BE49-F238E27FC236}">
                <a16:creationId xmlns:a16="http://schemas.microsoft.com/office/drawing/2014/main" id="{660F63C7-5AEA-4733-9D92-AC1913AE513A}"/>
              </a:ext>
            </a:extLst>
          </p:cNvPr>
          <p:cNvSpPr>
            <a:spLocks xmlns:a="http://schemas.openxmlformats.org/drawingml/2006/main" noGrp="1"/>
          </p:cNvSpPr>
          <p:nvPr/>
        </p:nvSpPr>
        <p:spPr>
          <a:xfrm xmlns:a="http://schemas.openxmlformats.org/drawingml/2006/main">
            <a:off x="914400" y="9906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 Design System keeps materials coherent</a:t>
            </a:r>
          </a:p>
        </p:txBody>
      </p:sp>
      <p:sp>
        <p:nvSpPr>
          <p:cNvPr id="21" name="">
            <a:extLst xmlns:a="http://schemas.openxmlformats.org/drawingml/2006/main">
              <a:ext uri="{FF2B5EF4-FFF2-40B4-BE49-F238E27FC236}">
                <a16:creationId xmlns:a16="http://schemas.microsoft.com/office/drawing/2014/main" id="{C1319E88-79BD-4251-9FE7-9F95F2AFB049}"/>
              </a:ext>
            </a:extLst>
          </p:cNvPr>
          <p:cNvSpPr>
            <a:spLocks xmlns:a="http://schemas.openxmlformats.org/drawingml/2006/main" noGrp="1"/>
          </p:cNvSpPr>
          <p:nvPr/>
        </p:nvSpPr>
        <p:spPr>
          <a:xfrm xmlns:a="http://schemas.openxmlformats.org/drawingml/2006/main">
            <a:off x="914400" y="16573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4727B7-2E95-41C9-A168-C86D4ACFE6F6}"/>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Tree>
    <p:extLst>
      <p:ext uri="{BB962C8B-B14F-4D97-AF65-F5344CB8AC3E}">
        <p14:creationId xmlns:p14="http://schemas.microsoft.com/office/powerpoint/2010/main" val="437748083"/>
      </p:ext>
    </p:extLst>
  </p:cSld>
</p:sld>
</file>

<file path=ppt/slides/slide43.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5" name="metadata-rail-43">
            <a:extLst xmlns:a="http://schemas.openxmlformats.org/drawingml/2006/main">
              <a:ext uri="{FF2B5EF4-FFF2-40B4-BE49-F238E27FC236}">
                <a16:creationId xmlns:a16="http://schemas.microsoft.com/office/drawing/2014/main" id="{30C5A519-7CC9-4FC0-B8D5-8E6C37ABFEDE}"/>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EABB31-E585-4368-84DA-2FEEC304D75A}"/>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43</a:t>
            </a:r>
          </a:p>
        </p:txBody>
      </p:sp>
      <p:sp>
        <p:nvSpPr>
          <p:cNvPr id="3" name="">
            <a:extLst xmlns:a="http://schemas.openxmlformats.org/drawingml/2006/main">
              <a:ext uri="{FF2B5EF4-FFF2-40B4-BE49-F238E27FC236}">
                <a16:creationId xmlns:a16="http://schemas.microsoft.com/office/drawing/2014/main" id="{C9580CCB-E603-497E-962F-8324E3D483FE}"/>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AE9C3CE2-3D84-45B3-896F-DD19BDC07D22}"/>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91DB65B-FE77-4BE8-91A0-99CACD303D70}"/>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E21B5A6-4A93-4521-B04B-DBCE5588DB25}"/>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F82896-2E70-43F9-87FB-EC64EA593EF0}"/>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B0DDCA-4097-427E-85AD-3D537B4EAD44}"/>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1EC544-E739-4C36-BDD5-23CBA5508A3A}"/>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3">
            <a:extLst xmlns:a="http://schemas.openxmlformats.org/drawingml/2006/main">
              <a:ext uri="{FF2B5EF4-FFF2-40B4-BE49-F238E27FC236}">
                <a16:creationId xmlns:a16="http://schemas.microsoft.com/office/drawing/2014/main" id="{631C83E3-3A0D-4AA1-B0DC-DF1AF6C1D705}"/>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A90C2F-FB6B-4400-A4B9-218D4205CCC5}"/>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0B343069-F661-4CB5-B42A-41B521A8284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The implemented architecture is layered</a:t>
            </a:r>
          </a:p>
        </p:txBody>
      </p:sp>
      <p:sp>
        <p:nvSpPr>
          <p:cNvPr id="13" name="">
            <a:extLst xmlns:a="http://schemas.openxmlformats.org/drawingml/2006/main">
              <a:ext uri="{FF2B5EF4-FFF2-40B4-BE49-F238E27FC236}">
                <a16:creationId xmlns:a16="http://schemas.microsoft.com/office/drawing/2014/main" id="{1BBE950F-FAEF-400F-BD14-9A47BA54F1C6}"/>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414A68-2EBD-4491-A98D-4ED6F904561B}"/>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0772BF-9E43-4035-8F30-4F0FA6A931F7}"/>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BE71A2-290B-48BA-9CDB-2AFE42429A24}"/>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FDF37333-D4FE-4466-8A63-066425FB9171}"/>
              </a:ext>
            </a:extLst>
          </p:cNvPr>
          <p:cNvSpPr>
            <a:spLocks xmlns:a="http://schemas.openxmlformats.org/drawingml/2006/main" noGrp="1"/>
          </p:cNvSpPr>
          <p:nvPr/>
        </p:nvSpPr>
        <p:spPr>
          <a:xfrm xmlns:a="http://schemas.openxmlformats.org/drawingml/2006/main">
            <a:off x="990600" y="34290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Project</a:t>
            </a:r>
          </a:p>
        </p:txBody>
      </p:sp>
      <p:sp>
        <p:nvSpPr>
          <p:cNvPr id="18" name="">
            <a:extLst xmlns:a="http://schemas.openxmlformats.org/drawingml/2006/main">
              <a:ext uri="{FF2B5EF4-FFF2-40B4-BE49-F238E27FC236}">
                <a16:creationId xmlns:a16="http://schemas.microsoft.com/office/drawing/2014/main" id="{EB72EDAA-CF72-4491-8C7B-97391BF6BEEE}"/>
              </a:ext>
            </a:extLst>
          </p:cNvPr>
          <p:cNvSpPr>
            <a:spLocks xmlns:a="http://schemas.openxmlformats.org/drawingml/2006/main" noGrp="1"/>
          </p:cNvSpPr>
          <p:nvPr/>
        </p:nvSpPr>
        <p:spPr>
          <a:xfrm xmlns:a="http://schemas.openxmlformats.org/drawingml/2006/main">
            <a:off x="990600" y="4019550"/>
            <a:ext cx="1676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An existing GitHub-backed worktree.</a:t>
            </a:r>
          </a:p>
        </p:txBody>
      </p:sp>
      <p:sp>
        <p:nvSpPr>
          <p:cNvPr id="19" name="">
            <a:extLst xmlns:a="http://schemas.openxmlformats.org/drawingml/2006/main">
              <a:ext uri="{FF2B5EF4-FFF2-40B4-BE49-F238E27FC236}">
                <a16:creationId xmlns:a16="http://schemas.microsoft.com/office/drawing/2014/main" id="{733CECBD-A57B-4C56-AC67-9D71552A7415}"/>
              </a:ext>
            </a:extLst>
          </p:cNvPr>
          <p:cNvSpPr>
            <a:spLocks xmlns:a="http://schemas.openxmlformats.org/drawingml/2006/main" noGrp="1"/>
          </p:cNvSpPr>
          <p:nvPr/>
        </p:nvSpPr>
        <p:spPr>
          <a:xfrm xmlns:a="http://schemas.openxmlformats.org/drawingml/2006/main">
            <a:off x="29527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0CB9DB8-0AA8-4F43-A535-D8A0660ABB71}"/>
              </a:ext>
            </a:extLst>
          </p:cNvPr>
          <p:cNvSpPr>
            <a:spLocks xmlns:a="http://schemas.openxmlformats.org/drawingml/2006/main" noGrp="1"/>
          </p:cNvSpPr>
          <p:nvPr/>
        </p:nvSpPr>
        <p:spPr>
          <a:xfrm xmlns:a="http://schemas.openxmlformats.org/drawingml/2006/main">
            <a:off x="29527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CD59A822-290D-4516-96FA-67B883944A10}"/>
              </a:ext>
            </a:extLst>
          </p:cNvPr>
          <p:cNvSpPr>
            <a:spLocks xmlns:a="http://schemas.openxmlformats.org/drawingml/2006/main" noGrp="1"/>
          </p:cNvSpPr>
          <p:nvPr/>
        </p:nvSpPr>
        <p:spPr>
          <a:xfrm xmlns:a="http://schemas.openxmlformats.org/drawingml/2006/main">
            <a:off x="2933700" y="34290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Installer</a:t>
            </a:r>
          </a:p>
        </p:txBody>
      </p:sp>
      <p:sp>
        <p:nvSpPr>
          <p:cNvPr id="22" name="">
            <a:extLst xmlns:a="http://schemas.openxmlformats.org/drawingml/2006/main">
              <a:ext uri="{FF2B5EF4-FFF2-40B4-BE49-F238E27FC236}">
                <a16:creationId xmlns:a16="http://schemas.microsoft.com/office/drawing/2014/main" id="{7C1E5FEA-FB50-4B71-81D2-F7995311E425}"/>
              </a:ext>
            </a:extLst>
          </p:cNvPr>
          <p:cNvSpPr>
            <a:spLocks xmlns:a="http://schemas.openxmlformats.org/drawingml/2006/main" noGrp="1"/>
          </p:cNvSpPr>
          <p:nvPr/>
        </p:nvSpPr>
        <p:spPr>
          <a:xfrm xmlns:a="http://schemas.openxmlformats.org/drawingml/2006/main">
            <a:off x="2933700" y="4019550"/>
            <a:ext cx="1676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CLI verifies, plans, applies, and checks setup.</a:t>
            </a:r>
          </a:p>
        </p:txBody>
      </p:sp>
      <p:sp>
        <p:nvSpPr>
          <p:cNvPr id="23" name="">
            <a:extLst xmlns:a="http://schemas.openxmlformats.org/drawingml/2006/main">
              <a:ext uri="{FF2B5EF4-FFF2-40B4-BE49-F238E27FC236}">
                <a16:creationId xmlns:a16="http://schemas.microsoft.com/office/drawing/2014/main" id="{A5FA622F-53E2-4671-AC0F-C965EE3467AD}"/>
              </a:ext>
            </a:extLst>
          </p:cNvPr>
          <p:cNvSpPr>
            <a:spLocks xmlns:a="http://schemas.openxmlformats.org/drawingml/2006/main" noGrp="1"/>
          </p:cNvSpPr>
          <p:nvPr/>
        </p:nvSpPr>
        <p:spPr>
          <a:xfrm xmlns:a="http://schemas.openxmlformats.org/drawingml/2006/main">
            <a:off x="48958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DCFA204-A66D-4066-9386-DA4CA28BE71D}"/>
              </a:ext>
            </a:extLst>
          </p:cNvPr>
          <p:cNvSpPr>
            <a:spLocks xmlns:a="http://schemas.openxmlformats.org/drawingml/2006/main" noGrp="1"/>
          </p:cNvSpPr>
          <p:nvPr/>
        </p:nvSpPr>
        <p:spPr>
          <a:xfrm xmlns:a="http://schemas.openxmlformats.org/drawingml/2006/main">
            <a:off x="48958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1DFBB03E-DF14-4E74-9C6D-CC8521347EBB}"/>
              </a:ext>
            </a:extLst>
          </p:cNvPr>
          <p:cNvSpPr>
            <a:spLocks xmlns:a="http://schemas.openxmlformats.org/drawingml/2006/main" noGrp="1"/>
          </p:cNvSpPr>
          <p:nvPr/>
        </p:nvSpPr>
        <p:spPr>
          <a:xfrm xmlns:a="http://schemas.openxmlformats.org/drawingml/2006/main">
            <a:off x="4876800" y="34290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Workspaces</a:t>
            </a:r>
          </a:p>
        </p:txBody>
      </p:sp>
      <p:sp>
        <p:nvSpPr>
          <p:cNvPr id="26" name="">
            <a:extLst xmlns:a="http://schemas.openxmlformats.org/drawingml/2006/main">
              <a:ext uri="{FF2B5EF4-FFF2-40B4-BE49-F238E27FC236}">
                <a16:creationId xmlns:a16="http://schemas.microsoft.com/office/drawing/2014/main" id="{1C2FA3A6-5DBF-4D21-8414-6676EEB989B1}"/>
              </a:ext>
            </a:extLst>
          </p:cNvPr>
          <p:cNvSpPr>
            <a:spLocks xmlns:a="http://schemas.openxmlformats.org/drawingml/2006/main" noGrp="1"/>
          </p:cNvSpPr>
          <p:nvPr/>
        </p:nvSpPr>
        <p:spPr>
          <a:xfrm xmlns:a="http://schemas.openxmlformats.org/drawingml/2006/main">
            <a:off x="4876800" y="4019550"/>
            <a:ext cx="1676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.brain plus optional .design and .schedule.</a:t>
            </a:r>
          </a:p>
        </p:txBody>
      </p:sp>
      <p:sp>
        <p:nvSpPr>
          <p:cNvPr id="27" name="">
            <a:extLst xmlns:a="http://schemas.openxmlformats.org/drawingml/2006/main">
              <a:ext uri="{FF2B5EF4-FFF2-40B4-BE49-F238E27FC236}">
                <a16:creationId xmlns:a16="http://schemas.microsoft.com/office/drawing/2014/main" id="{5588682A-ECC7-482C-AE56-17F11F716B6D}"/>
              </a:ext>
            </a:extLst>
          </p:cNvPr>
          <p:cNvSpPr>
            <a:spLocks xmlns:a="http://schemas.openxmlformats.org/drawingml/2006/main" noGrp="1"/>
          </p:cNvSpPr>
          <p:nvPr/>
        </p:nvSpPr>
        <p:spPr>
          <a:xfrm xmlns:a="http://schemas.openxmlformats.org/drawingml/2006/main">
            <a:off x="68389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B407230-7479-4A7C-9501-5A4934BC7338}"/>
              </a:ext>
            </a:extLst>
          </p:cNvPr>
          <p:cNvSpPr>
            <a:spLocks xmlns:a="http://schemas.openxmlformats.org/drawingml/2006/main" noGrp="1"/>
          </p:cNvSpPr>
          <p:nvPr/>
        </p:nvSpPr>
        <p:spPr>
          <a:xfrm xmlns:a="http://schemas.openxmlformats.org/drawingml/2006/main">
            <a:off x="68389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47391884-0BC3-4658-BE1A-6690718C717E}"/>
              </a:ext>
            </a:extLst>
          </p:cNvPr>
          <p:cNvSpPr>
            <a:spLocks xmlns:a="http://schemas.openxmlformats.org/drawingml/2006/main" noGrp="1"/>
          </p:cNvSpPr>
          <p:nvPr/>
        </p:nvSpPr>
        <p:spPr>
          <a:xfrm xmlns:a="http://schemas.openxmlformats.org/drawingml/2006/main">
            <a:off x="6819900" y="34290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Skills</a:t>
            </a:r>
          </a:p>
        </p:txBody>
      </p:sp>
      <p:sp>
        <p:nvSpPr>
          <p:cNvPr id="30" name="">
            <a:extLst xmlns:a="http://schemas.openxmlformats.org/drawingml/2006/main">
              <a:ext uri="{FF2B5EF4-FFF2-40B4-BE49-F238E27FC236}">
                <a16:creationId xmlns:a16="http://schemas.microsoft.com/office/drawing/2014/main" id="{972D20D8-526F-491A-B278-D28B11F8B1DC}"/>
              </a:ext>
            </a:extLst>
          </p:cNvPr>
          <p:cNvSpPr>
            <a:spLocks xmlns:a="http://schemas.openxmlformats.org/drawingml/2006/main" noGrp="1"/>
          </p:cNvSpPr>
          <p:nvPr/>
        </p:nvSpPr>
        <p:spPr>
          <a:xfrm xmlns:a="http://schemas.openxmlformats.org/drawingml/2006/main">
            <a:off x="6819900" y="4019550"/>
            <a:ext cx="1676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Reusable workflows for agents to follow.</a:t>
            </a:r>
          </a:p>
        </p:txBody>
      </p:sp>
      <p:sp>
        <p:nvSpPr>
          <p:cNvPr id="31" name="">
            <a:extLst xmlns:a="http://schemas.openxmlformats.org/drawingml/2006/main">
              <a:ext uri="{FF2B5EF4-FFF2-40B4-BE49-F238E27FC236}">
                <a16:creationId xmlns:a16="http://schemas.microsoft.com/office/drawing/2014/main" id="{0F9555DF-7C3A-4200-AECD-A7A0C8B8A5B6}"/>
              </a:ext>
            </a:extLst>
          </p:cNvPr>
          <p:cNvSpPr>
            <a:spLocks xmlns:a="http://schemas.openxmlformats.org/drawingml/2006/main" noGrp="1"/>
          </p:cNvSpPr>
          <p:nvPr/>
        </p:nvSpPr>
        <p:spPr>
          <a:xfrm xmlns:a="http://schemas.openxmlformats.org/drawingml/2006/main">
            <a:off x="8782050"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C412889-7332-40B5-A4CE-AE67F6D83584}"/>
              </a:ext>
            </a:extLst>
          </p:cNvPr>
          <p:cNvSpPr>
            <a:spLocks xmlns:a="http://schemas.openxmlformats.org/drawingml/2006/main" noGrp="1"/>
          </p:cNvSpPr>
          <p:nvPr/>
        </p:nvSpPr>
        <p:spPr>
          <a:xfrm xmlns:a="http://schemas.openxmlformats.org/drawingml/2006/main">
            <a:off x="87820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5</a:t>
            </a:r>
          </a:p>
        </p:txBody>
      </p:sp>
      <p:sp>
        <p:nvSpPr>
          <p:cNvPr id="33" name="">
            <a:extLst xmlns:a="http://schemas.openxmlformats.org/drawingml/2006/main">
              <a:ext uri="{FF2B5EF4-FFF2-40B4-BE49-F238E27FC236}">
                <a16:creationId xmlns:a16="http://schemas.microsoft.com/office/drawing/2014/main" id="{15C6B783-10E3-4FF4-B7AC-46D06ECC0684}"/>
              </a:ext>
            </a:extLst>
          </p:cNvPr>
          <p:cNvSpPr>
            <a:spLocks xmlns:a="http://schemas.openxmlformats.org/drawingml/2006/main" noGrp="1"/>
          </p:cNvSpPr>
          <p:nvPr/>
        </p:nvSpPr>
        <p:spPr>
          <a:xfrm xmlns:a="http://schemas.openxmlformats.org/drawingml/2006/main">
            <a:off x="8763000" y="34290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History</a:t>
            </a:r>
          </a:p>
        </p:txBody>
      </p:sp>
      <p:sp>
        <p:nvSpPr>
          <p:cNvPr id="34" name="">
            <a:extLst xmlns:a="http://schemas.openxmlformats.org/drawingml/2006/main">
              <a:ext uri="{FF2B5EF4-FFF2-40B4-BE49-F238E27FC236}">
                <a16:creationId xmlns:a16="http://schemas.microsoft.com/office/drawing/2014/main" id="{EA8A217E-4C45-4A6D-B4F1-EBEECD566B4B}"/>
              </a:ext>
            </a:extLst>
          </p:cNvPr>
          <p:cNvSpPr>
            <a:spLocks xmlns:a="http://schemas.openxmlformats.org/drawingml/2006/main" noGrp="1"/>
          </p:cNvSpPr>
          <p:nvPr/>
        </p:nvSpPr>
        <p:spPr>
          <a:xfrm xmlns:a="http://schemas.openxmlformats.org/drawingml/2006/main">
            <a:off x="8763000" y="4019550"/>
            <a:ext cx="1676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Issues, commits, manifests, and logs.</a:t>
            </a:r>
          </a:p>
        </p:txBody>
      </p:sp>
    </p:spTree>
    <p:extLst>
      <p:ext uri="{BB962C8B-B14F-4D97-AF65-F5344CB8AC3E}">
        <p14:creationId xmlns:p14="http://schemas.microsoft.com/office/powerpoint/2010/main" val="1105121832"/>
      </p:ext>
    </p:extLst>
  </p:cSld>
</p:sld>
</file>

<file path=ppt/slides/slide44.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44">
            <a:extLst xmlns:a="http://schemas.openxmlformats.org/drawingml/2006/main">
              <a:ext uri="{FF2B5EF4-FFF2-40B4-BE49-F238E27FC236}">
                <a16:creationId xmlns:a16="http://schemas.microsoft.com/office/drawing/2014/main" id="{3D2AD0B8-0640-4601-90FA-5500AC6E95F8}"/>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0EC899-30ED-4648-B4BD-A2B1DC7CC8A2}"/>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44</a:t>
            </a:r>
          </a:p>
        </p:txBody>
      </p:sp>
      <p:sp>
        <p:nvSpPr>
          <p:cNvPr id="3" name="">
            <a:extLst xmlns:a="http://schemas.openxmlformats.org/drawingml/2006/main">
              <a:ext uri="{FF2B5EF4-FFF2-40B4-BE49-F238E27FC236}">
                <a16:creationId xmlns:a16="http://schemas.microsoft.com/office/drawing/2014/main" id="{FE8AB745-A61C-4865-91D6-35D665649FEC}"/>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232D8061-C600-475F-B466-4810919B332E}"/>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EDFDDF-88A1-4217-BE5B-9E356AF7506B}"/>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AA93FC0-58F9-4FAA-B659-20F3A23D21AE}"/>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954D1DD-7782-419A-8FD6-68AE4490CC34}"/>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A4EABA7-C058-44DD-81BD-53C4EFCEC9E5}"/>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DB7BCE9-6020-47E8-B2FD-7E6C2FDE5656}"/>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4">
            <a:extLst xmlns:a="http://schemas.openxmlformats.org/drawingml/2006/main">
              <a:ext uri="{FF2B5EF4-FFF2-40B4-BE49-F238E27FC236}">
                <a16:creationId xmlns:a16="http://schemas.microsoft.com/office/drawing/2014/main" id="{3142165B-49BC-4704-AB9F-590E047BD47A}"/>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B34FF46-8291-4C89-811E-B72D9EB3CBE6}"/>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BAFA4B36-94DD-42CC-8B64-C659E4328160}"/>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Start with verifiable prerequisites</a:t>
            </a:r>
          </a:p>
        </p:txBody>
      </p:sp>
      <p:sp>
        <p:nvSpPr>
          <p:cNvPr id="13" name="">
            <a:extLst xmlns:a="http://schemas.openxmlformats.org/drawingml/2006/main">
              <a:ext uri="{FF2B5EF4-FFF2-40B4-BE49-F238E27FC236}">
                <a16:creationId xmlns:a16="http://schemas.microsoft.com/office/drawing/2014/main" id="{1B4022FD-1B20-4F8E-9391-D197D201128E}"/>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EAF6E8-47FF-40C3-B719-D75429842E19}"/>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RUNTIME</a:t>
            </a:r>
          </a:p>
        </p:txBody>
      </p:sp>
      <p:sp>
        <p:nvSpPr>
          <p:cNvPr id="15" name="">
            <a:extLst xmlns:a="http://schemas.openxmlformats.org/drawingml/2006/main">
              <a:ext uri="{FF2B5EF4-FFF2-40B4-BE49-F238E27FC236}">
                <a16:creationId xmlns:a16="http://schemas.microsoft.com/office/drawing/2014/main" id="{4FC69F20-83E8-4CE0-9B3B-1B04DE657A78}"/>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E3E5FE3-191B-46C2-A28E-901C818F532F}"/>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Node.js 18.18 or newer and npm.</a:t>
            </a:r>
          </a:p>
        </p:txBody>
      </p:sp>
      <p:sp>
        <p:nvSpPr>
          <p:cNvPr id="17" name="">
            <a:extLst xmlns:a="http://schemas.openxmlformats.org/drawingml/2006/main">
              <a:ext uri="{FF2B5EF4-FFF2-40B4-BE49-F238E27FC236}">
                <a16:creationId xmlns:a16="http://schemas.microsoft.com/office/drawing/2014/main" id="{F9A21D12-D2CF-4DCF-AFAB-C33FB7D13021}"/>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REPOSITORY</a:t>
            </a:r>
          </a:p>
        </p:txBody>
      </p:sp>
      <p:sp>
        <p:nvSpPr>
          <p:cNvPr id="18" name="">
            <a:extLst xmlns:a="http://schemas.openxmlformats.org/drawingml/2006/main">
              <a:ext uri="{FF2B5EF4-FFF2-40B4-BE49-F238E27FC236}">
                <a16:creationId xmlns:a16="http://schemas.microsoft.com/office/drawing/2014/main" id="{0F03A965-1427-4822-AC0D-6ED46D50A988}"/>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80659AE-1716-4CE2-AF89-14CD35BD4C05}"/>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An existing Git worktree with a reachable GitHub origin.</a:t>
            </a:r>
          </a:p>
        </p:txBody>
      </p:sp>
      <p:sp>
        <p:nvSpPr>
          <p:cNvPr id="20" name="">
            <a:extLst xmlns:a="http://schemas.openxmlformats.org/drawingml/2006/main">
              <a:ext uri="{FF2B5EF4-FFF2-40B4-BE49-F238E27FC236}">
                <a16:creationId xmlns:a16="http://schemas.microsoft.com/office/drawing/2014/main" id="{D730834E-7AA5-42F7-AF2B-48E9CEDB89FB}"/>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CHOICES</a:t>
            </a:r>
          </a:p>
        </p:txBody>
      </p:sp>
      <p:sp>
        <p:nvSpPr>
          <p:cNvPr id="21" name="">
            <a:extLst xmlns:a="http://schemas.openxmlformats.org/drawingml/2006/main">
              <a:ext uri="{FF2B5EF4-FFF2-40B4-BE49-F238E27FC236}">
                <a16:creationId xmlns:a16="http://schemas.microsoft.com/office/drawing/2014/main" id="{F97D930D-40C7-4664-8FAB-56504ADC49E3}"/>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CB138D2-7F22-4D6D-BBBA-176C7DF1EAC6}"/>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Decide whether the project needs Design, Schedule, Claude Code, or Sandcastle support.</a:t>
            </a:r>
          </a:p>
        </p:txBody>
      </p:sp>
    </p:spTree>
    <p:extLst>
      <p:ext uri="{BB962C8B-B14F-4D97-AF65-F5344CB8AC3E}">
        <p14:creationId xmlns:p14="http://schemas.microsoft.com/office/powerpoint/2010/main" val="1017094094"/>
      </p:ext>
    </p:extLst>
  </p:cSld>
</p:sld>
</file>

<file path=ppt/slides/slide45.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2" name="metadata-rail-45">
            <a:extLst xmlns:a="http://schemas.openxmlformats.org/drawingml/2006/main">
              <a:ext uri="{FF2B5EF4-FFF2-40B4-BE49-F238E27FC236}">
                <a16:creationId xmlns:a16="http://schemas.microsoft.com/office/drawing/2014/main" id="{7724880B-7574-477B-AADF-9DC82883C343}"/>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ECA933-942B-4838-B4EE-CF6F730CC350}"/>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45</a:t>
            </a:r>
          </a:p>
        </p:txBody>
      </p:sp>
      <p:sp>
        <p:nvSpPr>
          <p:cNvPr id="3" name="">
            <a:extLst xmlns:a="http://schemas.openxmlformats.org/drawingml/2006/main">
              <a:ext uri="{FF2B5EF4-FFF2-40B4-BE49-F238E27FC236}">
                <a16:creationId xmlns:a16="http://schemas.microsoft.com/office/drawing/2014/main" id="{F2645805-21DA-4BEB-A23A-B22DF1E41CA1}"/>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5D4CF2F6-FF6B-402B-BD01-125F01961D3B}"/>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8F11C5-ED67-426D-88D0-A2C85AD221E8}"/>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5424F6-54F7-486A-8067-682C393A2895}"/>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E50177E-D120-4271-8C5B-0B3E0F775F41}"/>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20C3E7-2364-4617-B753-1F18ADED0027}"/>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5BEF559-954A-4B93-8A73-F23581D8A8E0}"/>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5">
            <a:extLst xmlns:a="http://schemas.openxmlformats.org/drawingml/2006/main">
              <a:ext uri="{FF2B5EF4-FFF2-40B4-BE49-F238E27FC236}">
                <a16:creationId xmlns:a16="http://schemas.microsoft.com/office/drawing/2014/main" id="{13EB5B93-C942-42E1-B33F-1A7C0D30625F}"/>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1312C20-8F9B-4740-B8DD-63AFFAD18C9A}"/>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61987661-1545-4C39-B0E7-09F78BB2AF53}"/>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Preview before applying setup</a:t>
            </a:r>
          </a:p>
        </p:txBody>
      </p:sp>
      <p:sp>
        <p:nvSpPr>
          <p:cNvPr id="13" name="">
            <a:extLst xmlns:a="http://schemas.openxmlformats.org/drawingml/2006/main">
              <a:ext uri="{FF2B5EF4-FFF2-40B4-BE49-F238E27FC236}">
                <a16:creationId xmlns:a16="http://schemas.microsoft.com/office/drawing/2014/main" id="{D434938F-B778-4826-9066-8BC91A76CD2B}"/>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3CE147-4C90-4194-9692-C779DA835393}"/>
              </a:ext>
            </a:extLst>
          </p:cNvPr>
          <p:cNvSpPr>
            <a:spLocks xmlns:a="http://schemas.openxmlformats.org/drawingml/2006/main" noGrp="1"/>
          </p:cNvSpPr>
          <p:nvPr/>
        </p:nvSpPr>
        <p:spPr>
          <a:xfrm xmlns:a="http://schemas.openxmlformats.org/drawingml/2006/main">
            <a:off x="914400" y="2057400"/>
            <a:ext cx="6534150" cy="356235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6F8961E-F22C-4621-8ED2-22421E493AD7}"/>
              </a:ext>
            </a:extLst>
          </p:cNvPr>
          <p:cNvSpPr>
            <a:spLocks xmlns:a="http://schemas.openxmlformats.org/drawingml/2006/main" noGrp="1"/>
          </p:cNvSpPr>
          <p:nvPr/>
        </p:nvSpPr>
        <p:spPr>
          <a:xfrm xmlns:a="http://schemas.openxmlformats.org/drawingml/2006/main">
            <a:off x="1200150" y="2343150"/>
            <a:ext cx="5962650" cy="300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350" b="0" i="0">
                <a:solidFill>
                  <a:srgbClr val="01354F"/>
                </a:solidFill>
              </a:defRPr>
            </a:pPr>
            <a:r>
              <a:rPr sz="1350" b="0" i="0">
                <a:solidFill>
                  <a:srgbClr val="01354F"/>
                </a:solidFill>
              </a:rPr>
              <a:t># 1. Preview</a:t>
            </a:r>
          </a:p>
          <a:p xmlns:a="http://schemas.openxmlformats.org/drawingml/2006/main">
            <a:pPr algn="l">
              <a:defRPr sz="1350" b="0" i="0">
                <a:solidFill>
                  <a:srgbClr val="01354F"/>
                </a:solidFill>
              </a:defRPr>
            </a:pPr>
            <a:r>
              <a:rPr sz="1350" b="0" i="0">
                <a:solidFill>
                  <a:srgbClr val="01354F"/>
                </a:solidFill>
              </a:rPr>
              <a:t>npx --yes --package github:ORG/AFK-RESEARCH-REPO \</a:t>
            </a:r>
          </a:p>
          <a:p xmlns:a="http://schemas.openxmlformats.org/drawingml/2006/main">
            <a:pPr algn="l">
              <a:defRPr sz="1350" b="0" i="0">
                <a:solidFill>
                  <a:srgbClr val="01354F"/>
                </a:solidFill>
              </a:defRPr>
            </a:pPr>
            <a:r>
              <a:rPr sz="1350" b="0" i="0">
                <a:solidFill>
                  <a:srgbClr val="01354F"/>
                </a:solidFill>
              </a:rPr>
              <a:t>  afk-research init --dry-run --yes</a:t>
            </a:r>
          </a:p>
          <a:p xmlns:a="http://schemas.openxmlformats.org/drawingml/2006/main">
            <a:r>
              <a:t/>
            </a:r>
          </a:p>
          <a:p xmlns:a="http://schemas.openxmlformats.org/drawingml/2006/main">
            <a:pPr algn="l">
              <a:defRPr sz="1350" b="0" i="0">
                <a:solidFill>
                  <a:srgbClr val="01354F"/>
                </a:solidFill>
              </a:defRPr>
            </a:pPr>
            <a:r>
              <a:rPr sz="1350" b="0" i="0">
                <a:solidFill>
                  <a:srgbClr val="01354F"/>
                </a:solidFill>
              </a:rPr>
              <a:t># 2. Apply after review</a:t>
            </a:r>
          </a:p>
          <a:p xmlns:a="http://schemas.openxmlformats.org/drawingml/2006/main">
            <a:pPr algn="l">
              <a:defRPr sz="1350" b="0" i="0">
                <a:solidFill>
                  <a:srgbClr val="01354F"/>
                </a:solidFill>
              </a:defRPr>
            </a:pPr>
            <a:r>
              <a:rPr sz="1350" b="0" i="0">
                <a:solidFill>
                  <a:srgbClr val="01354F"/>
                </a:solidFill>
              </a:rPr>
              <a:t>npx --yes --package github:ORG/AFK-RESEARCH-REPO \</a:t>
            </a:r>
          </a:p>
          <a:p xmlns:a="http://schemas.openxmlformats.org/drawingml/2006/main">
            <a:pPr algn="l">
              <a:defRPr sz="1350" b="0" i="0">
                <a:solidFill>
                  <a:srgbClr val="01354F"/>
                </a:solidFill>
              </a:defRPr>
            </a:pPr>
            <a:r>
              <a:rPr sz="1350" b="0" i="0">
                <a:solidFill>
                  <a:srgbClr val="01354F"/>
                </a:solidFill>
              </a:rPr>
              <a:t>  afk-research init --design --schedule</a:t>
            </a:r>
          </a:p>
        </p:txBody>
      </p:sp>
      <p:sp>
        <p:nvSpPr>
          <p:cNvPr id="16" name="">
            <a:extLst xmlns:a="http://schemas.openxmlformats.org/drawingml/2006/main">
              <a:ext uri="{FF2B5EF4-FFF2-40B4-BE49-F238E27FC236}">
                <a16:creationId xmlns:a16="http://schemas.microsoft.com/office/drawing/2014/main" id="{C398049D-BDA9-4CCB-B262-5B4A33EB0D4F}"/>
              </a:ext>
            </a:extLst>
          </p:cNvPr>
          <p:cNvSpPr>
            <a:spLocks xmlns:a="http://schemas.openxmlformats.org/drawingml/2006/main" noGrp="1"/>
          </p:cNvSpPr>
          <p:nvPr/>
        </p:nvSpPr>
        <p:spPr>
          <a:xfrm xmlns:a="http://schemas.openxmlformats.org/drawingml/2006/main">
            <a:off x="7943850" y="22098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VERIFY</a:t>
            </a:r>
          </a:p>
        </p:txBody>
      </p:sp>
      <p:sp>
        <p:nvSpPr>
          <p:cNvPr id="17" name="">
            <a:extLst xmlns:a="http://schemas.openxmlformats.org/drawingml/2006/main">
              <a:ext uri="{FF2B5EF4-FFF2-40B4-BE49-F238E27FC236}">
                <a16:creationId xmlns:a16="http://schemas.microsoft.com/office/drawing/2014/main" id="{39DDFD4E-C228-42D4-B296-52D8F4FE4CBF}"/>
              </a:ext>
            </a:extLst>
          </p:cNvPr>
          <p:cNvSpPr>
            <a:spLocks xmlns:a="http://schemas.openxmlformats.org/drawingml/2006/main" noGrp="1"/>
          </p:cNvSpPr>
          <p:nvPr/>
        </p:nvSpPr>
        <p:spPr>
          <a:xfrm xmlns:a="http://schemas.openxmlformats.org/drawingml/2006/main">
            <a:off x="7943850" y="2571750"/>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FFFFFF"/>
                </a:solidFill>
              </a:defRPr>
            </a:pPr>
            <a:r>
              <a:rPr sz="1425" b="0" i="0">
                <a:solidFill>
                  <a:srgbClr val="FFFFFF"/>
                </a:solidFill>
              </a:rPr>
              <a:t>The target project and GitHub remote must already exist.</a:t>
            </a:r>
          </a:p>
        </p:txBody>
      </p:sp>
      <p:sp>
        <p:nvSpPr>
          <p:cNvPr id="18" name="">
            <a:extLst xmlns:a="http://schemas.openxmlformats.org/drawingml/2006/main">
              <a:ext uri="{FF2B5EF4-FFF2-40B4-BE49-F238E27FC236}">
                <a16:creationId xmlns:a16="http://schemas.microsoft.com/office/drawing/2014/main" id="{7F0B0BE2-80FD-4482-8F4E-1231085542C5}"/>
              </a:ext>
            </a:extLst>
          </p:cNvPr>
          <p:cNvSpPr>
            <a:spLocks xmlns:a="http://schemas.openxmlformats.org/drawingml/2006/main" noGrp="1"/>
          </p:cNvSpPr>
          <p:nvPr/>
        </p:nvSpPr>
        <p:spPr>
          <a:xfrm xmlns:a="http://schemas.openxmlformats.org/drawingml/2006/main">
            <a:off x="7943850" y="32766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PREVIEW</a:t>
            </a:r>
          </a:p>
        </p:txBody>
      </p:sp>
      <p:sp>
        <p:nvSpPr>
          <p:cNvPr id="19" name="">
            <a:extLst xmlns:a="http://schemas.openxmlformats.org/drawingml/2006/main">
              <a:ext uri="{FF2B5EF4-FFF2-40B4-BE49-F238E27FC236}">
                <a16:creationId xmlns:a16="http://schemas.microsoft.com/office/drawing/2014/main" id="{04E9E58F-E170-4097-BECB-5BD23F4FF09E}"/>
              </a:ext>
            </a:extLst>
          </p:cNvPr>
          <p:cNvSpPr>
            <a:spLocks xmlns:a="http://schemas.openxmlformats.org/drawingml/2006/main" noGrp="1"/>
          </p:cNvSpPr>
          <p:nvPr/>
        </p:nvSpPr>
        <p:spPr>
          <a:xfrm xmlns:a="http://schemas.openxmlformats.org/drawingml/2006/main">
            <a:off x="7943850" y="3638550"/>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FFFFFF"/>
                </a:solidFill>
              </a:defRPr>
            </a:pPr>
            <a:r>
              <a:rPr sz="1425" b="0" i="0">
                <a:solidFill>
                  <a:srgbClr val="FFFFFF"/>
                </a:solidFill>
              </a:rPr>
              <a:t>Dry run shows planned files and dependencies without writing.</a:t>
            </a:r>
          </a:p>
        </p:txBody>
      </p:sp>
      <p:sp>
        <p:nvSpPr>
          <p:cNvPr id="20" name="">
            <a:extLst xmlns:a="http://schemas.openxmlformats.org/drawingml/2006/main">
              <a:ext uri="{FF2B5EF4-FFF2-40B4-BE49-F238E27FC236}">
                <a16:creationId xmlns:a16="http://schemas.microsoft.com/office/drawing/2014/main" id="{2F887172-5A56-4587-B9F2-C79C031CABAB}"/>
              </a:ext>
            </a:extLst>
          </p:cNvPr>
          <p:cNvSpPr>
            <a:spLocks xmlns:a="http://schemas.openxmlformats.org/drawingml/2006/main" noGrp="1"/>
          </p:cNvSpPr>
          <p:nvPr/>
        </p:nvSpPr>
        <p:spPr>
          <a:xfrm xmlns:a="http://schemas.openxmlformats.org/drawingml/2006/main">
            <a:off x="7943850" y="43434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CHOOSE</a:t>
            </a:r>
          </a:p>
        </p:txBody>
      </p:sp>
      <p:sp>
        <p:nvSpPr>
          <p:cNvPr id="21" name="">
            <a:extLst xmlns:a="http://schemas.openxmlformats.org/drawingml/2006/main">
              <a:ext uri="{FF2B5EF4-FFF2-40B4-BE49-F238E27FC236}">
                <a16:creationId xmlns:a16="http://schemas.microsoft.com/office/drawing/2014/main" id="{8C1F6105-03F5-4203-B2FF-DEB832E50215}"/>
              </a:ext>
            </a:extLst>
          </p:cNvPr>
          <p:cNvSpPr>
            <a:spLocks xmlns:a="http://schemas.openxmlformats.org/drawingml/2006/main" noGrp="1"/>
          </p:cNvSpPr>
          <p:nvPr/>
        </p:nvSpPr>
        <p:spPr>
          <a:xfrm xmlns:a="http://schemas.openxmlformats.org/drawingml/2006/main">
            <a:off x="7943850" y="4705350"/>
            <a:ext cx="304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FFFFFF"/>
                </a:solidFill>
              </a:defRPr>
            </a:pPr>
            <a:r>
              <a:rPr sz="1425" b="0" i="0">
                <a:solidFill>
                  <a:srgbClr val="FFFFFF"/>
                </a:solidFill>
              </a:rPr>
              <a:t>Optional workspaces are explicit setup decisions.</a:t>
            </a:r>
          </a:p>
        </p:txBody>
      </p:sp>
    </p:spTree>
    <p:extLst>
      <p:ext uri="{BB962C8B-B14F-4D97-AF65-F5344CB8AC3E}">
        <p14:creationId xmlns:p14="http://schemas.microsoft.com/office/powerpoint/2010/main" val="1348862553"/>
      </p:ext>
    </p:extLst>
  </p:cSld>
</p:sld>
</file>

<file path=ppt/slides/slide46.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46">
            <a:extLst xmlns:a="http://schemas.openxmlformats.org/drawingml/2006/main">
              <a:ext uri="{FF2B5EF4-FFF2-40B4-BE49-F238E27FC236}">
                <a16:creationId xmlns:a16="http://schemas.microsoft.com/office/drawing/2014/main" id="{F62C98EA-C6B9-49C3-893B-6E0701232AC4}"/>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B5E1AA-CB0A-4E5B-9A10-5B37D2FCBA3C}"/>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46</a:t>
            </a:r>
          </a:p>
        </p:txBody>
      </p:sp>
      <p:sp>
        <p:nvSpPr>
          <p:cNvPr id="3" name="">
            <a:extLst xmlns:a="http://schemas.openxmlformats.org/drawingml/2006/main">
              <a:ext uri="{FF2B5EF4-FFF2-40B4-BE49-F238E27FC236}">
                <a16:creationId xmlns:a16="http://schemas.microsoft.com/office/drawing/2014/main" id="{A46D063F-152A-4265-8FB5-9585DAEFB6A6}"/>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F3D386A4-FDA1-4986-99D4-DB05D8BE76EA}"/>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DA1B98-C723-431B-82E0-B5E2AD582124}"/>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AF8C1E-F29F-43B0-95C6-7C257D880027}"/>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3422771-3106-4E9D-AED4-9F5E09DA7DD7}"/>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4FC190-4012-468D-AF17-3B8AB7BABFC1}"/>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24B5E2C-CDC8-4C80-A3F6-4CF4E243AE6A}"/>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6">
            <a:extLst xmlns:a="http://schemas.openxmlformats.org/drawingml/2006/main">
              <a:ext uri="{FF2B5EF4-FFF2-40B4-BE49-F238E27FC236}">
                <a16:creationId xmlns:a16="http://schemas.microsoft.com/office/drawing/2014/main" id="{6C1894F0-C86C-4399-AB3B-844F0B1FCAEB}"/>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0A9CA53-2D23-4EE6-9426-8BADAF39BC58}"/>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4138CF94-DAC6-4036-AECF-86785124B69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The workspace has a readable anatomy</a:t>
            </a:r>
          </a:p>
        </p:txBody>
      </p:sp>
      <p:sp>
        <p:nvSpPr>
          <p:cNvPr id="13" name="">
            <a:extLst xmlns:a="http://schemas.openxmlformats.org/drawingml/2006/main">
              <a:ext uri="{FF2B5EF4-FFF2-40B4-BE49-F238E27FC236}">
                <a16:creationId xmlns:a16="http://schemas.microsoft.com/office/drawing/2014/main" id="{5A3C984B-EA7D-467D-9F33-4533EAA16C4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16BB91-2F6C-4B6F-950B-C803B880916C}"/>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.BRAIN/</a:t>
            </a:r>
          </a:p>
        </p:txBody>
      </p:sp>
      <p:sp>
        <p:nvSpPr>
          <p:cNvPr id="15" name="">
            <a:extLst xmlns:a="http://schemas.openxmlformats.org/drawingml/2006/main">
              <a:ext uri="{FF2B5EF4-FFF2-40B4-BE49-F238E27FC236}">
                <a16:creationId xmlns:a16="http://schemas.microsoft.com/office/drawing/2014/main" id="{89ECFD1C-7A8B-4B3E-AB03-FF4D2960BA34}"/>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C9BABE9-DAF9-484C-9AB8-66463B363219}"/>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Raw provenance, maintained wiki knowledge, indexes, logs, and durable outputs.</a:t>
            </a:r>
          </a:p>
        </p:txBody>
      </p:sp>
      <p:sp>
        <p:nvSpPr>
          <p:cNvPr id="17" name="">
            <a:extLst xmlns:a="http://schemas.openxmlformats.org/drawingml/2006/main">
              <a:ext uri="{FF2B5EF4-FFF2-40B4-BE49-F238E27FC236}">
                <a16:creationId xmlns:a16="http://schemas.microsoft.com/office/drawing/2014/main" id="{82B451F1-1307-4794-9663-A37FF050F0C7}"/>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.DESIGN/</a:t>
            </a:r>
          </a:p>
        </p:txBody>
      </p:sp>
      <p:sp>
        <p:nvSpPr>
          <p:cNvPr id="18" name="">
            <a:extLst xmlns:a="http://schemas.openxmlformats.org/drawingml/2006/main">
              <a:ext uri="{FF2B5EF4-FFF2-40B4-BE49-F238E27FC236}">
                <a16:creationId xmlns:a16="http://schemas.microsoft.com/office/drawing/2014/main" id="{7CBF61EE-789A-4F76-AE28-69BD01CAD216}"/>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495B784-F5FE-49C5-8EBA-757250543994}"/>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Named Design Systems with DESIGN.md, tokens, templates, and examples.</a:t>
            </a:r>
          </a:p>
        </p:txBody>
      </p:sp>
      <p:sp>
        <p:nvSpPr>
          <p:cNvPr id="20" name="">
            <a:extLst xmlns:a="http://schemas.openxmlformats.org/drawingml/2006/main">
              <a:ext uri="{FF2B5EF4-FFF2-40B4-BE49-F238E27FC236}">
                <a16:creationId xmlns:a16="http://schemas.microsoft.com/office/drawing/2014/main" id="{41081A00-02DA-40D6-94AD-8040D29D4399}"/>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.SCHEDULE/</a:t>
            </a:r>
          </a:p>
        </p:txBody>
      </p:sp>
      <p:sp>
        <p:nvSpPr>
          <p:cNvPr id="21" name="">
            <a:extLst xmlns:a="http://schemas.openxmlformats.org/drawingml/2006/main">
              <a:ext uri="{FF2B5EF4-FFF2-40B4-BE49-F238E27FC236}">
                <a16:creationId xmlns:a16="http://schemas.microsoft.com/office/drawing/2014/main" id="{49E328C5-341C-4099-8EEB-21B1CF829515}"/>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607FECE-6782-4303-B794-C48D0390E075}"/>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Task Prompts, runner guidance, and machine-local operational state.</a:t>
            </a:r>
          </a:p>
        </p:txBody>
      </p:sp>
    </p:spTree>
    <p:extLst>
      <p:ext uri="{BB962C8B-B14F-4D97-AF65-F5344CB8AC3E}">
        <p14:creationId xmlns:p14="http://schemas.microsoft.com/office/powerpoint/2010/main" val="201188557"/>
      </p:ext>
    </p:extLst>
  </p:cSld>
</p:sld>
</file>

<file path=ppt/slides/slide47.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47">
            <a:extLst xmlns:a="http://schemas.openxmlformats.org/drawingml/2006/main">
              <a:ext uri="{FF2B5EF4-FFF2-40B4-BE49-F238E27FC236}">
                <a16:creationId xmlns:a16="http://schemas.microsoft.com/office/drawing/2014/main" id="{1FBFEDF8-6275-48ED-8CB3-0177BE12C4B7}"/>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7478EC-82E0-4CBA-8154-79D4B7920953}"/>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47</a:t>
            </a:r>
          </a:p>
        </p:txBody>
      </p:sp>
      <p:sp>
        <p:nvSpPr>
          <p:cNvPr id="3" name="">
            <a:extLst xmlns:a="http://schemas.openxmlformats.org/drawingml/2006/main">
              <a:ext uri="{FF2B5EF4-FFF2-40B4-BE49-F238E27FC236}">
                <a16:creationId xmlns:a16="http://schemas.microsoft.com/office/drawing/2014/main" id="{EFF25EE4-A46C-424D-A6D2-3878DEC903C1}"/>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C61E7F7C-658C-49F2-BB22-08BE414CFDBD}"/>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A5417A-B47B-4E8A-8926-0DB1AB935F09}"/>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2B065E3-C316-46E0-94DC-750C592BA5CC}"/>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251D04-AB98-4C6F-805E-4054B056879B}"/>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87DA8C-EB39-42F1-8923-AE82231C758F}"/>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C2D3566-E657-43FD-9CB6-79753ED8B565}"/>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7">
            <a:extLst xmlns:a="http://schemas.openxmlformats.org/drawingml/2006/main">
              <a:ext uri="{FF2B5EF4-FFF2-40B4-BE49-F238E27FC236}">
                <a16:creationId xmlns:a16="http://schemas.microsoft.com/office/drawing/2014/main" id="{D72B5701-4F0D-4F1A-9EAA-5C543B34DBAD}"/>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80FECBE-0422-4D27-91E5-845650D2D4C8}"/>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12362976-BAF0-4624-8BC6-80968D544907}"/>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Implement a research workflow</a:t>
            </a:r>
          </a:p>
        </p:txBody>
      </p:sp>
      <p:sp>
        <p:nvSpPr>
          <p:cNvPr id="13" name="">
            <a:extLst xmlns:a="http://schemas.openxmlformats.org/drawingml/2006/main">
              <a:ext uri="{FF2B5EF4-FFF2-40B4-BE49-F238E27FC236}">
                <a16:creationId xmlns:a16="http://schemas.microsoft.com/office/drawing/2014/main" id="{9DBEF470-AAA6-422F-AFBD-A6E20C109050}"/>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03081D8-4DF3-44AC-917F-FD4EC70AC8BF}"/>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F6372F-7764-4094-8D83-B1DC10CAA2C9}"/>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49341D1-8437-4049-A48D-8065A6FDECC5}"/>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3A999D9B-B4FC-4731-93E4-7E5386756C21}"/>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Capture</a:t>
            </a:r>
          </a:p>
        </p:txBody>
      </p:sp>
      <p:sp>
        <p:nvSpPr>
          <p:cNvPr id="18" name="">
            <a:extLst xmlns:a="http://schemas.openxmlformats.org/drawingml/2006/main">
              <a:ext uri="{FF2B5EF4-FFF2-40B4-BE49-F238E27FC236}">
                <a16:creationId xmlns:a16="http://schemas.microsoft.com/office/drawing/2014/main" id="{0E3F9A7D-3A7A-4F7A-A1F1-E7B7F6FFD55F}"/>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Save the source and provenance without rewriting it.</a:t>
            </a:r>
          </a:p>
        </p:txBody>
      </p:sp>
      <p:sp>
        <p:nvSpPr>
          <p:cNvPr id="19" name="">
            <a:extLst xmlns:a="http://schemas.openxmlformats.org/drawingml/2006/main">
              <a:ext uri="{FF2B5EF4-FFF2-40B4-BE49-F238E27FC236}">
                <a16:creationId xmlns:a16="http://schemas.microsoft.com/office/drawing/2014/main" id="{C8375E66-1170-4BA4-AF52-6D718C25ED12}"/>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AF616DD-B424-4781-AF49-00F37CFB061D}"/>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012448CD-F98F-49C3-9652-07FED359222E}"/>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Extract</a:t>
            </a:r>
          </a:p>
        </p:txBody>
      </p:sp>
      <p:sp>
        <p:nvSpPr>
          <p:cNvPr id="22" name="">
            <a:extLst xmlns:a="http://schemas.openxmlformats.org/drawingml/2006/main">
              <a:ext uri="{FF2B5EF4-FFF2-40B4-BE49-F238E27FC236}">
                <a16:creationId xmlns:a16="http://schemas.microsoft.com/office/drawing/2014/main" id="{3A156484-7F7D-4316-9D89-89F6708BBD97}"/>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Create source notes, concepts, claims, and questions.</a:t>
            </a:r>
          </a:p>
        </p:txBody>
      </p:sp>
      <p:sp>
        <p:nvSpPr>
          <p:cNvPr id="23" name="">
            <a:extLst xmlns:a="http://schemas.openxmlformats.org/drawingml/2006/main">
              <a:ext uri="{FF2B5EF4-FFF2-40B4-BE49-F238E27FC236}">
                <a16:creationId xmlns:a16="http://schemas.microsoft.com/office/drawing/2014/main" id="{F395C37C-F489-459E-AC01-7021C95BCEEB}"/>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8DFD8A2-BBA1-475C-AB49-985D398D84FB}"/>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E5C134DB-9565-4ECD-A853-EA46A53667DF}"/>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Query</a:t>
            </a:r>
          </a:p>
        </p:txBody>
      </p:sp>
      <p:sp>
        <p:nvSpPr>
          <p:cNvPr id="26" name="">
            <a:extLst xmlns:a="http://schemas.openxmlformats.org/drawingml/2006/main">
              <a:ext uri="{FF2B5EF4-FFF2-40B4-BE49-F238E27FC236}">
                <a16:creationId xmlns:a16="http://schemas.microsoft.com/office/drawing/2014/main" id="{FABFFDA2-C400-488D-9D98-E48C5A8F1F31}"/>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Answer from maintained knowledge with precise citations.</a:t>
            </a:r>
          </a:p>
        </p:txBody>
      </p:sp>
      <p:sp>
        <p:nvSpPr>
          <p:cNvPr id="27" name="">
            <a:extLst xmlns:a="http://schemas.openxmlformats.org/drawingml/2006/main">
              <a:ext uri="{FF2B5EF4-FFF2-40B4-BE49-F238E27FC236}">
                <a16:creationId xmlns:a16="http://schemas.microsoft.com/office/drawing/2014/main" id="{88B882FE-A9E2-45FC-8E14-487BE12EE9A5}"/>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F287EC5-B086-40B6-AC43-12892F5CE99A}"/>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288B503C-C69C-4B39-98BC-72A6719CEB94}"/>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Validate</a:t>
            </a:r>
          </a:p>
        </p:txBody>
      </p:sp>
      <p:sp>
        <p:nvSpPr>
          <p:cNvPr id="30" name="">
            <a:extLst xmlns:a="http://schemas.openxmlformats.org/drawingml/2006/main">
              <a:ext uri="{FF2B5EF4-FFF2-40B4-BE49-F238E27FC236}">
                <a16:creationId xmlns:a16="http://schemas.microsoft.com/office/drawing/2014/main" id="{35B64AC7-0CF2-4C35-9399-3329879C4032}"/>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Inspect original evidence before making consequential claims.</a:t>
            </a:r>
          </a:p>
        </p:txBody>
      </p:sp>
    </p:spTree>
    <p:extLst>
      <p:ext uri="{BB962C8B-B14F-4D97-AF65-F5344CB8AC3E}">
        <p14:creationId xmlns:p14="http://schemas.microsoft.com/office/powerpoint/2010/main" val="1102053171"/>
      </p:ext>
    </p:extLst>
  </p:cSld>
</p:sld>
</file>

<file path=ppt/slides/slide48.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48">
            <a:extLst xmlns:a="http://schemas.openxmlformats.org/drawingml/2006/main">
              <a:ext uri="{FF2B5EF4-FFF2-40B4-BE49-F238E27FC236}">
                <a16:creationId xmlns:a16="http://schemas.microsoft.com/office/drawing/2014/main" id="{49E70EE6-33A8-447A-B123-46801BD95E2D}"/>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EDB515-A7BF-4074-8639-E4DE2B0C5AB7}"/>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48</a:t>
            </a:r>
          </a:p>
        </p:txBody>
      </p:sp>
      <p:sp>
        <p:nvSpPr>
          <p:cNvPr id="3" name="">
            <a:extLst xmlns:a="http://schemas.openxmlformats.org/drawingml/2006/main">
              <a:ext uri="{FF2B5EF4-FFF2-40B4-BE49-F238E27FC236}">
                <a16:creationId xmlns:a16="http://schemas.microsoft.com/office/drawing/2014/main" id="{B3D8880B-8153-46D6-9989-FB0FF4D4FAC4}"/>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E8F05F08-43C9-4CB4-B7F2-9E844697BA3A}"/>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4982F2-4AD6-416A-89A5-2EB56A5F2C65}"/>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601F86-E48D-4FD1-939A-365FE9320812}"/>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118844F-2581-42EE-99C5-405F23627773}"/>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804869-B0B2-416F-B2A7-2725CA52EF2B}"/>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731F71-1C06-4316-9EB5-7DBE1C4AC424}"/>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8">
            <a:extLst xmlns:a="http://schemas.openxmlformats.org/drawingml/2006/main">
              <a:ext uri="{FF2B5EF4-FFF2-40B4-BE49-F238E27FC236}">
                <a16:creationId xmlns:a16="http://schemas.microsoft.com/office/drawing/2014/main" id="{24E2796C-DC92-45E7-A811-452A010648CF}"/>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671CD50-FAED-4B3E-A275-5EC896120442}"/>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2E028605-147B-4615-A073-6EC44D1E4D2F}"/>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Implement a teaching workflow</a:t>
            </a:r>
          </a:p>
        </p:txBody>
      </p:sp>
      <p:sp>
        <p:nvSpPr>
          <p:cNvPr id="13" name="">
            <a:extLst xmlns:a="http://schemas.openxmlformats.org/drawingml/2006/main">
              <a:ext uri="{FF2B5EF4-FFF2-40B4-BE49-F238E27FC236}">
                <a16:creationId xmlns:a16="http://schemas.microsoft.com/office/drawing/2014/main" id="{6C0B2E43-14E1-4BAF-B537-2178C6614547}"/>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5A64F5-ECEB-42AD-ABFF-1DDEDA2A47BE}"/>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EB38786-E1F9-46B6-8391-79EB97D1F193}"/>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392186C-E99C-4C69-BE5F-7DE152173D5A}"/>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673349F7-EE83-42F6-9DDA-1C58F7F0C0BA}"/>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Define</a:t>
            </a:r>
          </a:p>
        </p:txBody>
      </p:sp>
      <p:sp>
        <p:nvSpPr>
          <p:cNvPr id="18" name="">
            <a:extLst xmlns:a="http://schemas.openxmlformats.org/drawingml/2006/main">
              <a:ext uri="{FF2B5EF4-FFF2-40B4-BE49-F238E27FC236}">
                <a16:creationId xmlns:a16="http://schemas.microsoft.com/office/drawing/2014/main" id="{642450AF-049B-41FA-AA66-1BE67ADADFCB}"/>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Set learning outcomes and audience assumptions.</a:t>
            </a:r>
          </a:p>
        </p:txBody>
      </p:sp>
      <p:sp>
        <p:nvSpPr>
          <p:cNvPr id="19" name="">
            <a:extLst xmlns:a="http://schemas.openxmlformats.org/drawingml/2006/main">
              <a:ext uri="{FF2B5EF4-FFF2-40B4-BE49-F238E27FC236}">
                <a16:creationId xmlns:a16="http://schemas.microsoft.com/office/drawing/2014/main" id="{C912BEBE-6091-49D2-B3E3-0BA7E4D08766}"/>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7AF72B8-4A2F-4982-9CC0-C88532C91AD5}"/>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4E89E0EC-E04A-4FBB-9E9B-714440911B63}"/>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Retrieve</a:t>
            </a:r>
          </a:p>
        </p:txBody>
      </p:sp>
      <p:sp>
        <p:nvSpPr>
          <p:cNvPr id="22" name="">
            <a:extLst xmlns:a="http://schemas.openxmlformats.org/drawingml/2006/main">
              <a:ext uri="{FF2B5EF4-FFF2-40B4-BE49-F238E27FC236}">
                <a16:creationId xmlns:a16="http://schemas.microsoft.com/office/drawing/2014/main" id="{D88FF425-7F0E-452F-9CB8-3898BE16D823}"/>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Bring relevant evidence and prior decisions into context.</a:t>
            </a:r>
          </a:p>
        </p:txBody>
      </p:sp>
      <p:sp>
        <p:nvSpPr>
          <p:cNvPr id="23" name="">
            <a:extLst xmlns:a="http://schemas.openxmlformats.org/drawingml/2006/main">
              <a:ext uri="{FF2B5EF4-FFF2-40B4-BE49-F238E27FC236}">
                <a16:creationId xmlns:a16="http://schemas.microsoft.com/office/drawing/2014/main" id="{16D748A8-A416-4E75-A4E0-001252FE7CD8}"/>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14484CE-E6B9-41F9-908E-852FBBE56D5D}"/>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AB394390-2E4A-4353-A83A-14AF1A74B890}"/>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Generate</a:t>
            </a:r>
          </a:p>
        </p:txBody>
      </p:sp>
      <p:sp>
        <p:nvSpPr>
          <p:cNvPr id="26" name="">
            <a:extLst xmlns:a="http://schemas.openxmlformats.org/drawingml/2006/main">
              <a:ext uri="{FF2B5EF4-FFF2-40B4-BE49-F238E27FC236}">
                <a16:creationId xmlns:a16="http://schemas.microsoft.com/office/drawing/2014/main" id="{E503ADA2-5CC5-4BCD-9FC2-AC0743E8C677}"/>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Create lecture materials, examples, activities, and notes.</a:t>
            </a:r>
          </a:p>
        </p:txBody>
      </p:sp>
      <p:sp>
        <p:nvSpPr>
          <p:cNvPr id="27" name="">
            <a:extLst xmlns:a="http://schemas.openxmlformats.org/drawingml/2006/main">
              <a:ext uri="{FF2B5EF4-FFF2-40B4-BE49-F238E27FC236}">
                <a16:creationId xmlns:a16="http://schemas.microsoft.com/office/drawing/2014/main" id="{E41D4B50-57F9-4E4A-81E2-747E23E819C6}"/>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7188627-FB0E-4A53-8240-2A71BEB655D2}"/>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D5F106C6-A0DA-4DD0-AA0B-490813737329}"/>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Review</a:t>
            </a:r>
          </a:p>
        </p:txBody>
      </p:sp>
      <p:sp>
        <p:nvSpPr>
          <p:cNvPr id="30" name="">
            <a:extLst xmlns:a="http://schemas.openxmlformats.org/drawingml/2006/main">
              <a:ext uri="{FF2B5EF4-FFF2-40B4-BE49-F238E27FC236}">
                <a16:creationId xmlns:a16="http://schemas.microsoft.com/office/drawing/2014/main" id="{8D252624-2B83-402E-8597-FAE2D3AD972D}"/>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Check accuracy, pedagogy, accessibility, and integrity.</a:t>
            </a:r>
          </a:p>
        </p:txBody>
      </p:sp>
    </p:spTree>
    <p:extLst>
      <p:ext uri="{BB962C8B-B14F-4D97-AF65-F5344CB8AC3E}">
        <p14:creationId xmlns:p14="http://schemas.microsoft.com/office/powerpoint/2010/main" val="345639613"/>
      </p:ext>
    </p:extLst>
  </p:cSld>
</p:sld>
</file>

<file path=ppt/slides/slide49.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49">
            <a:extLst xmlns:a="http://schemas.openxmlformats.org/drawingml/2006/main">
              <a:ext uri="{FF2B5EF4-FFF2-40B4-BE49-F238E27FC236}">
                <a16:creationId xmlns:a16="http://schemas.microsoft.com/office/drawing/2014/main" id="{5857CD85-5823-4F9E-A947-0A1F56A05FC4}"/>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EED7116-8E3F-4B84-86C3-53EE364205CF}"/>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49</a:t>
            </a:r>
          </a:p>
        </p:txBody>
      </p:sp>
      <p:sp>
        <p:nvSpPr>
          <p:cNvPr id="3" name="">
            <a:extLst xmlns:a="http://schemas.openxmlformats.org/drawingml/2006/main">
              <a:ext uri="{FF2B5EF4-FFF2-40B4-BE49-F238E27FC236}">
                <a16:creationId xmlns:a16="http://schemas.microsoft.com/office/drawing/2014/main" id="{E12002BE-3599-49FC-A4FD-CD61BC3F1A3F}"/>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E1EC5690-0BCB-4AE2-B262-455EA9195557}"/>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918D31D-EAA1-4429-AAA9-99C97564F64D}"/>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EFABA3-F439-4CA5-BC66-B85460876897}"/>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352A858-A6B8-4D49-8252-C4C1EDB59626}"/>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42F6A41-2C19-4FFC-9898-5EB992165899}"/>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5EA4197-09D2-42DC-90AC-33CB069E11CF}"/>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49">
            <a:extLst xmlns:a="http://schemas.openxmlformats.org/drawingml/2006/main">
              <a:ext uri="{FF2B5EF4-FFF2-40B4-BE49-F238E27FC236}">
                <a16:creationId xmlns:a16="http://schemas.microsoft.com/office/drawing/2014/main" id="{596ECE16-2748-4DA1-A694-691E5235F8BB}"/>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14DAD12-6F11-49AE-8B4A-C45C45ACDC1A}"/>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D6555C93-D8EB-44AD-9D2B-C7222DAD5C2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Implement a community workflow</a:t>
            </a:r>
          </a:p>
        </p:txBody>
      </p:sp>
      <p:sp>
        <p:nvSpPr>
          <p:cNvPr id="13" name="">
            <a:extLst xmlns:a="http://schemas.openxmlformats.org/drawingml/2006/main">
              <a:ext uri="{FF2B5EF4-FFF2-40B4-BE49-F238E27FC236}">
                <a16:creationId xmlns:a16="http://schemas.microsoft.com/office/drawing/2014/main" id="{F2199B0F-8A18-4E90-90F6-F9CDA9E43869}"/>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C4516F-ED6B-41FF-AFBD-01E23A122870}"/>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474F9B-963F-466A-B40F-1AE21521142E}"/>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EF72E86-F78E-4793-884E-17D590F1E21D}"/>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737F1D3D-93BA-40B7-92D5-1EBE21B22B2A}"/>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Listen</a:t>
            </a:r>
          </a:p>
        </p:txBody>
      </p:sp>
      <p:sp>
        <p:nvSpPr>
          <p:cNvPr id="18" name="">
            <a:extLst xmlns:a="http://schemas.openxmlformats.org/drawingml/2006/main">
              <a:ext uri="{FF2B5EF4-FFF2-40B4-BE49-F238E27FC236}">
                <a16:creationId xmlns:a16="http://schemas.microsoft.com/office/drawing/2014/main" id="{A8D7BF8C-8777-4722-9616-BED8847291C1}"/>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Record community needs, language, and constraints.</a:t>
            </a:r>
          </a:p>
        </p:txBody>
      </p:sp>
      <p:sp>
        <p:nvSpPr>
          <p:cNvPr id="19" name="">
            <a:extLst xmlns:a="http://schemas.openxmlformats.org/drawingml/2006/main">
              <a:ext uri="{FF2B5EF4-FFF2-40B4-BE49-F238E27FC236}">
                <a16:creationId xmlns:a16="http://schemas.microsoft.com/office/drawing/2014/main" id="{687A8A2A-9DC2-4060-9C54-6FE26BF26492}"/>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E19DCA3-926F-4F04-9472-3CF50B6161CF}"/>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85072608-F29C-42BF-ACFD-C74B914BB813}"/>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Adapt</a:t>
            </a:r>
          </a:p>
        </p:txBody>
      </p:sp>
      <p:sp>
        <p:nvSpPr>
          <p:cNvPr id="22" name="">
            <a:extLst xmlns:a="http://schemas.openxmlformats.org/drawingml/2006/main">
              <a:ext uri="{FF2B5EF4-FFF2-40B4-BE49-F238E27FC236}">
                <a16:creationId xmlns:a16="http://schemas.microsoft.com/office/drawing/2014/main" id="{F52FD8C6-E645-466E-94B8-948A1E0FF237}"/>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Translate expertise into appropriate formats.</a:t>
            </a:r>
          </a:p>
        </p:txBody>
      </p:sp>
      <p:sp>
        <p:nvSpPr>
          <p:cNvPr id="23" name="">
            <a:extLst xmlns:a="http://schemas.openxmlformats.org/drawingml/2006/main">
              <a:ext uri="{FF2B5EF4-FFF2-40B4-BE49-F238E27FC236}">
                <a16:creationId xmlns:a16="http://schemas.microsoft.com/office/drawing/2014/main" id="{D33E2B28-516C-4B01-A762-9F54ECD34991}"/>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9C48EC9-F630-4740-8CDA-58B12A54E9A4}"/>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D4E1EEA7-E21D-4972-850D-6882BF41B310}"/>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Approve</a:t>
            </a:r>
          </a:p>
        </p:txBody>
      </p:sp>
      <p:sp>
        <p:nvSpPr>
          <p:cNvPr id="26" name="">
            <a:extLst xmlns:a="http://schemas.openxmlformats.org/drawingml/2006/main">
              <a:ext uri="{FF2B5EF4-FFF2-40B4-BE49-F238E27FC236}">
                <a16:creationId xmlns:a16="http://schemas.microsoft.com/office/drawing/2014/main" id="{655986F2-3819-4C83-B9C4-37ED911B8790}"/>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Check consent, rights, privacy, and local relevance.</a:t>
            </a:r>
          </a:p>
        </p:txBody>
      </p:sp>
      <p:sp>
        <p:nvSpPr>
          <p:cNvPr id="27" name="">
            <a:extLst xmlns:a="http://schemas.openxmlformats.org/drawingml/2006/main">
              <a:ext uri="{FF2B5EF4-FFF2-40B4-BE49-F238E27FC236}">
                <a16:creationId xmlns:a16="http://schemas.microsoft.com/office/drawing/2014/main" id="{8D5779DF-3E47-41C9-B13C-8C10BA897C33}"/>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C1A0072-78C9-49F4-83C9-F3BF22571953}"/>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44B6BA97-1A95-4F48-AEA4-E79C2E93BAF3}"/>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Learn</a:t>
            </a:r>
          </a:p>
        </p:txBody>
      </p:sp>
      <p:sp>
        <p:nvSpPr>
          <p:cNvPr id="30" name="">
            <a:extLst xmlns:a="http://schemas.openxmlformats.org/drawingml/2006/main">
              <a:ext uri="{FF2B5EF4-FFF2-40B4-BE49-F238E27FC236}">
                <a16:creationId xmlns:a16="http://schemas.microsoft.com/office/drawing/2014/main" id="{10375C0E-B513-4ACA-A8CB-C0B6B40A3375}"/>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Capture feedback as evidence for the next iteration.</a:t>
            </a:r>
          </a:p>
        </p:txBody>
      </p:sp>
    </p:spTree>
    <p:extLst>
      <p:ext uri="{BB962C8B-B14F-4D97-AF65-F5344CB8AC3E}">
        <p14:creationId xmlns:p14="http://schemas.microsoft.com/office/powerpoint/2010/main" val="990714843"/>
      </p:ext>
    </p:extLst>
  </p:cSld>
</p:sld>
</file>

<file path=ppt/slides/slide50.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50">
            <a:extLst xmlns:a="http://schemas.openxmlformats.org/drawingml/2006/main">
              <a:ext uri="{FF2B5EF4-FFF2-40B4-BE49-F238E27FC236}">
                <a16:creationId xmlns:a16="http://schemas.microsoft.com/office/drawing/2014/main" id="{9B77D17A-DD14-4CF3-A938-9428C12515A9}"/>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05F2C8-1E72-4CB2-9D24-1AD48AEF98EC}"/>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50</a:t>
            </a:r>
          </a:p>
        </p:txBody>
      </p:sp>
      <p:sp>
        <p:nvSpPr>
          <p:cNvPr id="3" name="">
            <a:extLst xmlns:a="http://schemas.openxmlformats.org/drawingml/2006/main">
              <a:ext uri="{FF2B5EF4-FFF2-40B4-BE49-F238E27FC236}">
                <a16:creationId xmlns:a16="http://schemas.microsoft.com/office/drawing/2014/main" id="{130DE006-198D-4091-8586-B14030C3C77B}"/>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1EE29BA0-D53D-4791-B2DF-082A7E708895}"/>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02950D2-FC9C-4F1C-B96F-879EF76D4DBF}"/>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6D46818-AEE9-424A-B459-9128F65207AE}"/>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7CFBB1-D8E1-4467-A1EA-EFC82C785F9F}"/>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85DBB6-503D-4287-92CF-D0B8CCDBE323}"/>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8AB921B-3592-47B4-A826-539A2F4815D2}"/>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0" name="anchor-block-50">
            <a:extLst xmlns:a="http://schemas.openxmlformats.org/drawingml/2006/main">
              <a:ext uri="{FF2B5EF4-FFF2-40B4-BE49-F238E27FC236}">
                <a16:creationId xmlns:a16="http://schemas.microsoft.com/office/drawing/2014/main" id="{DFF9C84E-3A7B-4603-914B-05A96D11D7E0}"/>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6EB1DBA-A85C-4E30-9A91-0832B8FFDC7F}"/>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92DAFA4D-930D-444F-9CEB-A516716B5B11}"/>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Schedule recurring work, not judgment</a:t>
            </a:r>
          </a:p>
        </p:txBody>
      </p:sp>
      <p:sp>
        <p:nvSpPr>
          <p:cNvPr id="13" name="">
            <a:extLst xmlns:a="http://schemas.openxmlformats.org/drawingml/2006/main">
              <a:ext uri="{FF2B5EF4-FFF2-40B4-BE49-F238E27FC236}">
                <a16:creationId xmlns:a16="http://schemas.microsoft.com/office/drawing/2014/main" id="{4E1F946D-C9EA-4F61-B4DE-99A9F4BF9A16}"/>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5375B3-E9FE-4193-AFF5-E2C93A8D1DA8}"/>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GOOD CANDIDATES</a:t>
            </a:r>
          </a:p>
        </p:txBody>
      </p:sp>
      <p:sp>
        <p:nvSpPr>
          <p:cNvPr id="15" name="">
            <a:extLst xmlns:a="http://schemas.openxmlformats.org/drawingml/2006/main">
              <a:ext uri="{FF2B5EF4-FFF2-40B4-BE49-F238E27FC236}">
                <a16:creationId xmlns:a16="http://schemas.microsoft.com/office/drawing/2014/main" id="{6A6FC73C-4B4C-47CE-92B3-9D658C5F6CD2}"/>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1EA72C-9CC0-4085-BE09-82A34CA6857B}"/>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Status checks, inbox triage, reminders, source monitoring, and draft preparation.</a:t>
            </a:r>
          </a:p>
        </p:txBody>
      </p:sp>
      <p:sp>
        <p:nvSpPr>
          <p:cNvPr id="17" name="">
            <a:extLst xmlns:a="http://schemas.openxmlformats.org/drawingml/2006/main">
              <a:ext uri="{FF2B5EF4-FFF2-40B4-BE49-F238E27FC236}">
                <a16:creationId xmlns:a16="http://schemas.microsoft.com/office/drawing/2014/main" id="{816903AC-2D80-4B9A-8D13-32CBED5E1509}"/>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REQUIRE REVIEW</a:t>
            </a:r>
          </a:p>
        </p:txBody>
      </p:sp>
      <p:sp>
        <p:nvSpPr>
          <p:cNvPr id="18" name="">
            <a:extLst xmlns:a="http://schemas.openxmlformats.org/drawingml/2006/main">
              <a:ext uri="{FF2B5EF4-FFF2-40B4-BE49-F238E27FC236}">
                <a16:creationId xmlns:a16="http://schemas.microsoft.com/office/drawing/2014/main" id="{B0D7CB4B-5C97-445F-818A-B451FFFE00D2}"/>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1313E22-77EF-43B8-823D-C29731CF09B7}"/>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Grades, student feedback, research conclusions, external messages, and publication.</a:t>
            </a:r>
          </a:p>
        </p:txBody>
      </p:sp>
      <p:sp>
        <p:nvSpPr>
          <p:cNvPr id="20" name="">
            <a:extLst xmlns:a="http://schemas.openxmlformats.org/drawingml/2006/main">
              <a:ext uri="{FF2B5EF4-FFF2-40B4-BE49-F238E27FC236}">
                <a16:creationId xmlns:a16="http://schemas.microsoft.com/office/drawing/2014/main" id="{C85C434D-C882-4D80-ADA7-2AFBA120382F}"/>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RUNNER CONTROLS</a:t>
            </a:r>
          </a:p>
        </p:txBody>
      </p:sp>
      <p:sp>
        <p:nvSpPr>
          <p:cNvPr id="21" name="">
            <a:extLst xmlns:a="http://schemas.openxmlformats.org/drawingml/2006/main">
              <a:ext uri="{FF2B5EF4-FFF2-40B4-BE49-F238E27FC236}">
                <a16:creationId xmlns:a16="http://schemas.microsoft.com/office/drawing/2014/main" id="{C1E95793-D9CA-4395-93EE-8A980F8EFD28}"/>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2428D0E-86D5-4F6C-BD91-EA1761058F0E}"/>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Readiness checks, explicit start/stop, logs, wake handling, and task-level prompts.</a:t>
            </a:r>
          </a:p>
        </p:txBody>
      </p:sp>
    </p:spTree>
    <p:extLst>
      <p:ext uri="{BB962C8B-B14F-4D97-AF65-F5344CB8AC3E}">
        <p14:creationId xmlns:p14="http://schemas.microsoft.com/office/powerpoint/2010/main" val="240917571"/>
      </p:ext>
    </p:extLst>
  </p:cSld>
</p:sld>
</file>

<file path=ppt/slides/slide51.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1" name="metadata-rail-51">
            <a:extLst xmlns:a="http://schemas.openxmlformats.org/drawingml/2006/main">
              <a:ext uri="{FF2B5EF4-FFF2-40B4-BE49-F238E27FC236}">
                <a16:creationId xmlns:a16="http://schemas.microsoft.com/office/drawing/2014/main" id="{5C868A04-A004-4176-88F1-2AE0E09C2DF6}"/>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B60945-26EA-4C4A-BEAA-24B9EAA00F1B}"/>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51</a:t>
            </a:r>
          </a:p>
        </p:txBody>
      </p:sp>
      <p:sp>
        <p:nvSpPr>
          <p:cNvPr id="3" name="">
            <a:extLst xmlns:a="http://schemas.openxmlformats.org/drawingml/2006/main">
              <a:ext uri="{FF2B5EF4-FFF2-40B4-BE49-F238E27FC236}">
                <a16:creationId xmlns:a16="http://schemas.microsoft.com/office/drawing/2014/main" id="{5E1F76BB-77AB-40F4-AAC5-FAE7560EDAE8}"/>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IMPLEMENTATION</a:t>
            </a:r>
          </a:p>
        </p:txBody>
      </p:sp>
      <p:sp>
        <p:nvSpPr>
          <p:cNvPr id="4" name="">
            <a:extLst xmlns:a="http://schemas.openxmlformats.org/drawingml/2006/main">
              <a:ext uri="{FF2B5EF4-FFF2-40B4-BE49-F238E27FC236}">
                <a16:creationId xmlns:a16="http://schemas.microsoft.com/office/drawing/2014/main" id="{549543AB-FE33-44E7-A91A-0F78D7799620}"/>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1DAE702-F0ED-4F98-B51B-875928ABDF22}"/>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17ED1D-3807-4C93-9D22-5DE17484BFD9}"/>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A4F61C-0525-4333-89B6-F549477858BC}"/>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53F70E-9B1B-4D32-967E-EF720096F688}"/>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9584F20-D4AA-441C-8627-036147EDC850}"/>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0" name="anchor-block-51">
            <a:extLst xmlns:a="http://schemas.openxmlformats.org/drawingml/2006/main">
              <a:ext uri="{FF2B5EF4-FFF2-40B4-BE49-F238E27FC236}">
                <a16:creationId xmlns:a16="http://schemas.microsoft.com/office/drawing/2014/main" id="{901A554E-CDC5-4B0C-B8B3-815B7FC19B47}"/>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8CD492-89A1-41B9-AC9F-192E3E7A4007}"/>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E6616ABE-1323-493B-95E9-2EE22A54D239}"/>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Managed updates preserve project ownership</a:t>
            </a:r>
          </a:p>
        </p:txBody>
      </p:sp>
      <p:sp>
        <p:nvSpPr>
          <p:cNvPr id="13" name="">
            <a:extLst xmlns:a="http://schemas.openxmlformats.org/drawingml/2006/main">
              <a:ext uri="{FF2B5EF4-FFF2-40B4-BE49-F238E27FC236}">
                <a16:creationId xmlns:a16="http://schemas.microsoft.com/office/drawing/2014/main" id="{015E8879-D3EE-42ED-A37D-8A269A5EF4F2}"/>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9A43E1-5DE3-42D7-8AED-F4BE974712FE}"/>
              </a:ext>
            </a:extLst>
          </p:cNvPr>
          <p:cNvSpPr>
            <a:spLocks xmlns:a="http://schemas.openxmlformats.org/drawingml/2006/main" noGrp="1"/>
          </p:cNvSpPr>
          <p:nvPr/>
        </p:nvSpPr>
        <p:spPr>
          <a:xfrm xmlns:a="http://schemas.openxmlformats.org/drawingml/2006/main">
            <a:off x="990600" y="2933700"/>
            <a:ext cx="9715500" cy="28575"/>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3B62660-E8AF-44D5-A8BA-86E8BD432F2F}"/>
              </a:ext>
            </a:extLst>
          </p:cNvPr>
          <p:cNvSpPr>
            <a:spLocks xmlns:a="http://schemas.openxmlformats.org/drawingml/2006/main" noGrp="1"/>
          </p:cNvSpPr>
          <p:nvPr/>
        </p:nvSpPr>
        <p:spPr>
          <a:xfrm xmlns:a="http://schemas.openxmlformats.org/drawingml/2006/main">
            <a:off x="100965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5DF8107-5D35-44ED-A440-4B0F7237E261}"/>
              </a:ext>
            </a:extLst>
          </p:cNvPr>
          <p:cNvSpPr>
            <a:spLocks xmlns:a="http://schemas.openxmlformats.org/drawingml/2006/main" noGrp="1"/>
          </p:cNvSpPr>
          <p:nvPr/>
        </p:nvSpPr>
        <p:spPr>
          <a:xfrm xmlns:a="http://schemas.openxmlformats.org/drawingml/2006/main">
            <a:off x="100965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1</a:t>
            </a:r>
          </a:p>
        </p:txBody>
      </p:sp>
      <p:sp>
        <p:nvSpPr>
          <p:cNvPr id="17" name="">
            <a:extLst xmlns:a="http://schemas.openxmlformats.org/drawingml/2006/main">
              <a:ext uri="{FF2B5EF4-FFF2-40B4-BE49-F238E27FC236}">
                <a16:creationId xmlns:a16="http://schemas.microsoft.com/office/drawing/2014/main" id="{031B0B07-1238-43DD-A7E2-38BC6C5F6C42}"/>
              </a:ext>
            </a:extLst>
          </p:cNvPr>
          <p:cNvSpPr>
            <a:spLocks xmlns:a="http://schemas.openxmlformats.org/drawingml/2006/main" noGrp="1"/>
          </p:cNvSpPr>
          <p:nvPr/>
        </p:nvSpPr>
        <p:spPr>
          <a:xfrm xmlns:a="http://schemas.openxmlformats.org/drawingml/2006/main">
            <a:off x="99060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Compare</a:t>
            </a:r>
          </a:p>
        </p:txBody>
      </p:sp>
      <p:sp>
        <p:nvSpPr>
          <p:cNvPr id="18" name="">
            <a:extLst xmlns:a="http://schemas.openxmlformats.org/drawingml/2006/main">
              <a:ext uri="{FF2B5EF4-FFF2-40B4-BE49-F238E27FC236}">
                <a16:creationId xmlns:a16="http://schemas.microsoft.com/office/drawing/2014/main" id="{1080D17E-6FD3-4554-BF98-0052581B6723}"/>
              </a:ext>
            </a:extLst>
          </p:cNvPr>
          <p:cNvSpPr>
            <a:spLocks xmlns:a="http://schemas.openxmlformats.org/drawingml/2006/main" noGrp="1"/>
          </p:cNvSpPr>
          <p:nvPr/>
        </p:nvSpPr>
        <p:spPr>
          <a:xfrm xmlns:a="http://schemas.openxmlformats.org/drawingml/2006/main">
            <a:off x="99060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Read intended managed files and current hashes.</a:t>
            </a:r>
          </a:p>
        </p:txBody>
      </p:sp>
      <p:sp>
        <p:nvSpPr>
          <p:cNvPr id="19" name="">
            <a:extLst xmlns:a="http://schemas.openxmlformats.org/drawingml/2006/main">
              <a:ext uri="{FF2B5EF4-FFF2-40B4-BE49-F238E27FC236}">
                <a16:creationId xmlns:a16="http://schemas.microsoft.com/office/drawing/2014/main" id="{6B1CE5C9-1E52-4C9C-AF40-20B81343ECB9}"/>
              </a:ext>
            </a:extLst>
          </p:cNvPr>
          <p:cNvSpPr>
            <a:spLocks xmlns:a="http://schemas.openxmlformats.org/drawingml/2006/main" noGrp="1"/>
          </p:cNvSpPr>
          <p:nvPr/>
        </p:nvSpPr>
        <p:spPr>
          <a:xfrm xmlns:a="http://schemas.openxmlformats.org/drawingml/2006/main">
            <a:off x="3438525"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B4A133D-0C5E-44F2-9CD0-4287D47F7771}"/>
              </a:ext>
            </a:extLst>
          </p:cNvPr>
          <p:cNvSpPr>
            <a:spLocks xmlns:a="http://schemas.openxmlformats.org/drawingml/2006/main" noGrp="1"/>
          </p:cNvSpPr>
          <p:nvPr/>
        </p:nvSpPr>
        <p:spPr>
          <a:xfrm xmlns:a="http://schemas.openxmlformats.org/drawingml/2006/main">
            <a:off x="343852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2</a:t>
            </a:r>
          </a:p>
        </p:txBody>
      </p:sp>
      <p:sp>
        <p:nvSpPr>
          <p:cNvPr id="21" name="">
            <a:extLst xmlns:a="http://schemas.openxmlformats.org/drawingml/2006/main">
              <a:ext uri="{FF2B5EF4-FFF2-40B4-BE49-F238E27FC236}">
                <a16:creationId xmlns:a16="http://schemas.microsoft.com/office/drawing/2014/main" id="{C6D7BD0A-47F6-4D08-8A76-E699DC009C15}"/>
              </a:ext>
            </a:extLst>
          </p:cNvPr>
          <p:cNvSpPr>
            <a:spLocks xmlns:a="http://schemas.openxmlformats.org/drawingml/2006/main" noGrp="1"/>
          </p:cNvSpPr>
          <p:nvPr/>
        </p:nvSpPr>
        <p:spPr>
          <a:xfrm xmlns:a="http://schemas.openxmlformats.org/drawingml/2006/main">
            <a:off x="341947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Update</a:t>
            </a:r>
          </a:p>
        </p:txBody>
      </p:sp>
      <p:sp>
        <p:nvSpPr>
          <p:cNvPr id="22" name="">
            <a:extLst xmlns:a="http://schemas.openxmlformats.org/drawingml/2006/main">
              <a:ext uri="{FF2B5EF4-FFF2-40B4-BE49-F238E27FC236}">
                <a16:creationId xmlns:a16="http://schemas.microsoft.com/office/drawing/2014/main" id="{DB5D2C04-4872-4AC2-9D64-E93271356BDD}"/>
              </a:ext>
            </a:extLst>
          </p:cNvPr>
          <p:cNvSpPr>
            <a:spLocks xmlns:a="http://schemas.openxmlformats.org/drawingml/2006/main" noGrp="1"/>
          </p:cNvSpPr>
          <p:nvPr/>
        </p:nvSpPr>
        <p:spPr>
          <a:xfrm xmlns:a="http://schemas.openxmlformats.org/drawingml/2006/main">
            <a:off x="341947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Replace only unchanged installer-owned files.</a:t>
            </a:r>
          </a:p>
        </p:txBody>
      </p:sp>
      <p:sp>
        <p:nvSpPr>
          <p:cNvPr id="23" name="">
            <a:extLst xmlns:a="http://schemas.openxmlformats.org/drawingml/2006/main">
              <a:ext uri="{FF2B5EF4-FFF2-40B4-BE49-F238E27FC236}">
                <a16:creationId xmlns:a16="http://schemas.microsoft.com/office/drawing/2014/main" id="{7F7084FA-37FD-4FB2-8500-55E505DA9446}"/>
              </a:ext>
            </a:extLst>
          </p:cNvPr>
          <p:cNvSpPr>
            <a:spLocks xmlns:a="http://schemas.openxmlformats.org/drawingml/2006/main" noGrp="1"/>
          </p:cNvSpPr>
          <p:nvPr/>
        </p:nvSpPr>
        <p:spPr>
          <a:xfrm xmlns:a="http://schemas.openxmlformats.org/drawingml/2006/main">
            <a:off x="5867400" y="2743200"/>
            <a:ext cx="400050" cy="40005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BA72B7B-78A9-41AF-92EF-E6E1E532EDBE}"/>
              </a:ext>
            </a:extLst>
          </p:cNvPr>
          <p:cNvSpPr>
            <a:spLocks xmlns:a="http://schemas.openxmlformats.org/drawingml/2006/main" noGrp="1"/>
          </p:cNvSpPr>
          <p:nvPr/>
        </p:nvSpPr>
        <p:spPr>
          <a:xfrm xmlns:a="http://schemas.openxmlformats.org/drawingml/2006/main">
            <a:off x="5867400"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3</a:t>
            </a:r>
          </a:p>
        </p:txBody>
      </p:sp>
      <p:sp>
        <p:nvSpPr>
          <p:cNvPr id="25" name="">
            <a:extLst xmlns:a="http://schemas.openxmlformats.org/drawingml/2006/main">
              <a:ext uri="{FF2B5EF4-FFF2-40B4-BE49-F238E27FC236}">
                <a16:creationId xmlns:a16="http://schemas.microsoft.com/office/drawing/2014/main" id="{CDAE19CC-E785-4835-8A46-2EF4131EE73B}"/>
              </a:ext>
            </a:extLst>
          </p:cNvPr>
          <p:cNvSpPr>
            <a:spLocks xmlns:a="http://schemas.openxmlformats.org/drawingml/2006/main" noGrp="1"/>
          </p:cNvSpPr>
          <p:nvPr/>
        </p:nvSpPr>
        <p:spPr>
          <a:xfrm xmlns:a="http://schemas.openxmlformats.org/drawingml/2006/main">
            <a:off x="5848350"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FFFF"/>
                </a:solidFill>
              </a:defRPr>
            </a:pPr>
            <a:r>
              <a:rPr sz="1800" b="1" i="0">
                <a:solidFill>
                  <a:srgbClr val="FFFFFF"/>
                </a:solidFill>
              </a:rPr>
              <a:t>Preserve</a:t>
            </a:r>
          </a:p>
        </p:txBody>
      </p:sp>
      <p:sp>
        <p:nvSpPr>
          <p:cNvPr id="26" name="">
            <a:extLst xmlns:a="http://schemas.openxmlformats.org/drawingml/2006/main">
              <a:ext uri="{FF2B5EF4-FFF2-40B4-BE49-F238E27FC236}">
                <a16:creationId xmlns:a16="http://schemas.microsoft.com/office/drawing/2014/main" id="{60830C42-E0A6-4D2A-AC0F-CECDACFE6484}"/>
              </a:ext>
            </a:extLst>
          </p:cNvPr>
          <p:cNvSpPr>
            <a:spLocks xmlns:a="http://schemas.openxmlformats.org/drawingml/2006/main" noGrp="1"/>
          </p:cNvSpPr>
          <p:nvPr/>
        </p:nvSpPr>
        <p:spPr>
          <a:xfrm xmlns:a="http://schemas.openxmlformats.org/drawingml/2006/main">
            <a:off x="5848350"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Keep user-edited files and unknown local skills.</a:t>
            </a:r>
          </a:p>
        </p:txBody>
      </p:sp>
      <p:sp>
        <p:nvSpPr>
          <p:cNvPr id="27" name="">
            <a:extLst xmlns:a="http://schemas.openxmlformats.org/drawingml/2006/main">
              <a:ext uri="{FF2B5EF4-FFF2-40B4-BE49-F238E27FC236}">
                <a16:creationId xmlns:a16="http://schemas.microsoft.com/office/drawing/2014/main" id="{ED3A2BE5-C2E6-4634-8A27-36B2785D6184}"/>
              </a:ext>
            </a:extLst>
          </p:cNvPr>
          <p:cNvSpPr>
            <a:spLocks xmlns:a="http://schemas.openxmlformats.org/drawingml/2006/main" noGrp="1"/>
          </p:cNvSpPr>
          <p:nvPr/>
        </p:nvSpPr>
        <p:spPr>
          <a:xfrm xmlns:a="http://schemas.openxmlformats.org/drawingml/2006/main">
            <a:off x="8296275" y="2743200"/>
            <a:ext cx="400050" cy="40005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FD24B60-563D-44CE-8E44-56458329C7B8}"/>
              </a:ext>
            </a:extLst>
          </p:cNvPr>
          <p:cNvSpPr>
            <a:spLocks xmlns:a="http://schemas.openxmlformats.org/drawingml/2006/main" noGrp="1"/>
          </p:cNvSpPr>
          <p:nvPr/>
        </p:nvSpPr>
        <p:spPr>
          <a:xfrm xmlns:a="http://schemas.openxmlformats.org/drawingml/2006/main">
            <a:off x="8296275" y="27813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275" b="1" i="0">
                <a:solidFill>
                  <a:srgbClr val="FFFFFF"/>
                </a:solidFill>
              </a:defRPr>
            </a:pPr>
            <a:r>
              <a:rPr sz="1275" b="1" i="0">
                <a:solidFill>
                  <a:srgbClr val="FFFFFF"/>
                </a:solidFill>
              </a:rPr>
              <a:t>4</a:t>
            </a:r>
          </a:p>
        </p:txBody>
      </p:sp>
      <p:sp>
        <p:nvSpPr>
          <p:cNvPr id="29" name="">
            <a:extLst xmlns:a="http://schemas.openxmlformats.org/drawingml/2006/main">
              <a:ext uri="{FF2B5EF4-FFF2-40B4-BE49-F238E27FC236}">
                <a16:creationId xmlns:a16="http://schemas.microsoft.com/office/drawing/2014/main" id="{440BFB50-5C3B-4B64-9333-C5E87775D833}"/>
              </a:ext>
            </a:extLst>
          </p:cNvPr>
          <p:cNvSpPr>
            <a:spLocks xmlns:a="http://schemas.openxmlformats.org/drawingml/2006/main" noGrp="1"/>
          </p:cNvSpPr>
          <p:nvPr/>
        </p:nvSpPr>
        <p:spPr>
          <a:xfrm xmlns:a="http://schemas.openxmlformats.org/drawingml/2006/main">
            <a:off x="8277225" y="3429000"/>
            <a:ext cx="22002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00" b="1" i="0">
                <a:solidFill>
                  <a:srgbClr val="FFC000"/>
                </a:solidFill>
              </a:defRPr>
            </a:pPr>
            <a:r>
              <a:rPr sz="1800" b="1" i="0">
                <a:solidFill>
                  <a:srgbClr val="FFC000"/>
                </a:solidFill>
              </a:rPr>
              <a:t>Sidecar</a:t>
            </a:r>
          </a:p>
        </p:txBody>
      </p:sp>
      <p:sp>
        <p:nvSpPr>
          <p:cNvPr id="30" name="">
            <a:extLst xmlns:a="http://schemas.openxmlformats.org/drawingml/2006/main">
              <a:ext uri="{FF2B5EF4-FFF2-40B4-BE49-F238E27FC236}">
                <a16:creationId xmlns:a16="http://schemas.microsoft.com/office/drawing/2014/main" id="{8E66EB16-68AD-40ED-84B6-D9253EE06C3C}"/>
              </a:ext>
            </a:extLst>
          </p:cNvPr>
          <p:cNvSpPr>
            <a:spLocks xmlns:a="http://schemas.openxmlformats.org/drawingml/2006/main" noGrp="1"/>
          </p:cNvSpPr>
          <p:nvPr/>
        </p:nvSpPr>
        <p:spPr>
          <a:xfrm xmlns:a="http://schemas.openxmlformats.org/drawingml/2006/main">
            <a:off x="8277225" y="4019550"/>
            <a:ext cx="21621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425" b="0" i="0">
                <a:solidFill>
                  <a:srgbClr val="C8D5DC"/>
                </a:solidFill>
              </a:defRPr>
            </a:pPr>
            <a:r>
              <a:rPr sz="1425" b="0" i="0">
                <a:solidFill>
                  <a:srgbClr val="C8D5DC"/>
                </a:solidFill>
              </a:rPr>
              <a:t>Write the new generated alternative beside conflicts.</a:t>
            </a:r>
          </a:p>
        </p:txBody>
      </p:sp>
    </p:spTree>
    <p:extLst>
      <p:ext uri="{BB962C8B-B14F-4D97-AF65-F5344CB8AC3E}">
        <p14:creationId xmlns:p14="http://schemas.microsoft.com/office/powerpoint/2010/main" val="1651043757"/>
      </p:ext>
    </p:extLst>
  </p:cSld>
</p:sld>
</file>

<file path=ppt/slides/slide52.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23" name="metadata-rail-52">
            <a:extLst xmlns:a="http://schemas.openxmlformats.org/drawingml/2006/main">
              <a:ext uri="{FF2B5EF4-FFF2-40B4-BE49-F238E27FC236}">
                <a16:creationId xmlns:a16="http://schemas.microsoft.com/office/drawing/2014/main" id="{6559FFA4-F951-4178-AFAA-6C4C5B7B1D5E}"/>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41AEDF-4113-40C4-B26C-56B0E4A622A5}"/>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52</a:t>
            </a:r>
          </a:p>
        </p:txBody>
      </p:sp>
      <p:sp>
        <p:nvSpPr>
          <p:cNvPr id="3" name="">
            <a:extLst xmlns:a="http://schemas.openxmlformats.org/drawingml/2006/main">
              <a:ext uri="{FF2B5EF4-FFF2-40B4-BE49-F238E27FC236}">
                <a16:creationId xmlns:a16="http://schemas.microsoft.com/office/drawing/2014/main" id="{68071D5A-F7F7-4AF7-8CC2-989027E612A2}"/>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ADOPTION</a:t>
            </a:r>
          </a:p>
        </p:txBody>
      </p:sp>
      <p:sp>
        <p:nvSpPr>
          <p:cNvPr id="4" name="">
            <a:extLst xmlns:a="http://schemas.openxmlformats.org/drawingml/2006/main">
              <a:ext uri="{FF2B5EF4-FFF2-40B4-BE49-F238E27FC236}">
                <a16:creationId xmlns:a16="http://schemas.microsoft.com/office/drawing/2014/main" id="{054819A7-24CD-4B77-8255-6A5EC88A91DD}"/>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1AFDFA-A630-48D9-A84C-753877EE2798}"/>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01EF93A-E589-4E42-A134-3AC0B95A688F}"/>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5C6D9A-2F00-475B-8B06-FED439B4508E}"/>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3FC434-997C-4951-9300-A7C0CF0A82E1}"/>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B14E46-FB54-4741-B883-BAC61A6387E5}"/>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0" name="anchor-block-52">
            <a:extLst xmlns:a="http://schemas.openxmlformats.org/drawingml/2006/main">
              <a:ext uri="{FF2B5EF4-FFF2-40B4-BE49-F238E27FC236}">
                <a16:creationId xmlns:a16="http://schemas.microsoft.com/office/drawing/2014/main" id="{F7B0064E-8E85-436D-9556-B8F898B191B3}"/>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340A42C-A760-4789-B8A1-193D8AFE9CCA}"/>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04651EA5-AD01-4411-A3EC-23B3FE5EC341}"/>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A 30-day adoption path</a:t>
            </a:r>
          </a:p>
        </p:txBody>
      </p:sp>
      <p:sp>
        <p:nvSpPr>
          <p:cNvPr id="13" name="">
            <a:extLst xmlns:a="http://schemas.openxmlformats.org/drawingml/2006/main">
              <a:ext uri="{FF2B5EF4-FFF2-40B4-BE49-F238E27FC236}">
                <a16:creationId xmlns:a16="http://schemas.microsoft.com/office/drawing/2014/main" id="{D598CC5C-AE5C-4166-A3AC-BAC24E7463F4}"/>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7A47541-A092-40F2-9607-A79D69C5ABE0}"/>
              </a:ext>
            </a:extLst>
          </p:cNvPr>
          <p:cNvSpPr>
            <a:spLocks xmlns:a="http://schemas.openxmlformats.org/drawingml/2006/main" noGrp="1"/>
          </p:cNvSpPr>
          <p:nvPr/>
        </p:nvSpPr>
        <p:spPr>
          <a:xfrm xmlns:a="http://schemas.openxmlformats.org/drawingml/2006/main">
            <a:off x="9144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WEEK 1 · BASELINE</a:t>
            </a:r>
          </a:p>
        </p:txBody>
      </p:sp>
      <p:sp>
        <p:nvSpPr>
          <p:cNvPr id="15" name="">
            <a:extLst xmlns:a="http://schemas.openxmlformats.org/drawingml/2006/main">
              <a:ext uri="{FF2B5EF4-FFF2-40B4-BE49-F238E27FC236}">
                <a16:creationId xmlns:a16="http://schemas.microsoft.com/office/drawing/2014/main" id="{43C1A352-1110-47BE-8951-7CD07DC17F35}"/>
              </a:ext>
            </a:extLst>
          </p:cNvPr>
          <p:cNvSpPr>
            <a:spLocks xmlns:a="http://schemas.openxmlformats.org/drawingml/2006/main" noGrp="1"/>
          </p:cNvSpPr>
          <p:nvPr/>
        </p:nvSpPr>
        <p:spPr>
          <a:xfrm xmlns:a="http://schemas.openxmlformats.org/drawingml/2006/main">
            <a:off x="9144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93D9C75-6E28-4621-9649-474587011787}"/>
              </a:ext>
            </a:extLst>
          </p:cNvPr>
          <p:cNvSpPr>
            <a:spLocks xmlns:a="http://schemas.openxmlformats.org/drawingml/2006/main" noGrp="1"/>
          </p:cNvSpPr>
          <p:nvPr/>
        </p:nvSpPr>
        <p:spPr>
          <a:xfrm xmlns:a="http://schemas.openxmlformats.org/drawingml/2006/main">
            <a:off x="9144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Choose one low-risk workflow and define evidence, owner, and success criteria.</a:t>
            </a:r>
          </a:p>
        </p:txBody>
      </p:sp>
      <p:sp>
        <p:nvSpPr>
          <p:cNvPr id="17" name="">
            <a:extLst xmlns:a="http://schemas.openxmlformats.org/drawingml/2006/main">
              <a:ext uri="{FF2B5EF4-FFF2-40B4-BE49-F238E27FC236}">
                <a16:creationId xmlns:a16="http://schemas.microsoft.com/office/drawing/2014/main" id="{9B8F018C-7051-4122-B590-6DEA9E03FF6C}"/>
              </a:ext>
            </a:extLst>
          </p:cNvPr>
          <p:cNvSpPr>
            <a:spLocks xmlns:a="http://schemas.openxmlformats.org/drawingml/2006/main" noGrp="1"/>
          </p:cNvSpPr>
          <p:nvPr/>
        </p:nvSpPr>
        <p:spPr>
          <a:xfrm xmlns:a="http://schemas.openxmlformats.org/drawingml/2006/main">
            <a:off x="44577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WEEK 2 · PROTOTYPE</a:t>
            </a:r>
          </a:p>
        </p:txBody>
      </p:sp>
      <p:sp>
        <p:nvSpPr>
          <p:cNvPr id="18" name="">
            <a:extLst xmlns:a="http://schemas.openxmlformats.org/drawingml/2006/main">
              <a:ext uri="{FF2B5EF4-FFF2-40B4-BE49-F238E27FC236}">
                <a16:creationId xmlns:a16="http://schemas.microsoft.com/office/drawing/2014/main" id="{1BFCE334-5DE0-4253-B5C0-EF9CD4AE322F}"/>
              </a:ext>
            </a:extLst>
          </p:cNvPr>
          <p:cNvSpPr>
            <a:spLocks xmlns:a="http://schemas.openxmlformats.org/drawingml/2006/main" noGrp="1"/>
          </p:cNvSpPr>
          <p:nvPr/>
        </p:nvSpPr>
        <p:spPr>
          <a:xfrm xmlns:a="http://schemas.openxmlformats.org/drawingml/2006/main">
            <a:off x="44577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347FBF2-AB26-4DBC-90DE-514F6B71B28D}"/>
              </a:ext>
            </a:extLst>
          </p:cNvPr>
          <p:cNvSpPr>
            <a:spLocks xmlns:a="http://schemas.openxmlformats.org/drawingml/2006/main" noGrp="1"/>
          </p:cNvSpPr>
          <p:nvPr/>
        </p:nvSpPr>
        <p:spPr>
          <a:xfrm xmlns:a="http://schemas.openxmlformats.org/drawingml/2006/main">
            <a:off x="44577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Create the workspace, run manually, and record every failure.</a:t>
            </a:r>
          </a:p>
        </p:txBody>
      </p:sp>
      <p:sp>
        <p:nvSpPr>
          <p:cNvPr id="20" name="">
            <a:extLst xmlns:a="http://schemas.openxmlformats.org/drawingml/2006/main">
              <a:ext uri="{FF2B5EF4-FFF2-40B4-BE49-F238E27FC236}">
                <a16:creationId xmlns:a16="http://schemas.microsoft.com/office/drawing/2014/main" id="{908EB23F-0523-4FA4-9C66-3D8F8F8CAE7F}"/>
              </a:ext>
            </a:extLst>
          </p:cNvPr>
          <p:cNvSpPr>
            <a:spLocks xmlns:a="http://schemas.openxmlformats.org/drawingml/2006/main" noGrp="1"/>
          </p:cNvSpPr>
          <p:nvPr/>
        </p:nvSpPr>
        <p:spPr>
          <a:xfrm xmlns:a="http://schemas.openxmlformats.org/drawingml/2006/main">
            <a:off x="8001000" y="2095500"/>
            <a:ext cx="320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875" b="1" i="0">
                <a:solidFill>
                  <a:srgbClr val="FFC000"/>
                </a:solidFill>
              </a:defRPr>
            </a:pPr>
            <a:r>
              <a:rPr sz="1875" b="1" i="0">
                <a:solidFill>
                  <a:srgbClr val="FFC000"/>
                </a:solidFill>
              </a:rPr>
              <a:t>WEEK 3–4 · GOVERN</a:t>
            </a:r>
          </a:p>
        </p:txBody>
      </p:sp>
      <p:sp>
        <p:nvSpPr>
          <p:cNvPr id="21" name="">
            <a:extLst xmlns:a="http://schemas.openxmlformats.org/drawingml/2006/main">
              <a:ext uri="{FF2B5EF4-FFF2-40B4-BE49-F238E27FC236}">
                <a16:creationId xmlns:a16="http://schemas.microsoft.com/office/drawing/2014/main" id="{86D11575-8A2B-4938-8FC0-1BDC21663514}"/>
              </a:ext>
            </a:extLst>
          </p:cNvPr>
          <p:cNvSpPr>
            <a:spLocks xmlns:a="http://schemas.openxmlformats.org/drawingml/2006/main" noGrp="1"/>
          </p:cNvSpPr>
          <p:nvPr/>
        </p:nvSpPr>
        <p:spPr>
          <a:xfrm xmlns:a="http://schemas.openxmlformats.org/drawingml/2006/main">
            <a:off x="8001000" y="2609850"/>
            <a:ext cx="3200400" cy="190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EA08B8B-18E0-4A30-981F-0CD924B6A22A}"/>
              </a:ext>
            </a:extLst>
          </p:cNvPr>
          <p:cNvSpPr>
            <a:spLocks xmlns:a="http://schemas.openxmlformats.org/drawingml/2006/main" noGrp="1"/>
          </p:cNvSpPr>
          <p:nvPr/>
        </p:nvSpPr>
        <p:spPr>
          <a:xfrm xmlns:a="http://schemas.openxmlformats.org/drawingml/2006/main">
            <a:off x="8001000" y="2895600"/>
            <a:ext cx="32004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725" b="0" i="0">
                <a:solidFill>
                  <a:srgbClr val="FFFFFF"/>
                </a:solidFill>
              </a:defRPr>
            </a:pPr>
            <a:r>
              <a:rPr sz="1725" b="0" i="0">
                <a:solidFill>
                  <a:srgbClr val="FFFFFF"/>
                </a:solidFill>
              </a:rPr>
              <a:t>Add review gates, evaluate outputs, then automate only stable preparation steps.</a:t>
            </a:r>
          </a:p>
        </p:txBody>
      </p:sp>
    </p:spTree>
    <p:extLst>
      <p:ext uri="{BB962C8B-B14F-4D97-AF65-F5344CB8AC3E}">
        <p14:creationId xmlns:p14="http://schemas.microsoft.com/office/powerpoint/2010/main" val="470019040"/>
      </p:ext>
    </p:extLst>
  </p:cSld>
</p:sld>
</file>

<file path=ppt/slides/slide53.xml><?xml version="1.0" encoding="utf-8"?>
<p:sld xmlns:p="http://schemas.openxmlformats.org/presentationml/2006/main">
  <p:cSld>
    <p:bg>
      <p:bgPr>
        <a:solidFill xmlns:a="http://schemas.openxmlformats.org/drawingml/2006/main">
          <a:srgbClr val="014A74"/>
        </a:solidFill>
      </p:bgPr>
    </p:bg>
    <p:spTree>
      <p:nvGrpSpPr>
        <p:cNvPr id="1" name=""/>
        <p:cNvGrpSpPr/>
        <p:nvPr/>
      </p:nvGrpSpPr>
      <p:grpSpPr>
        <a:xfrm xmlns:a="http://schemas.openxmlformats.org/drawingml/2006/main"/>
      </p:grpSpPr>
      <p:sp>
        <p:nvSpPr>
          <p:cNvPr id="30" name="metadata-rail-53">
            <a:extLst xmlns:a="http://schemas.openxmlformats.org/drawingml/2006/main">
              <a:ext uri="{FF2B5EF4-FFF2-40B4-BE49-F238E27FC236}">
                <a16:creationId xmlns:a16="http://schemas.microsoft.com/office/drawing/2014/main" id="{9FB752B7-35F2-472F-84CC-6BABCF864591}"/>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6BB575-A8C6-4C8D-B2AB-67FE15092EDD}"/>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1050" b="1" i="0">
                <a:solidFill>
                  <a:srgbClr val="014A74"/>
                </a:solidFill>
              </a:defRPr>
            </a:pPr>
            <a:r>
              <a:rPr sz="1050" b="1" i="0">
                <a:solidFill>
                  <a:srgbClr val="014A74"/>
                </a:solidFill>
              </a:rPr>
              <a:t>53</a:t>
            </a:r>
          </a:p>
        </p:txBody>
      </p:sp>
      <p:sp>
        <p:nvSpPr>
          <p:cNvPr id="3" name="">
            <a:extLst xmlns:a="http://schemas.openxmlformats.org/drawingml/2006/main">
              <a:ext uri="{FF2B5EF4-FFF2-40B4-BE49-F238E27FC236}">
                <a16:creationId xmlns:a16="http://schemas.microsoft.com/office/drawing/2014/main" id="{91B6C4C3-4C24-4C1F-AF42-DAE627C0F796}"/>
              </a:ext>
            </a:extLst>
          </p:cNvPr>
          <p:cNvSpPr>
            <a:spLocks xmlns:a="http://schemas.openxmlformats.org/drawingml/2006/main" noGrp="1"/>
          </p:cNvSpPr>
          <p:nvPr/>
        </p:nvSpPr>
        <p:spPr>
          <a:xfrm xmlns:a="http://schemas.openxmlformats.org/drawingml/2006/main">
            <a:off x="11877675" y="495300"/>
            <a:ext cx="2476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5400000" anchor="ctr"/>
          <a:lstStyle xmlns:a="http://schemas.openxmlformats.org/drawingml/2006/main"/>
          <a:p xmlns:a="http://schemas.openxmlformats.org/drawingml/2006/main">
            <a:pPr algn="ctr">
              <a:defRPr sz="900" b="1" i="0">
                <a:solidFill>
                  <a:srgbClr val="014A74"/>
                </a:solidFill>
              </a:defRPr>
            </a:pPr>
            <a:r>
              <a:rPr sz="900" b="1" i="0">
                <a:solidFill>
                  <a:srgbClr val="014A74"/>
                </a:solidFill>
              </a:rPr>
              <a:t>REFERENCES</a:t>
            </a:r>
          </a:p>
        </p:txBody>
      </p:sp>
      <p:sp>
        <p:nvSpPr>
          <p:cNvPr id="4" name="">
            <a:extLst xmlns:a="http://schemas.openxmlformats.org/drawingml/2006/main">
              <a:ext uri="{FF2B5EF4-FFF2-40B4-BE49-F238E27FC236}">
                <a16:creationId xmlns:a16="http://schemas.microsoft.com/office/drawing/2014/main" id="{65FF2FC2-0BD1-48CD-91C7-BED35763F43D}"/>
              </a:ext>
            </a:extLst>
          </p:cNvPr>
          <p:cNvSpPr>
            <a:spLocks xmlns:a="http://schemas.openxmlformats.org/drawingml/2006/main" noGrp="1"/>
          </p:cNvSpPr>
          <p:nvPr/>
        </p:nvSpPr>
        <p:spPr>
          <a:xfrm xmlns:a="http://schemas.openxmlformats.org/drawingml/2006/main">
            <a:off x="11963400" y="54102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CF5855-B3A7-48D7-98D8-128498B4F4FA}"/>
              </a:ext>
            </a:extLst>
          </p:cNvPr>
          <p:cNvSpPr>
            <a:spLocks xmlns:a="http://schemas.openxmlformats.org/drawingml/2006/main" noGrp="1"/>
          </p:cNvSpPr>
          <p:nvPr/>
        </p:nvSpPr>
        <p:spPr>
          <a:xfrm xmlns:a="http://schemas.openxmlformats.org/drawingml/2006/main">
            <a:off x="11963400" y="555307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B2B6939-7089-4958-911C-70A2A46E8904}"/>
              </a:ext>
            </a:extLst>
          </p:cNvPr>
          <p:cNvSpPr>
            <a:spLocks xmlns:a="http://schemas.openxmlformats.org/drawingml/2006/main" noGrp="1"/>
          </p:cNvSpPr>
          <p:nvPr/>
        </p:nvSpPr>
        <p:spPr>
          <a:xfrm xmlns:a="http://schemas.openxmlformats.org/drawingml/2006/main">
            <a:off x="11963400" y="569595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86648B-A9F4-454D-BCF8-8067BE98F1A2}"/>
              </a:ext>
            </a:extLst>
          </p:cNvPr>
          <p:cNvSpPr>
            <a:spLocks xmlns:a="http://schemas.openxmlformats.org/drawingml/2006/main" noGrp="1"/>
          </p:cNvSpPr>
          <p:nvPr/>
        </p:nvSpPr>
        <p:spPr>
          <a:xfrm xmlns:a="http://schemas.openxmlformats.org/drawingml/2006/main">
            <a:off x="11963400" y="5838825"/>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043943-22F2-4AFF-A665-C2FC470BA3E2}"/>
              </a:ext>
            </a:extLst>
          </p:cNvPr>
          <p:cNvSpPr>
            <a:spLocks xmlns:a="http://schemas.openxmlformats.org/drawingml/2006/main" noGrp="1"/>
          </p:cNvSpPr>
          <p:nvPr/>
        </p:nvSpPr>
        <p:spPr>
          <a:xfrm xmlns:a="http://schemas.openxmlformats.org/drawingml/2006/main">
            <a:off x="11963400" y="5981700"/>
            <a:ext cx="76200" cy="76200"/>
          </a:xfrm>
          <a:prstGeom xmlns:a="http://schemas.openxmlformats.org/drawingml/2006/main" prst="rect">
            <a:avLst/>
          </a:prstGeom>
          <a:solidFill xmlns:a="http://schemas.openxmlformats.org/drawingml/2006/main">
            <a:srgbClr val="C8D5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03E823-42A2-4408-8B98-B9059AC54B80}"/>
              </a:ext>
            </a:extLst>
          </p:cNvPr>
          <p:cNvSpPr>
            <a:spLocks xmlns:a="http://schemas.openxmlformats.org/drawingml/2006/main" noGrp="1"/>
          </p:cNvSpPr>
          <p:nvPr/>
        </p:nvSpPr>
        <p:spPr>
          <a:xfrm xmlns:a="http://schemas.openxmlformats.org/drawingml/2006/main">
            <a:off x="11963400" y="6124575"/>
            <a:ext cx="76200" cy="762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0" name="anchor-block-53">
            <a:extLst xmlns:a="http://schemas.openxmlformats.org/drawingml/2006/main">
              <a:ext uri="{FF2B5EF4-FFF2-40B4-BE49-F238E27FC236}">
                <a16:creationId xmlns:a16="http://schemas.microsoft.com/office/drawing/2014/main" id="{94E1AB7C-3B02-422E-9FC1-5765FF97DCF7}"/>
              </a:ext>
            </a:extLst>
          </p:cNvPr>
          <p:cNvSpPr>
            <a:spLocks xmlns:a="http://schemas.openxmlformats.org/drawingml/2006/main" noGrp="1"/>
          </p:cNvSpPr>
          <p:nvPr/>
        </p:nvSpPr>
        <p:spPr>
          <a:xfrm xmlns:a="http://schemas.openxmlformats.org/drawingml/2006/main">
            <a:off x="0" y="0"/>
            <a:ext cx="914400" cy="914400"/>
          </a:xfrm>
          <a:prstGeom xmlns:a="http://schemas.openxmlformats.org/drawingml/2006/main" prst="rect">
            <a:avLst/>
          </a:prstGeom>
          <a:solidFill xmlns:a="http://schemas.openxmlformats.org/drawingml/2006/main">
            <a:srgbClr val="006CA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AFC62B5-088B-4722-99A1-2055C0D36FF2}"/>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C8D5DC"/>
                </a:solidFill>
              </a:defRPr>
            </a:pPr>
            <a:r>
              <a:rPr sz="975" b="1" i="0">
                <a:solidFill>
                  <a:srgbClr val="C8D5DC"/>
                </a:solidFill>
              </a:rPr>
              <a:t>CREATED WITH AFK RESEARCH</a:t>
            </a:r>
          </a:p>
        </p:txBody>
      </p:sp>
      <p:sp>
        <p:nvSpPr>
          <p:cNvPr id="12" name="slide-title">
            <a:extLst xmlns:a="http://schemas.openxmlformats.org/drawingml/2006/main">
              <a:ext uri="{FF2B5EF4-FFF2-40B4-BE49-F238E27FC236}">
                <a16:creationId xmlns:a16="http://schemas.microsoft.com/office/drawing/2014/main" id="{A5460177-7FA2-423F-BD96-350BAA96313D}"/>
              </a:ext>
            </a:extLst>
          </p:cNvPr>
          <p:cNvSpPr>
            <a:spLocks xmlns:a="http://schemas.openxmlformats.org/drawingml/2006/main" noGrp="1"/>
          </p:cNvSpPr>
          <p:nvPr/>
        </p:nvSpPr>
        <p:spPr>
          <a:xfrm xmlns:a="http://schemas.openxmlformats.org/drawingml/2006/main">
            <a:off x="914400" y="68580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3600" b="0" i="0">
                <a:solidFill>
                  <a:srgbClr val="FFFFFF"/>
                </a:solidFill>
              </a:defRPr>
            </a:pPr>
            <a:r>
              <a:rPr sz="3600" b="0" i="0">
                <a:solidFill>
                  <a:srgbClr val="FFFFFF"/>
                </a:solidFill>
              </a:rPr>
              <a:t>Key references</a:t>
            </a:r>
          </a:p>
        </p:txBody>
      </p:sp>
      <p:sp>
        <p:nvSpPr>
          <p:cNvPr id="13" name="">
            <a:extLst xmlns:a="http://schemas.openxmlformats.org/drawingml/2006/main">
              <a:ext uri="{FF2B5EF4-FFF2-40B4-BE49-F238E27FC236}">
                <a16:creationId xmlns:a16="http://schemas.microsoft.com/office/drawing/2014/main" id="{A6699BD6-04FD-4605-AE0E-97E2FF46A7ED}"/>
              </a:ext>
            </a:extLst>
          </p:cNvPr>
          <p:cNvSpPr>
            <a:spLocks xmlns:a="http://schemas.openxmlformats.org/drawingml/2006/main" noGrp="1"/>
          </p:cNvSpPr>
          <p:nvPr/>
        </p:nvSpPr>
        <p:spPr>
          <a:xfrm xmlns:a="http://schemas.openxmlformats.org/drawingml/2006/main">
            <a:off x="914400" y="1390650"/>
            <a:ext cx="1524000" cy="38100"/>
          </a:xfrm>
          <a:prstGeom xmlns:a="http://schemas.openxmlformats.org/drawingml/2006/main" prst="rect">
            <a:avLst/>
          </a:prstGeom>
          <a:solidFill xmlns:a="http://schemas.openxmlformats.org/drawingml/2006/main">
            <a:srgbClr val="FFC0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CECC8F4-21B5-47B1-9141-022C14540332}"/>
              </a:ext>
            </a:extLst>
          </p:cNvPr>
          <p:cNvSpPr>
            <a:spLocks xmlns:a="http://schemas.openxmlformats.org/drawingml/2006/main" noGrp="1"/>
          </p:cNvSpPr>
          <p:nvPr/>
        </p:nvSpPr>
        <p:spPr>
          <a:xfrm xmlns:a="http://schemas.openxmlformats.org/drawingml/2006/main">
            <a:off x="990600" y="20955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01</a:t>
            </a:r>
          </a:p>
        </p:txBody>
      </p:sp>
      <p:sp>
        <p:nvSpPr>
          <p:cNvPr id="15" name="">
            <a:extLst xmlns:a="http://schemas.openxmlformats.org/drawingml/2006/main">
              <a:ext uri="{FF2B5EF4-FFF2-40B4-BE49-F238E27FC236}">
                <a16:creationId xmlns:a16="http://schemas.microsoft.com/office/drawing/2014/main" id="{270D52A5-FD05-43D0-9589-F93E22D96086}"/>
              </a:ext>
            </a:extLst>
          </p:cNvPr>
          <p:cNvSpPr>
            <a:spLocks xmlns:a="http://schemas.openxmlformats.org/drawingml/2006/main" noGrp="1"/>
          </p:cNvSpPr>
          <p:nvPr/>
        </p:nvSpPr>
        <p:spPr>
          <a:xfrm xmlns:a="http://schemas.openxmlformats.org/drawingml/2006/main">
            <a:off x="1543050" y="20574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Indonesia · Law No. 12/2012 on Higher Education</a:t>
            </a:r>
          </a:p>
        </p:txBody>
      </p:sp>
      <p:sp>
        <p:nvSpPr>
          <p:cNvPr id="16" name="">
            <a:extLst xmlns:a="http://schemas.openxmlformats.org/drawingml/2006/main">
              <a:ext uri="{FF2B5EF4-FFF2-40B4-BE49-F238E27FC236}">
                <a16:creationId xmlns:a16="http://schemas.microsoft.com/office/drawing/2014/main" id="{4D132E5E-7D07-4072-ACBD-E912A5317A69}"/>
              </a:ext>
            </a:extLst>
          </p:cNvPr>
          <p:cNvSpPr>
            <a:spLocks xmlns:a="http://schemas.openxmlformats.org/drawingml/2006/main" noGrp="1"/>
          </p:cNvSpPr>
          <p:nvPr/>
        </p:nvSpPr>
        <p:spPr>
          <a:xfrm xmlns:a="http://schemas.openxmlformats.org/drawingml/2006/main">
            <a:off x="990600" y="2971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02</a:t>
            </a:r>
          </a:p>
        </p:txBody>
      </p:sp>
      <p:sp>
        <p:nvSpPr>
          <p:cNvPr id="17" name="">
            <a:extLst xmlns:a="http://schemas.openxmlformats.org/drawingml/2006/main">
              <a:ext uri="{FF2B5EF4-FFF2-40B4-BE49-F238E27FC236}">
                <a16:creationId xmlns:a16="http://schemas.microsoft.com/office/drawing/2014/main" id="{A4A56CC5-3F85-4219-BBEC-78B3E8F448E9}"/>
              </a:ext>
            </a:extLst>
          </p:cNvPr>
          <p:cNvSpPr>
            <a:spLocks xmlns:a="http://schemas.openxmlformats.org/drawingml/2006/main" noGrp="1"/>
          </p:cNvSpPr>
          <p:nvPr/>
        </p:nvSpPr>
        <p:spPr>
          <a:xfrm xmlns:a="http://schemas.openxmlformats.org/drawingml/2006/main">
            <a:off x="1543050" y="29337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Yao et al. · ReAct (2023)</a:t>
            </a:r>
          </a:p>
        </p:txBody>
      </p:sp>
      <p:sp>
        <p:nvSpPr>
          <p:cNvPr id="18" name="">
            <a:extLst xmlns:a="http://schemas.openxmlformats.org/drawingml/2006/main">
              <a:ext uri="{FF2B5EF4-FFF2-40B4-BE49-F238E27FC236}">
                <a16:creationId xmlns:a16="http://schemas.microsoft.com/office/drawing/2014/main" id="{33C443B4-7B16-4754-A173-097D6C278D3E}"/>
              </a:ext>
            </a:extLst>
          </p:cNvPr>
          <p:cNvSpPr>
            <a:spLocks xmlns:a="http://schemas.openxmlformats.org/drawingml/2006/main" noGrp="1"/>
          </p:cNvSpPr>
          <p:nvPr/>
        </p:nvSpPr>
        <p:spPr>
          <a:xfrm xmlns:a="http://schemas.openxmlformats.org/drawingml/2006/main">
            <a:off x="990600" y="3848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03</a:t>
            </a:r>
          </a:p>
        </p:txBody>
      </p:sp>
      <p:sp>
        <p:nvSpPr>
          <p:cNvPr id="19" name="">
            <a:extLst xmlns:a="http://schemas.openxmlformats.org/drawingml/2006/main">
              <a:ext uri="{FF2B5EF4-FFF2-40B4-BE49-F238E27FC236}">
                <a16:creationId xmlns:a16="http://schemas.microsoft.com/office/drawing/2014/main" id="{48AB8324-FF8A-4B1B-AAE7-C9BAC22E582A}"/>
              </a:ext>
            </a:extLst>
          </p:cNvPr>
          <p:cNvSpPr>
            <a:spLocks xmlns:a="http://schemas.openxmlformats.org/drawingml/2006/main" noGrp="1"/>
          </p:cNvSpPr>
          <p:nvPr/>
        </p:nvSpPr>
        <p:spPr>
          <a:xfrm xmlns:a="http://schemas.openxmlformats.org/drawingml/2006/main">
            <a:off x="1543050" y="38100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Schick et al. · Toolformer (2023)</a:t>
            </a:r>
          </a:p>
        </p:txBody>
      </p:sp>
      <p:sp>
        <p:nvSpPr>
          <p:cNvPr id="20" name="">
            <a:extLst xmlns:a="http://schemas.openxmlformats.org/drawingml/2006/main">
              <a:ext uri="{FF2B5EF4-FFF2-40B4-BE49-F238E27FC236}">
                <a16:creationId xmlns:a16="http://schemas.microsoft.com/office/drawing/2014/main" id="{782BBACA-F556-4F80-A7BD-C52B8C9F58BB}"/>
              </a:ext>
            </a:extLst>
          </p:cNvPr>
          <p:cNvSpPr>
            <a:spLocks xmlns:a="http://schemas.openxmlformats.org/drawingml/2006/main" noGrp="1"/>
          </p:cNvSpPr>
          <p:nvPr/>
        </p:nvSpPr>
        <p:spPr>
          <a:xfrm xmlns:a="http://schemas.openxmlformats.org/drawingml/2006/main">
            <a:off x="990600" y="4724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04</a:t>
            </a:r>
          </a:p>
        </p:txBody>
      </p:sp>
      <p:sp>
        <p:nvSpPr>
          <p:cNvPr id="21" name="">
            <a:extLst xmlns:a="http://schemas.openxmlformats.org/drawingml/2006/main">
              <a:ext uri="{FF2B5EF4-FFF2-40B4-BE49-F238E27FC236}">
                <a16:creationId xmlns:a16="http://schemas.microsoft.com/office/drawing/2014/main" id="{02F6ABF9-ADA5-481B-B7E8-E25CE460B1D5}"/>
              </a:ext>
            </a:extLst>
          </p:cNvPr>
          <p:cNvSpPr>
            <a:spLocks xmlns:a="http://schemas.openxmlformats.org/drawingml/2006/main" noGrp="1"/>
          </p:cNvSpPr>
          <p:nvPr/>
        </p:nvSpPr>
        <p:spPr>
          <a:xfrm xmlns:a="http://schemas.openxmlformats.org/drawingml/2006/main">
            <a:off x="1543050" y="46863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Park et al. · Generative Agents (2023)</a:t>
            </a:r>
          </a:p>
        </p:txBody>
      </p:sp>
      <p:sp>
        <p:nvSpPr>
          <p:cNvPr id="22" name="">
            <a:extLst xmlns:a="http://schemas.openxmlformats.org/drawingml/2006/main">
              <a:ext uri="{FF2B5EF4-FFF2-40B4-BE49-F238E27FC236}">
                <a16:creationId xmlns:a16="http://schemas.microsoft.com/office/drawing/2014/main" id="{D417C256-98AE-44E4-B363-6EE86522A1DE}"/>
              </a:ext>
            </a:extLst>
          </p:cNvPr>
          <p:cNvSpPr>
            <a:spLocks xmlns:a="http://schemas.openxmlformats.org/drawingml/2006/main" noGrp="1"/>
          </p:cNvSpPr>
          <p:nvPr/>
        </p:nvSpPr>
        <p:spPr>
          <a:xfrm xmlns:a="http://schemas.openxmlformats.org/drawingml/2006/main">
            <a:off x="6134100" y="20955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05</a:t>
            </a:r>
          </a:p>
        </p:txBody>
      </p:sp>
      <p:sp>
        <p:nvSpPr>
          <p:cNvPr id="23" name="">
            <a:extLst xmlns:a="http://schemas.openxmlformats.org/drawingml/2006/main">
              <a:ext uri="{FF2B5EF4-FFF2-40B4-BE49-F238E27FC236}">
                <a16:creationId xmlns:a16="http://schemas.microsoft.com/office/drawing/2014/main" id="{6E5D67D1-D8FB-4314-80F2-A031091C7ED9}"/>
              </a:ext>
            </a:extLst>
          </p:cNvPr>
          <p:cNvSpPr>
            <a:spLocks xmlns:a="http://schemas.openxmlformats.org/drawingml/2006/main" noGrp="1"/>
          </p:cNvSpPr>
          <p:nvPr/>
        </p:nvSpPr>
        <p:spPr>
          <a:xfrm xmlns:a="http://schemas.openxmlformats.org/drawingml/2006/main">
            <a:off x="6686550" y="20574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Lewis et al. · Retrieval-Augmented Generation (2020)</a:t>
            </a:r>
          </a:p>
        </p:txBody>
      </p:sp>
      <p:sp>
        <p:nvSpPr>
          <p:cNvPr id="24" name="">
            <a:extLst xmlns:a="http://schemas.openxmlformats.org/drawingml/2006/main">
              <a:ext uri="{FF2B5EF4-FFF2-40B4-BE49-F238E27FC236}">
                <a16:creationId xmlns:a16="http://schemas.microsoft.com/office/drawing/2014/main" id="{4EB1D4A6-8D34-4781-9271-414104C3999E}"/>
              </a:ext>
            </a:extLst>
          </p:cNvPr>
          <p:cNvSpPr>
            <a:spLocks xmlns:a="http://schemas.openxmlformats.org/drawingml/2006/main" noGrp="1"/>
          </p:cNvSpPr>
          <p:nvPr/>
        </p:nvSpPr>
        <p:spPr>
          <a:xfrm xmlns:a="http://schemas.openxmlformats.org/drawingml/2006/main">
            <a:off x="6134100" y="29718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06</a:t>
            </a:r>
          </a:p>
        </p:txBody>
      </p:sp>
      <p:sp>
        <p:nvSpPr>
          <p:cNvPr id="25" name="">
            <a:extLst xmlns:a="http://schemas.openxmlformats.org/drawingml/2006/main">
              <a:ext uri="{FF2B5EF4-FFF2-40B4-BE49-F238E27FC236}">
                <a16:creationId xmlns:a16="http://schemas.microsoft.com/office/drawing/2014/main" id="{2774F942-2860-4E5B-8FD2-017C003F78E2}"/>
              </a:ext>
            </a:extLst>
          </p:cNvPr>
          <p:cNvSpPr>
            <a:spLocks xmlns:a="http://schemas.openxmlformats.org/drawingml/2006/main" noGrp="1"/>
          </p:cNvSpPr>
          <p:nvPr/>
        </p:nvSpPr>
        <p:spPr>
          <a:xfrm xmlns:a="http://schemas.openxmlformats.org/drawingml/2006/main">
            <a:off x="6686550" y="29337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UNESCO · Guidance for GenAI in Education and Research (2023)</a:t>
            </a:r>
          </a:p>
        </p:txBody>
      </p:sp>
      <p:sp>
        <p:nvSpPr>
          <p:cNvPr id="26" name="">
            <a:extLst xmlns:a="http://schemas.openxmlformats.org/drawingml/2006/main">
              <a:ext uri="{FF2B5EF4-FFF2-40B4-BE49-F238E27FC236}">
                <a16:creationId xmlns:a16="http://schemas.microsoft.com/office/drawing/2014/main" id="{380682FA-D4B1-4705-B4DE-9AAF57585ED1}"/>
              </a:ext>
            </a:extLst>
          </p:cNvPr>
          <p:cNvSpPr>
            <a:spLocks xmlns:a="http://schemas.openxmlformats.org/drawingml/2006/main" noGrp="1"/>
          </p:cNvSpPr>
          <p:nvPr/>
        </p:nvSpPr>
        <p:spPr>
          <a:xfrm xmlns:a="http://schemas.openxmlformats.org/drawingml/2006/main">
            <a:off x="6134100" y="38481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07</a:t>
            </a:r>
          </a:p>
        </p:txBody>
      </p:sp>
      <p:sp>
        <p:nvSpPr>
          <p:cNvPr id="27" name="">
            <a:extLst xmlns:a="http://schemas.openxmlformats.org/drawingml/2006/main">
              <a:ext uri="{FF2B5EF4-FFF2-40B4-BE49-F238E27FC236}">
                <a16:creationId xmlns:a16="http://schemas.microsoft.com/office/drawing/2014/main" id="{5E52D48C-80F9-42A3-BB0C-84E8D750A731}"/>
              </a:ext>
            </a:extLst>
          </p:cNvPr>
          <p:cNvSpPr>
            <a:spLocks xmlns:a="http://schemas.openxmlformats.org/drawingml/2006/main" noGrp="1"/>
          </p:cNvSpPr>
          <p:nvPr/>
        </p:nvSpPr>
        <p:spPr>
          <a:xfrm xmlns:a="http://schemas.openxmlformats.org/drawingml/2006/main">
            <a:off x="6686550" y="38100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NIST · AI Risk Management Framework 1.0</a:t>
            </a:r>
          </a:p>
        </p:txBody>
      </p:sp>
      <p:sp>
        <p:nvSpPr>
          <p:cNvPr id="28" name="">
            <a:extLst xmlns:a="http://schemas.openxmlformats.org/drawingml/2006/main">
              <a:ext uri="{FF2B5EF4-FFF2-40B4-BE49-F238E27FC236}">
                <a16:creationId xmlns:a16="http://schemas.microsoft.com/office/drawing/2014/main" id="{EC205067-452D-4147-B953-B9E14A986B12}"/>
              </a:ext>
            </a:extLst>
          </p:cNvPr>
          <p:cNvSpPr>
            <a:spLocks xmlns:a="http://schemas.openxmlformats.org/drawingml/2006/main" noGrp="1"/>
          </p:cNvSpPr>
          <p:nvPr/>
        </p:nvSpPr>
        <p:spPr>
          <a:xfrm xmlns:a="http://schemas.openxmlformats.org/drawingml/2006/main">
            <a:off x="6134100" y="472440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500" b="1" i="0">
                <a:solidFill>
                  <a:srgbClr val="FFC000"/>
                </a:solidFill>
              </a:defRPr>
            </a:pPr>
            <a:r>
              <a:rPr sz="1500" b="1" i="0">
                <a:solidFill>
                  <a:srgbClr val="FFC000"/>
                </a:solidFill>
              </a:rPr>
              <a:t>08</a:t>
            </a:r>
          </a:p>
        </p:txBody>
      </p:sp>
      <p:sp>
        <p:nvSpPr>
          <p:cNvPr id="29" name="">
            <a:extLst xmlns:a="http://schemas.openxmlformats.org/drawingml/2006/main">
              <a:ext uri="{FF2B5EF4-FFF2-40B4-BE49-F238E27FC236}">
                <a16:creationId xmlns:a16="http://schemas.microsoft.com/office/drawing/2014/main" id="{F43CBA5E-9AEB-4602-8A4F-469E96A3B316}"/>
              </a:ext>
            </a:extLst>
          </p:cNvPr>
          <p:cNvSpPr>
            <a:spLocks xmlns:a="http://schemas.openxmlformats.org/drawingml/2006/main" noGrp="1"/>
          </p:cNvSpPr>
          <p:nvPr/>
        </p:nvSpPr>
        <p:spPr>
          <a:xfrm xmlns:a="http://schemas.openxmlformats.org/drawingml/2006/main">
            <a:off x="6686550" y="4686300"/>
            <a:ext cx="428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l">
              <a:defRPr sz="1500" b="0" i="0">
                <a:solidFill>
                  <a:srgbClr val="FFFFFF"/>
                </a:solidFill>
              </a:defRPr>
            </a:pPr>
            <a:r>
              <a:rPr sz="1500" b="0" i="0">
                <a:solidFill>
                  <a:srgbClr val="FFFFFF"/>
                </a:solidFill>
              </a:rPr>
              <a:t>AFK Research · private MVP snapshot at 6c76a25</a:t>
            </a:r>
          </a:p>
        </p:txBody>
      </p:sp>
    </p:spTree>
    <p:extLst>
      <p:ext uri="{BB962C8B-B14F-4D97-AF65-F5344CB8AC3E}">
        <p14:creationId xmlns:p14="http://schemas.microsoft.com/office/powerpoint/2010/main" val="619530164"/>
      </p:ext>
    </p:extLst>
  </p:cSld>
</p:sld>
</file>

<file path=ppt/slides/slide54.xml><?xml version="1.0" encoding="utf-8"?>
<p:sld xmlns:p="http://schemas.openxmlformats.org/presentationml/2006/main">
  <p:cSld>
    <p:bg>
      <p:bgPr>
        <a:solidFill xmlns:a="http://schemas.openxmlformats.org/drawingml/2006/main">
          <a:srgbClr val="EFB83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1F9655-F694-4CCD-9EBC-DD6E48146E07}"/>
              </a:ext>
            </a:extLst>
          </p:cNvPr>
          <p:cNvSpPr>
            <a:spLocks xmlns:a="http://schemas.openxmlformats.org/drawingml/2006/main" noGrp="1"/>
          </p:cNvSpPr>
          <p:nvPr/>
        </p:nvSpPr>
        <p:spPr>
          <a:xfrm xmlns:a="http://schemas.openxmlformats.org/drawingml/2006/main">
            <a:off x="0" y="0"/>
            <a:ext cx="8286750" cy="6858000"/>
          </a:xfrm>
          <a:prstGeom xmlns:a="http://schemas.openxmlformats.org/drawingml/2006/main" prst="rect">
            <a:avLst/>
          </a:prstGeom>
          <a:solidFill xmlns:a="http://schemas.openxmlformats.org/drawingml/2006/main">
            <a:srgbClr val="EFB8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0C7F1FA-CE0F-4B6C-AB3B-C11850C43FF6}"/>
              </a:ext>
            </a:extLst>
          </p:cNvPr>
          <p:cNvSpPr>
            <a:spLocks xmlns:a="http://schemas.openxmlformats.org/drawingml/2006/main" noGrp="1"/>
          </p:cNvSpPr>
          <p:nvPr/>
        </p:nvSpPr>
        <p:spPr>
          <a:xfrm xmlns:a="http://schemas.openxmlformats.org/drawingml/2006/main">
            <a:off x="8286750" y="0"/>
            <a:ext cx="3524250" cy="6858000"/>
          </a:xfrm>
          <a:prstGeom xmlns:a="http://schemas.openxmlformats.org/drawingml/2006/main" prst="rect">
            <a:avLst/>
          </a:prstGeom>
          <a:solidFill xmlns:a="http://schemas.openxmlformats.org/drawingml/2006/main">
            <a:srgbClr val="014A7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445837-266F-498D-9172-812CA39BAF29}"/>
              </a:ext>
            </a:extLst>
          </p:cNvPr>
          <p:cNvSpPr>
            <a:spLocks xmlns:a="http://schemas.openxmlformats.org/drawingml/2006/main" noGrp="1"/>
          </p:cNvSpPr>
          <p:nvPr/>
        </p:nvSpPr>
        <p:spPr>
          <a:xfrm xmlns:a="http://schemas.openxmlformats.org/drawingml/2006/main">
            <a:off x="11811000" y="0"/>
            <a:ext cx="381000" cy="6858000"/>
          </a:xfrm>
          <a:prstGeom xmlns:a="http://schemas.openxmlformats.org/drawingml/2006/main" prst="rect">
            <a:avLst/>
          </a:prstGeom>
          <a:solidFill xmlns:a="http://schemas.openxmlformats.org/drawingml/2006/main">
            <a:srgbClr val="F0F2F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C012D5-3565-4AF1-8C7B-04BF5D91617D}"/>
              </a:ext>
            </a:extLst>
          </p:cNvPr>
          <p:cNvSpPr>
            <a:spLocks xmlns:a="http://schemas.openxmlformats.org/drawingml/2006/main" noGrp="1"/>
          </p:cNvSpPr>
          <p:nvPr/>
        </p:nvSpPr>
        <p:spPr>
          <a:xfrm xmlns:a="http://schemas.openxmlformats.org/drawingml/2006/main">
            <a:off x="876300" y="1371600"/>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4650" b="1" i="0">
                <a:solidFill>
                  <a:srgbClr val="014A74"/>
                </a:solidFill>
              </a:defRPr>
            </a:pPr>
            <a:r>
              <a:rPr sz="4650" b="1" i="0">
                <a:solidFill>
                  <a:srgbClr val="014A74"/>
                </a:solidFill>
              </a:rPr>
              <a:t>The lecturer remains the accountable expert.</a:t>
            </a:r>
          </a:p>
        </p:txBody>
      </p:sp>
      <p:sp>
        <p:nvSpPr>
          <p:cNvPr id="5" name="">
            <a:extLst xmlns:a="http://schemas.openxmlformats.org/drawingml/2006/main">
              <a:ext uri="{FF2B5EF4-FFF2-40B4-BE49-F238E27FC236}">
                <a16:creationId xmlns:a16="http://schemas.microsoft.com/office/drawing/2014/main" id="{917A9EB0-664D-4EF1-971F-52502A11DEDE}"/>
              </a:ext>
            </a:extLst>
          </p:cNvPr>
          <p:cNvSpPr>
            <a:spLocks xmlns:a="http://schemas.openxmlformats.org/drawingml/2006/main" noGrp="1"/>
          </p:cNvSpPr>
          <p:nvPr/>
        </p:nvSpPr>
        <p:spPr>
          <a:xfrm xmlns:a="http://schemas.openxmlformats.org/drawingml/2006/main">
            <a:off x="914400" y="3524250"/>
            <a:ext cx="1714500" cy="57150"/>
          </a:xfrm>
          <a:prstGeom xmlns:a="http://schemas.openxmlformats.org/drawingml/2006/main" prst="rect">
            <a:avLst/>
          </a:prstGeom>
          <a:solidFill xmlns:a="http://schemas.openxmlformats.org/drawingml/2006/main">
            <a:srgbClr val="014A7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A8C2269-6E04-42E3-AAD7-CEFA02C8BC4B}"/>
              </a:ext>
            </a:extLst>
          </p:cNvPr>
          <p:cNvSpPr>
            <a:spLocks xmlns:a="http://schemas.openxmlformats.org/drawingml/2006/main" noGrp="1"/>
          </p:cNvSpPr>
          <p:nvPr/>
        </p:nvSpPr>
        <p:spPr>
          <a:xfrm xmlns:a="http://schemas.openxmlformats.org/drawingml/2006/main">
            <a:off x="914400" y="3943350"/>
            <a:ext cx="6286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2100" b="1" i="0">
                <a:solidFill>
                  <a:srgbClr val="014A74"/>
                </a:solidFill>
              </a:defRPr>
            </a:pPr>
            <a:r>
              <a:rPr sz="2100" b="1" i="0">
                <a:solidFill>
                  <a:srgbClr val="014A74"/>
                </a:solidFill>
              </a:rPr>
              <a:t>The agent carries context, prepares work, uses bounded tools, and makes the process visible.</a:t>
            </a:r>
          </a:p>
        </p:txBody>
      </p:sp>
      <p:sp>
        <p:nvSpPr>
          <p:cNvPr id="7" name="">
            <a:extLst xmlns:a="http://schemas.openxmlformats.org/drawingml/2006/main">
              <a:ext uri="{FF2B5EF4-FFF2-40B4-BE49-F238E27FC236}">
                <a16:creationId xmlns:a16="http://schemas.microsoft.com/office/drawing/2014/main" id="{D2862C62-14D2-400D-A620-59A2B91761CB}"/>
              </a:ext>
            </a:extLst>
          </p:cNvPr>
          <p:cNvSpPr>
            <a:spLocks xmlns:a="http://schemas.openxmlformats.org/drawingml/2006/main" noGrp="1"/>
          </p:cNvSpPr>
          <p:nvPr/>
        </p:nvSpPr>
        <p:spPr>
          <a:xfrm xmlns:a="http://schemas.openxmlformats.org/drawingml/2006/main">
            <a:off x="914400" y="54673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125" b="1" i="0">
                <a:solidFill>
                  <a:srgbClr val="014A74"/>
                </a:solidFill>
              </a:defRPr>
            </a:pPr>
            <a:r>
              <a:rPr sz="1125" b="1" i="0">
                <a:solidFill>
                  <a:srgbClr val="014A74"/>
                </a:solidFill>
              </a:rPr>
              <a:t>CREATE OR ADAPT THIS DECK</a:t>
            </a:r>
          </a:p>
        </p:txBody>
      </p:sp>
      <p:sp>
        <p:nvSpPr>
          <p:cNvPr id="8" name="">
            <a:extLst xmlns:a="http://schemas.openxmlformats.org/drawingml/2006/main">
              <a:ext uri="{FF2B5EF4-FFF2-40B4-BE49-F238E27FC236}">
                <a16:creationId xmlns:a16="http://schemas.microsoft.com/office/drawing/2014/main" id="{BC332024-0206-42D6-AA37-0642EBD8B383}"/>
              </a:ext>
            </a:extLst>
          </p:cNvPr>
          <p:cNvSpPr>
            <a:spLocks xmlns:a="http://schemas.openxmlformats.org/drawingml/2006/main" noGrp="1"/>
          </p:cNvSpPr>
          <p:nvPr/>
        </p:nvSpPr>
        <p:spPr>
          <a:xfrm xmlns:a="http://schemas.openxmlformats.org/drawingml/2006/main">
            <a:off x="914400" y="575310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1350" b="1" i="0">
                <a:solidFill>
                  <a:srgbClr val="014A74"/>
                </a:solidFill>
              </a:defRPr>
            </a:pPr>
            <a:r>
              <a:rPr sz="1350" b="1" i="0" u="sng">
                <a:solidFill>
                  <a:srgbClr val="014A74"/>
                </a:solidFill>
                <a:hlinkClick xmlns:r="http://schemas.openxmlformats.org/officeDocument/2006/relationships" r:id="R3a566b1e68b641bc"/>
              </a:rPr>
              <a:t>github.com/RTTJogja/dcse-summer-ppt-public</a:t>
            </a:r>
          </a:p>
        </p:txBody>
      </p:sp>
      <p:sp>
        <p:nvSpPr>
          <p:cNvPr id="9" name="">
            <a:extLst xmlns:a="http://schemas.openxmlformats.org/drawingml/2006/main">
              <a:ext uri="{FF2B5EF4-FFF2-40B4-BE49-F238E27FC236}">
                <a16:creationId xmlns:a16="http://schemas.microsoft.com/office/drawing/2014/main" id="{B30FD20E-DB99-433F-B8F2-533C7B398642}"/>
              </a:ext>
            </a:extLst>
          </p:cNvPr>
          <p:cNvSpPr>
            <a:spLocks xmlns:a="http://schemas.openxmlformats.org/drawingml/2006/main" noGrp="1"/>
          </p:cNvSpPr>
          <p:nvPr/>
        </p:nvSpPr>
        <p:spPr>
          <a:xfrm xmlns:a="http://schemas.openxmlformats.org/drawingml/2006/main">
            <a:off x="8743950" y="2000250"/>
            <a:ext cx="2476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ctr"/>
          <a:lstStyle xmlns:a="http://schemas.openxmlformats.org/drawingml/2006/main"/>
          <a:p xmlns:a="http://schemas.openxmlformats.org/drawingml/2006/main">
            <a:pPr algn="ctr">
              <a:defRPr sz="2625" b="1" i="0">
                <a:solidFill>
                  <a:srgbClr val="FFFFFF"/>
                </a:solidFill>
              </a:defRPr>
            </a:pPr>
            <a:r>
              <a:rPr sz="2625" b="1" i="0">
                <a:solidFill>
                  <a:srgbClr val="FFFFFF"/>
                </a:solidFill>
              </a:rPr>
              <a:t>BUILD THE SYSTEM.</a:t>
            </a:r>
          </a:p>
          <a:p xmlns:a="http://schemas.openxmlformats.org/drawingml/2006/main">
            <a:pPr algn="ctr">
              <a:defRPr sz="2625" b="1" i="0">
                <a:solidFill>
                  <a:srgbClr val="FFFFFF"/>
                </a:solidFill>
              </a:defRPr>
            </a:pPr>
            <a:r>
              <a:rPr sz="2625" b="1" i="0">
                <a:solidFill>
                  <a:srgbClr val="FFFFFF"/>
                </a:solidFill>
              </a:rPr>
              <a:t>KEEP THE JUDGMENT.</a:t>
            </a:r>
          </a:p>
        </p:txBody>
      </p:sp>
      <p:sp>
        <p:nvSpPr>
          <p:cNvPr id="10" name="">
            <a:extLst xmlns:a="http://schemas.openxmlformats.org/drawingml/2006/main">
              <a:ext uri="{FF2B5EF4-FFF2-40B4-BE49-F238E27FC236}">
                <a16:creationId xmlns:a16="http://schemas.microsoft.com/office/drawing/2014/main" id="{BA09E3F6-1845-44E9-9A8C-BAAF47DB51CC}"/>
              </a:ext>
            </a:extLst>
          </p:cNvPr>
          <p:cNvSpPr>
            <a:spLocks xmlns:a="http://schemas.openxmlformats.org/drawingml/2006/main" noGrp="1"/>
          </p:cNvSpPr>
          <p:nvPr/>
        </p:nvSpPr>
        <p:spPr>
          <a:xfrm xmlns:a="http://schemas.openxmlformats.org/drawingml/2006/main">
            <a:off x="11877675" y="619125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ctr">
              <a:defRPr sz="1050" b="1" i="0">
                <a:solidFill>
                  <a:srgbClr val="014A74"/>
                </a:solidFill>
              </a:defRPr>
            </a:pPr>
            <a:r>
              <a:rPr sz="1050" b="1" i="0">
                <a:solidFill>
                  <a:srgbClr val="014A74"/>
                </a:solidFill>
              </a:rPr>
              <a:t>54</a:t>
            </a:r>
          </a:p>
        </p:txBody>
      </p:sp>
      <p:sp>
        <p:nvSpPr>
          <p:cNvPr id="11" name="">
            <a:extLst xmlns:a="http://schemas.openxmlformats.org/drawingml/2006/main">
              <a:ext uri="{FF2B5EF4-FFF2-40B4-BE49-F238E27FC236}">
                <a16:creationId xmlns:a16="http://schemas.microsoft.com/office/drawing/2014/main" id="{8757AE1D-9559-43F7-B209-6E0372B0F359}"/>
              </a:ext>
            </a:extLst>
          </p:cNvPr>
          <p:cNvSpPr>
            <a:spLocks xmlns:a="http://schemas.openxmlformats.org/drawingml/2006/main" noGrp="1"/>
          </p:cNvSpPr>
          <p:nvPr/>
        </p:nvSpPr>
        <p:spPr>
          <a:xfrm xmlns:a="http://schemas.openxmlformats.org/drawingml/2006/main">
            <a:off x="914400" y="64770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rot="0" anchor="t"/>
          <a:lstStyle xmlns:a="http://schemas.openxmlformats.org/drawingml/2006/main"/>
          <a:p xmlns:a="http://schemas.openxmlformats.org/drawingml/2006/main">
            <a:pPr algn="l">
              <a:defRPr sz="975" b="1" i="0">
                <a:solidFill>
                  <a:srgbClr val="014A74"/>
                </a:solidFill>
              </a:defRPr>
            </a:pPr>
            <a:r>
              <a:rPr sz="975" b="1" i="0">
                <a:solidFill>
                  <a:srgbClr val="014A74"/>
                </a:solidFill>
              </a:rPr>
              <a:t>CREATED WITH AFK RESEARCH</a:t>
            </a:r>
          </a:p>
        </p:txBody>
      </p:sp>
    </p:spTree>
    <p:extLst>
      <p:ext uri="{BB962C8B-B14F-4D97-AF65-F5344CB8AC3E}">
        <p14:creationId xmlns:p14="http://schemas.microsoft.com/office/powerpoint/2010/main" val="1434255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2026-07-28T07:36:00.5880000Z</dcterms:created>
  <dcterms:modified xsi:type="dcterms:W3CDTF">2026-07-28T07:36:00.5880000Z</dcterms:modified>
</coreProperties>
</file>