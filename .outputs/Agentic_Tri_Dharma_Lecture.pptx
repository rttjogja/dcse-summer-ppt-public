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21d42ddbba4df7" /><Relationship Type="http://schemas.openxmlformats.org/officeDocument/2006/relationships/extended-properties" Target="/docProps/app.xml" Id="R242008429f3d4f80" /><Relationship Type="http://schemas.openxmlformats.org/officeDocument/2006/relationships/officeDocument" Target="/ppt/presentation.xml" Id="Rb12ed04b313c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cb9e05e2846bb"/>
  </p:sldMasterIdLst>
  <p:notesMasterIdLst>
    <p:notesMasterId xmlns:r="http://schemas.openxmlformats.org/officeDocument/2006/relationships" r:id="R4eee0d6c563546d1"/>
  </p:notesMasterIdLst>
  <p:sldIdLst>
    <p:sldId xmlns:r="http://schemas.openxmlformats.org/officeDocument/2006/relationships" id="256" r:id="R7949174baa1c481d"/>
    <p:sldId xmlns:r="http://schemas.openxmlformats.org/officeDocument/2006/relationships" id="257" r:id="R39b7ada68ac74a5d"/>
    <p:sldId xmlns:r="http://schemas.openxmlformats.org/officeDocument/2006/relationships" id="258" r:id="Rbf76735901e4449f"/>
    <p:sldId xmlns:r="http://schemas.openxmlformats.org/officeDocument/2006/relationships" id="259" r:id="R35d7702a0a93470f"/>
    <p:sldId xmlns:r="http://schemas.openxmlformats.org/officeDocument/2006/relationships" id="260" r:id="R885dcb7ff407496e"/>
    <p:sldId xmlns:r="http://schemas.openxmlformats.org/officeDocument/2006/relationships" id="261" r:id="R09d92e44d31b48af"/>
    <p:sldId xmlns:r="http://schemas.openxmlformats.org/officeDocument/2006/relationships" id="262" r:id="Rd3abb79756f94376"/>
    <p:sldId xmlns:r="http://schemas.openxmlformats.org/officeDocument/2006/relationships" id="263" r:id="R02d11fce3da6490e"/>
    <p:sldId xmlns:r="http://schemas.openxmlformats.org/officeDocument/2006/relationships" id="264" r:id="Rc37540dce5a8428a"/>
    <p:sldId xmlns:r="http://schemas.openxmlformats.org/officeDocument/2006/relationships" id="265" r:id="R96b18f2b61354b4c"/>
    <p:sldId xmlns:r="http://schemas.openxmlformats.org/officeDocument/2006/relationships" id="266" r:id="R4d55e2b1fba5423c"/>
    <p:sldId xmlns:r="http://schemas.openxmlformats.org/officeDocument/2006/relationships" id="267" r:id="R3011f12d91974eca"/>
    <p:sldId xmlns:r="http://schemas.openxmlformats.org/officeDocument/2006/relationships" id="268" r:id="R193c7792ae024d1d"/>
    <p:sldId xmlns:r="http://schemas.openxmlformats.org/officeDocument/2006/relationships" id="269" r:id="R42545341fefe4ea0"/>
    <p:sldId xmlns:r="http://schemas.openxmlformats.org/officeDocument/2006/relationships" id="270" r:id="R287c5b7bb86a4c9e"/>
    <p:sldId xmlns:r="http://schemas.openxmlformats.org/officeDocument/2006/relationships" id="271" r:id="R201822a164e04f3d"/>
    <p:sldId xmlns:r="http://schemas.openxmlformats.org/officeDocument/2006/relationships" id="272" r:id="R733bfc80211f4ada"/>
    <p:sldId xmlns:r="http://schemas.openxmlformats.org/officeDocument/2006/relationships" id="273" r:id="R781ac57af9bf4697"/>
    <p:sldId xmlns:r="http://schemas.openxmlformats.org/officeDocument/2006/relationships" id="274" r:id="R159cc6b0057e4e8c"/>
    <p:sldId xmlns:r="http://schemas.openxmlformats.org/officeDocument/2006/relationships" id="275" r:id="R558ba8f238bb4d48"/>
    <p:sldId xmlns:r="http://schemas.openxmlformats.org/officeDocument/2006/relationships" id="276" r:id="R9165ee36a8ab4208"/>
    <p:sldId xmlns:r="http://schemas.openxmlformats.org/officeDocument/2006/relationships" id="277" r:id="R4420e7abcfa84b19"/>
    <p:sldId xmlns:r="http://schemas.openxmlformats.org/officeDocument/2006/relationships" id="278" r:id="R1b1cefcf776440da"/>
    <p:sldId xmlns:r="http://schemas.openxmlformats.org/officeDocument/2006/relationships" id="279" r:id="R008f7f736bbc4a73"/>
    <p:sldId xmlns:r="http://schemas.openxmlformats.org/officeDocument/2006/relationships" id="280" r:id="Rf92e10895ee9462f"/>
    <p:sldId xmlns:r="http://schemas.openxmlformats.org/officeDocument/2006/relationships" id="281" r:id="Racf4b8d7446941cd"/>
    <p:sldId xmlns:r="http://schemas.openxmlformats.org/officeDocument/2006/relationships" id="282" r:id="R9162884374a84d14"/>
    <p:sldId xmlns:r="http://schemas.openxmlformats.org/officeDocument/2006/relationships" id="283" r:id="R4b5599f519f24c8d"/>
    <p:sldId xmlns:r="http://schemas.openxmlformats.org/officeDocument/2006/relationships" id="284" r:id="R0b39d9d5deae4c0e"/>
    <p:sldId xmlns:r="http://schemas.openxmlformats.org/officeDocument/2006/relationships" id="285" r:id="R290e533f57054dc9"/>
    <p:sldId xmlns:r="http://schemas.openxmlformats.org/officeDocument/2006/relationships" id="286" r:id="R44f98f0d0d684415"/>
    <p:sldId xmlns:r="http://schemas.openxmlformats.org/officeDocument/2006/relationships" id="287" r:id="R8024a733a5634808"/>
    <p:sldId xmlns:r="http://schemas.openxmlformats.org/officeDocument/2006/relationships" id="288" r:id="R04dae0191bf34c8c"/>
    <p:sldId xmlns:r="http://schemas.openxmlformats.org/officeDocument/2006/relationships" id="289" r:id="R4b88d4804dd34984"/>
    <p:sldId xmlns:r="http://schemas.openxmlformats.org/officeDocument/2006/relationships" id="290" r:id="R68c638c1470a40d5"/>
    <p:sldId xmlns:r="http://schemas.openxmlformats.org/officeDocument/2006/relationships" id="291" r:id="R70757bed69c14d38"/>
    <p:sldId xmlns:r="http://schemas.openxmlformats.org/officeDocument/2006/relationships" id="292" r:id="Rc12f120489b143b6"/>
    <p:sldId xmlns:r="http://schemas.openxmlformats.org/officeDocument/2006/relationships" id="293" r:id="Rfe932ca2bb0d41d2"/>
    <p:sldId xmlns:r="http://schemas.openxmlformats.org/officeDocument/2006/relationships" id="294" r:id="R2977e6c28df24cb6"/>
    <p:sldId xmlns:r="http://schemas.openxmlformats.org/officeDocument/2006/relationships" id="295" r:id="R5917b19c749d4a2d"/>
    <p:sldId xmlns:r="http://schemas.openxmlformats.org/officeDocument/2006/relationships" id="296" r:id="R640061f10bd647ca"/>
    <p:sldId xmlns:r="http://schemas.openxmlformats.org/officeDocument/2006/relationships" id="297" r:id="R6df8484cadf64e57"/>
    <p:sldId xmlns:r="http://schemas.openxmlformats.org/officeDocument/2006/relationships" id="298" r:id="R444e565594d54641"/>
    <p:sldId xmlns:r="http://schemas.openxmlformats.org/officeDocument/2006/relationships" id="299" r:id="R345c6b3e57b14323"/>
    <p:sldId xmlns:r="http://schemas.openxmlformats.org/officeDocument/2006/relationships" id="300" r:id="Rcf8f578c23e04460"/>
    <p:sldId xmlns:r="http://schemas.openxmlformats.org/officeDocument/2006/relationships" id="301" r:id="Rf234845e9fd64430"/>
    <p:sldId xmlns:r="http://schemas.openxmlformats.org/officeDocument/2006/relationships" id="302" r:id="R7562b79dd83e4a9a"/>
    <p:sldId xmlns:r="http://schemas.openxmlformats.org/officeDocument/2006/relationships" id="303" r:id="Rec281ca6c6c2490b"/>
    <p:sldId xmlns:r="http://schemas.openxmlformats.org/officeDocument/2006/relationships" id="304" r:id="Rf333602dd5ed4d8e"/>
    <p:sldId xmlns:r="http://schemas.openxmlformats.org/officeDocument/2006/relationships" id="305" r:id="Rcb85d77ecde948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6afe0cc6274c47" /><Relationship Type="http://schemas.openxmlformats.org/officeDocument/2006/relationships/slideMaster" Target="/ppt/slideMasters/slideMaster1.xml" Id="R171cb9e05e2846bb" /><Relationship Type="http://schemas.openxmlformats.org/officeDocument/2006/relationships/notesMaster" Target="/ppt/notesMasters/notesMaster1.xml" Id="R4eee0d6c563546d1" /><Relationship Type="http://schemas.openxmlformats.org/officeDocument/2006/relationships/presProps" Target="/ppt/presProps.xml" Id="R808260a7fde54273" /><Relationship Type="http://schemas.openxmlformats.org/officeDocument/2006/relationships/tableStyles" Target="/ppt/tableStyles.xml" Id="Rd327fc572d9a486c" /><Relationship Type="http://schemas.openxmlformats.org/officeDocument/2006/relationships/slide" Target="/ppt/slides/slide1.xml" Id="R7949174baa1c481d" /><Relationship Type="http://schemas.openxmlformats.org/officeDocument/2006/relationships/slide" Target="/ppt/slides/slide2.xml" Id="R39b7ada68ac74a5d" /><Relationship Type="http://schemas.openxmlformats.org/officeDocument/2006/relationships/slide" Target="/ppt/slides/slide3.xml" Id="Rbf76735901e4449f" /><Relationship Type="http://schemas.openxmlformats.org/officeDocument/2006/relationships/slide" Target="/ppt/slides/slide4.xml" Id="R35d7702a0a93470f" /><Relationship Type="http://schemas.openxmlformats.org/officeDocument/2006/relationships/slide" Target="/ppt/slides/slide5.xml" Id="R885dcb7ff407496e" /><Relationship Type="http://schemas.openxmlformats.org/officeDocument/2006/relationships/slide" Target="/ppt/slides/slide6.xml" Id="R09d92e44d31b48af" /><Relationship Type="http://schemas.openxmlformats.org/officeDocument/2006/relationships/slide" Target="/ppt/slides/slide7.xml" Id="Rd3abb79756f94376" /><Relationship Type="http://schemas.openxmlformats.org/officeDocument/2006/relationships/slide" Target="/ppt/slides/slide8.xml" Id="R02d11fce3da6490e" /><Relationship Type="http://schemas.openxmlformats.org/officeDocument/2006/relationships/slide" Target="/ppt/slides/slide9.xml" Id="Rc37540dce5a8428a" /><Relationship Type="http://schemas.openxmlformats.org/officeDocument/2006/relationships/slide" Target="/ppt/slides/slide10.xml" Id="R96b18f2b61354b4c" /><Relationship Type="http://schemas.openxmlformats.org/officeDocument/2006/relationships/slide" Target="/ppt/slides/slide11.xml" Id="R4d55e2b1fba5423c" /><Relationship Type="http://schemas.openxmlformats.org/officeDocument/2006/relationships/slide" Target="/ppt/slides/slide12.xml" Id="R3011f12d91974eca" /><Relationship Type="http://schemas.openxmlformats.org/officeDocument/2006/relationships/slide" Target="/ppt/slides/slide13.xml" Id="R193c7792ae024d1d" /><Relationship Type="http://schemas.openxmlformats.org/officeDocument/2006/relationships/slide" Target="/ppt/slides/slide14.xml" Id="R42545341fefe4ea0" /><Relationship Type="http://schemas.openxmlformats.org/officeDocument/2006/relationships/slide" Target="/ppt/slides/slide15.xml" Id="R287c5b7bb86a4c9e" /><Relationship Type="http://schemas.openxmlformats.org/officeDocument/2006/relationships/slide" Target="/ppt/slides/slide16.xml" Id="R201822a164e04f3d" /><Relationship Type="http://schemas.openxmlformats.org/officeDocument/2006/relationships/slide" Target="/ppt/slides/slide17.xml" Id="R733bfc80211f4ada" /><Relationship Type="http://schemas.openxmlformats.org/officeDocument/2006/relationships/slide" Target="/ppt/slides/slide18.xml" Id="R781ac57af9bf4697" /><Relationship Type="http://schemas.openxmlformats.org/officeDocument/2006/relationships/slide" Target="/ppt/slides/slide19.xml" Id="R159cc6b0057e4e8c" /><Relationship Type="http://schemas.openxmlformats.org/officeDocument/2006/relationships/slide" Target="/ppt/slides/slide20.xml" Id="R558ba8f238bb4d48" /><Relationship Type="http://schemas.openxmlformats.org/officeDocument/2006/relationships/slide" Target="/ppt/slides/slide21.xml" Id="R9165ee36a8ab4208" /><Relationship Type="http://schemas.openxmlformats.org/officeDocument/2006/relationships/slide" Target="/ppt/slides/slide22.xml" Id="R4420e7abcfa84b19" /><Relationship Type="http://schemas.openxmlformats.org/officeDocument/2006/relationships/slide" Target="/ppt/slides/slide23.xml" Id="R1b1cefcf776440da" /><Relationship Type="http://schemas.openxmlformats.org/officeDocument/2006/relationships/slide" Target="/ppt/slides/slide24.xml" Id="R008f7f736bbc4a73" /><Relationship Type="http://schemas.openxmlformats.org/officeDocument/2006/relationships/slide" Target="/ppt/slides/slide25.xml" Id="Rf92e10895ee9462f" /><Relationship Type="http://schemas.openxmlformats.org/officeDocument/2006/relationships/slide" Target="/ppt/slides/slide26.xml" Id="Racf4b8d7446941cd" /><Relationship Type="http://schemas.openxmlformats.org/officeDocument/2006/relationships/slide" Target="/ppt/slides/slide27.xml" Id="R9162884374a84d14" /><Relationship Type="http://schemas.openxmlformats.org/officeDocument/2006/relationships/slide" Target="/ppt/slides/slide28.xml" Id="R4b5599f519f24c8d" /><Relationship Type="http://schemas.openxmlformats.org/officeDocument/2006/relationships/slide" Target="/ppt/slides/slide29.xml" Id="R0b39d9d5deae4c0e" /><Relationship Type="http://schemas.openxmlformats.org/officeDocument/2006/relationships/slide" Target="/ppt/slides/slide30.xml" Id="R290e533f57054dc9" /><Relationship Type="http://schemas.openxmlformats.org/officeDocument/2006/relationships/slide" Target="/ppt/slides/slide31.xml" Id="R44f98f0d0d684415" /><Relationship Type="http://schemas.openxmlformats.org/officeDocument/2006/relationships/slide" Target="/ppt/slides/slide32.xml" Id="R8024a733a5634808" /><Relationship Type="http://schemas.openxmlformats.org/officeDocument/2006/relationships/slide" Target="/ppt/slides/slide33.xml" Id="R04dae0191bf34c8c" /><Relationship Type="http://schemas.openxmlformats.org/officeDocument/2006/relationships/slide" Target="/ppt/slides/slide34.xml" Id="R4b88d4804dd34984" /><Relationship Type="http://schemas.openxmlformats.org/officeDocument/2006/relationships/slide" Target="/ppt/slides/slide35.xml" Id="R68c638c1470a40d5" /><Relationship Type="http://schemas.openxmlformats.org/officeDocument/2006/relationships/slide" Target="/ppt/slides/slide36.xml" Id="R70757bed69c14d38" /><Relationship Type="http://schemas.openxmlformats.org/officeDocument/2006/relationships/slide" Target="/ppt/slides/slide37.xml" Id="Rc12f120489b143b6" /><Relationship Type="http://schemas.openxmlformats.org/officeDocument/2006/relationships/slide" Target="/ppt/slides/slide38.xml" Id="Rfe932ca2bb0d41d2" /><Relationship Type="http://schemas.openxmlformats.org/officeDocument/2006/relationships/slide" Target="/ppt/slides/slide39.xml" Id="R2977e6c28df24cb6" /><Relationship Type="http://schemas.openxmlformats.org/officeDocument/2006/relationships/slide" Target="/ppt/slides/slide40.xml" Id="R5917b19c749d4a2d" /><Relationship Type="http://schemas.openxmlformats.org/officeDocument/2006/relationships/slide" Target="/ppt/slides/slide41.xml" Id="R640061f10bd647ca" /><Relationship Type="http://schemas.openxmlformats.org/officeDocument/2006/relationships/slide" Target="/ppt/slides/slide42.xml" Id="R6df8484cadf64e57" /><Relationship Type="http://schemas.openxmlformats.org/officeDocument/2006/relationships/slide" Target="/ppt/slides/slide43.xml" Id="R444e565594d54641" /><Relationship Type="http://schemas.openxmlformats.org/officeDocument/2006/relationships/slide" Target="/ppt/slides/slide44.xml" Id="R345c6b3e57b14323" /><Relationship Type="http://schemas.openxmlformats.org/officeDocument/2006/relationships/slide" Target="/ppt/slides/slide45.xml" Id="Rcf8f578c23e04460" /><Relationship Type="http://schemas.openxmlformats.org/officeDocument/2006/relationships/slide" Target="/ppt/slides/slide46.xml" Id="Rf234845e9fd64430" /><Relationship Type="http://schemas.openxmlformats.org/officeDocument/2006/relationships/slide" Target="/ppt/slides/slide47.xml" Id="R7562b79dd83e4a9a" /><Relationship Type="http://schemas.openxmlformats.org/officeDocument/2006/relationships/slide" Target="/ppt/slides/slide48.xml" Id="Rec281ca6c6c2490b" /><Relationship Type="http://schemas.openxmlformats.org/officeDocument/2006/relationships/slide" Target="/ppt/slides/slide49.xml" Id="Rf333602dd5ed4d8e" /><Relationship Type="http://schemas.openxmlformats.org/officeDocument/2006/relationships/slide" Target="/ppt/slides/slide50.xml" Id="Rcb85d77ecde948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836d06571146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c56d88a1d47b8" /><Relationship Type="http://schemas.openxmlformats.org/officeDocument/2006/relationships/notesMaster" Target="/ppt/notesMasters/notesMaster1.xml" Id="R8ee3e11016e349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85fab18e52430f" /><Relationship Type="http://schemas.openxmlformats.org/officeDocument/2006/relationships/notesMaster" Target="/ppt/notesMasters/notesMaster1.xml" Id="Rcda91c8d51f34f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0ac8ff1f534222" /><Relationship Type="http://schemas.openxmlformats.org/officeDocument/2006/relationships/notesMaster" Target="/ppt/notesMasters/notesMaster1.xml" Id="R0fcc6af179cb49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86d84cd8fe4cc3" /><Relationship Type="http://schemas.openxmlformats.org/officeDocument/2006/relationships/notesMaster" Target="/ppt/notesMasters/notesMaster1.xml" Id="Raf88d50c73f946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47e60922004710" /><Relationship Type="http://schemas.openxmlformats.org/officeDocument/2006/relationships/notesMaster" Target="/ppt/notesMasters/notesMaster1.xml" Id="R34931bd4abf949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46ba34e2804728" /><Relationship Type="http://schemas.openxmlformats.org/officeDocument/2006/relationships/notesMaster" Target="/ppt/notesMasters/notesMaster1.xml" Id="R07b87ec745ad43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ceaf27271b4ec2" /><Relationship Type="http://schemas.openxmlformats.org/officeDocument/2006/relationships/notesMaster" Target="/ppt/notesMasters/notesMaster1.xml" Id="R97765a820dac46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872eff8e1c42eb" /><Relationship Type="http://schemas.openxmlformats.org/officeDocument/2006/relationships/notesMaster" Target="/ppt/notesMasters/notesMaster1.xml" Id="R2e59e55980a640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4243c671da4ba7" /><Relationship Type="http://schemas.openxmlformats.org/officeDocument/2006/relationships/notesMaster" Target="/ppt/notesMasters/notesMaster1.xml" Id="Rfe58c1843cda4c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53a03d3ccb4fad" /><Relationship Type="http://schemas.openxmlformats.org/officeDocument/2006/relationships/notesMaster" Target="/ppt/notesMasters/notesMaster1.xml" Id="R9904bc0cb4f541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a2346c62af4c18" /><Relationship Type="http://schemas.openxmlformats.org/officeDocument/2006/relationships/notesMaster" Target="/ppt/notesMasters/notesMaster1.xml" Id="R1cc4adb8e47045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86c562e7d14314" /><Relationship Type="http://schemas.openxmlformats.org/officeDocument/2006/relationships/notesMaster" Target="/ppt/notesMasters/notesMaster1.xml" Id="R036baeacd8944f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92350cf48049b2" /><Relationship Type="http://schemas.openxmlformats.org/officeDocument/2006/relationships/notesMaster" Target="/ppt/notesMasters/notesMaster1.xml" Id="Ra62e3a39866b46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d36325c24a4c22" /><Relationship Type="http://schemas.openxmlformats.org/officeDocument/2006/relationships/notesMaster" Target="/ppt/notesMasters/notesMaster1.xml" Id="R032f28599f724e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39658ca73446ef" /><Relationship Type="http://schemas.openxmlformats.org/officeDocument/2006/relationships/notesMaster" Target="/ppt/notesMasters/notesMaster1.xml" Id="Rca5729486eeb4d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35ef74620c483a" /><Relationship Type="http://schemas.openxmlformats.org/officeDocument/2006/relationships/notesMaster" Target="/ppt/notesMasters/notesMaster1.xml" Id="Rc39e578ffa7848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21bae1b0ef4fe4" /><Relationship Type="http://schemas.openxmlformats.org/officeDocument/2006/relationships/notesMaster" Target="/ppt/notesMasters/notesMaster1.xml" Id="R4bbc80e43c7545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1dc2b163d44b63" /><Relationship Type="http://schemas.openxmlformats.org/officeDocument/2006/relationships/notesMaster" Target="/ppt/notesMasters/notesMaster1.xml" Id="R28913cc710ae42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1354f636164e04" /><Relationship Type="http://schemas.openxmlformats.org/officeDocument/2006/relationships/notesMaster" Target="/ppt/notesMasters/notesMaster1.xml" Id="Rbc5882b4d93a4a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c7ad9d791c4c45" /><Relationship Type="http://schemas.openxmlformats.org/officeDocument/2006/relationships/notesMaster" Target="/ppt/notesMasters/notesMaster1.xml" Id="R07066a87697949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83650416e84308" /><Relationship Type="http://schemas.openxmlformats.org/officeDocument/2006/relationships/notesMaster" Target="/ppt/notesMasters/notesMaster1.xml" Id="R1749ffbf035f43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7e9c88700a4deb" /><Relationship Type="http://schemas.openxmlformats.org/officeDocument/2006/relationships/notesMaster" Target="/ppt/notesMasters/notesMaster1.xml" Id="R4e8cb6696a1044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2e7e960f2ce4984" /><Relationship Type="http://schemas.openxmlformats.org/officeDocument/2006/relationships/notesMaster" Target="/ppt/notesMasters/notesMaster1.xml" Id="Rc3f592692a004ab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274fae69354a68" /><Relationship Type="http://schemas.openxmlformats.org/officeDocument/2006/relationships/notesMaster" Target="/ppt/notesMasters/notesMaster1.xml" Id="R60f025d4e48040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33a014f88164471" /><Relationship Type="http://schemas.openxmlformats.org/officeDocument/2006/relationships/notesMaster" Target="/ppt/notesMasters/notesMaster1.xml" Id="R598ec54216dd44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d5f02b9cfd64725" /><Relationship Type="http://schemas.openxmlformats.org/officeDocument/2006/relationships/notesMaster" Target="/ppt/notesMasters/notesMaster1.xml" Id="Rd493d025adc4451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81f555b95dc4223" /><Relationship Type="http://schemas.openxmlformats.org/officeDocument/2006/relationships/notesMaster" Target="/ppt/notesMasters/notesMaster1.xml" Id="R6aaac5eb3c2e41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f58d1e6144d44ce" /><Relationship Type="http://schemas.openxmlformats.org/officeDocument/2006/relationships/notesMaster" Target="/ppt/notesMasters/notesMaster1.xml" Id="R166ddd4fceb34a4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a4571da68054c70" /><Relationship Type="http://schemas.openxmlformats.org/officeDocument/2006/relationships/notesMaster" Target="/ppt/notesMasters/notesMaster1.xml" Id="R1d6cd09a32fe4c1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ac5c7e4393647b0" /><Relationship Type="http://schemas.openxmlformats.org/officeDocument/2006/relationships/notesMaster" Target="/ppt/notesMasters/notesMaster1.xml" Id="R5303504f9c63439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0027c3f75ee4952" /><Relationship Type="http://schemas.openxmlformats.org/officeDocument/2006/relationships/notesMaster" Target="/ppt/notesMasters/notesMaster1.xml" Id="R2ffde5db1324485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fb47db6c30b4abb" /><Relationship Type="http://schemas.openxmlformats.org/officeDocument/2006/relationships/notesMaster" Target="/ppt/notesMasters/notesMaster1.xml" Id="Rdb10eba332d7409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ba2fc9be4124711" /><Relationship Type="http://schemas.openxmlformats.org/officeDocument/2006/relationships/notesMaster" Target="/ppt/notesMasters/notesMaster1.xml" Id="Rc9f9af832e2a44c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a01cdcd3db748bb" /><Relationship Type="http://schemas.openxmlformats.org/officeDocument/2006/relationships/notesMaster" Target="/ppt/notesMasters/notesMaster1.xml" Id="R5ea0d07455ff417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46103ed76094ab9" /><Relationship Type="http://schemas.openxmlformats.org/officeDocument/2006/relationships/notesMaster" Target="/ppt/notesMasters/notesMaster1.xml" Id="Re87b7ec20204494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6ef3a00d9ee4bc2" /><Relationship Type="http://schemas.openxmlformats.org/officeDocument/2006/relationships/notesMaster" Target="/ppt/notesMasters/notesMaster1.xml" Id="Ra53a95a733ee466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1526ec01bda4d14" /><Relationship Type="http://schemas.openxmlformats.org/officeDocument/2006/relationships/notesMaster" Target="/ppt/notesMasters/notesMaster1.xml" Id="R35c8b8b5adff453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a67f4895e524466" /><Relationship Type="http://schemas.openxmlformats.org/officeDocument/2006/relationships/notesMaster" Target="/ppt/notesMasters/notesMaster1.xml" Id="R432c1d1ac871414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2ebfc8a582b44e6" /><Relationship Type="http://schemas.openxmlformats.org/officeDocument/2006/relationships/notesMaster" Target="/ppt/notesMasters/notesMaster1.xml" Id="R8289685bb62a48e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907924b628e4822" /><Relationship Type="http://schemas.openxmlformats.org/officeDocument/2006/relationships/notesMaster" Target="/ppt/notesMasters/notesMaster1.xml" Id="Rde8dbaa58bd1445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cb6e1b76f1f4895" /><Relationship Type="http://schemas.openxmlformats.org/officeDocument/2006/relationships/notesMaster" Target="/ppt/notesMasters/notesMaster1.xml" Id="R91a067510ece480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b19c9a2d3414226" /><Relationship Type="http://schemas.openxmlformats.org/officeDocument/2006/relationships/notesMaster" Target="/ppt/notesMasters/notesMaster1.xml" Id="Reb9afb37b5e44a4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c96c4bc3ca04dd8" /><Relationship Type="http://schemas.openxmlformats.org/officeDocument/2006/relationships/notesMaster" Target="/ppt/notesMasters/notesMaster1.xml" Id="R32f2f44d1b5e42a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f1f403c8b5f4299" /><Relationship Type="http://schemas.openxmlformats.org/officeDocument/2006/relationships/notesMaster" Target="/ppt/notesMasters/notesMaster1.xml" Id="Rfe2cd42a565b46f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241b3edc91d403f" /><Relationship Type="http://schemas.openxmlformats.org/officeDocument/2006/relationships/notesMaster" Target="/ppt/notesMasters/notesMaster1.xml" Id="R06affcac8fa5492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84f9d4cbef1478c" /><Relationship Type="http://schemas.openxmlformats.org/officeDocument/2006/relationships/notesMaster" Target="/ppt/notesMasters/notesMaster1.xml" Id="R92033327139a48f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812274b5c6d4921" /><Relationship Type="http://schemas.openxmlformats.org/officeDocument/2006/relationships/notesMaster" Target="/ppt/notesMasters/notesMaster1.xml" Id="Ra1526b197ce4484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e68a61a5a4e4626" /><Relationship Type="http://schemas.openxmlformats.org/officeDocument/2006/relationships/notesMaster" Target="/ppt/notesMasters/notesMaster1.xml" Id="Rd977236f2dfc412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5113acb8d9e4b44" /><Relationship Type="http://schemas.openxmlformats.org/officeDocument/2006/relationships/notesMaster" Target="/ppt/notesMasters/notesMaster1.xml" Id="Rafdf8fda04e0491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df76a893f184fea" /><Relationship Type="http://schemas.openxmlformats.org/officeDocument/2006/relationships/notesMaster" Target="/ppt/notesMasters/notesMaster1.xml" Id="R319ee7f167324a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the lecture as a bridge from foundations to implementation. The central claim is that useful academic agents are governed systems, not merely smarter chat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https://peraturan.bpk.go.id/Details/%2039063/uu-no-12-tahun-2012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not a product pitch. It is a conceptual and practical lecture that ends with a concrete implementation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legal and institutional frame only to establish the three obligations. The rest of the lecture asks how one academic workspace can support them without collapsing their distinct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https://peraturan.bpk.go.id/Details/%2039063/uu-no-12-tahun-2012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Files, sources, deadlines, design choices, feedback, and publication decisions are distributed across tools—and across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agentic workspace gives work a durable home, bounded tools, repeatable workflows, and a visible review trail.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What changes when a language model becomes part of a working system?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distinctions functional. An LLM is a model. An agent is a system built around a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fluent generation and factual grounding are separate design problems. This is why external tools and evidence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stronger prompt improves a single interaction. Persistent project memory and workflows improve continuity across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  <a:p xmlns:a="http://schemas.openxmlformats.org/drawingml/2006/main">
            <a:r>
              <a:t>- https://arxiv.org/abs/2302.04761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loop is the central mental model for the lecture. Agent quality depends on every part of the loop, not only on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rises as tools move from reading to creating to changing external state. Permissions and approval gates must rise with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https://arxiv.org/abs/2304.03442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Planning, acting, remembering, reflecting, and governing the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ReAct paper shows the value of interleaving reasoning traces and actions. In deployed systems, internal reasoning need not be exposed; the important operational pattern is plan–act–observe–revise.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https://arxiv.org/abs/2304.03442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improves access to explicit knowledge and provenance. It does not make every retrieved source correct, relevant, or current; retrieval quality remains part of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https://arxiv.org/abs/2304.03442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More agents do not automatically mean better results. Start with the smallest orchestration that makes the workflow observable and testable.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division of labor is explicit: preparation may be delegated; accountability is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model benchmark is not an evaluation of an academic workflow. Test the artifact, the process, and the governance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Map one agentic workspace to the distinct responsibilities of Tri Dharma.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workflow hypothesis, not a proven one-click MVP capability. The important word is reviewed: reuse should preserve provenance and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Build the workspace carefully—and separate the MVP from the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Anchor this slide to snapshot commit 6c76a25. The deck distinguishes repository evidence from the broader product narrative.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command as a safety workflow, not as a magic incantation. Preview, verify, choose features, then apply.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concrete example of human ownership in the MVP: the setup does not silently overwrite project-authored edits.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[private-local-root]/dcse-summer-ppt/.brain/wiki/concepts/managed-file-reconciliation.md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adoption principle is deliberately conservative: prove a bounded workflow before increasing autonomy or connecting external write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participants to use the speaker-note source blocks throughout the deck for precise links. The AFK Research evidence is private and must not be published without explicit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https://peraturan.bpk.go.id/Details/%2039063/uu-no-12-tahun-2012</a:t>
            </a:r>
          </a:p>
          <a:p xmlns:a="http://schemas.openxmlformats.org/drawingml/2006/main">
            <a:r>
              <a:t>- https://arxiv.org/abs/2210.03629</a:t>
            </a:r>
          </a:p>
          <a:p xmlns:a="http://schemas.openxmlformats.org/drawingml/2006/main">
            <a:r>
              <a:t>- https://arxiv.org/abs/2302.04761</a:t>
            </a:r>
          </a:p>
          <a:p xmlns:a="http://schemas.openxmlformats.org/drawingml/2006/main">
            <a:r>
              <a:t>- https://arxiv.org/abs/2304.03442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tension. The goal is not autonomous academia. The goal is continuity, leverage, and visible evidence while the lecturer retains accountable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5783635284e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d4b09cba0e433b" /><Relationship Type="http://schemas.openxmlformats.org/officeDocument/2006/relationships/slideLayout" Target="/ppt/slideLayouts/slideLayout1.xml" Id="R82e02f7134ee47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e02f7134ee47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6c95124f045de" /><Relationship Type="http://schemas.openxmlformats.org/officeDocument/2006/relationships/notesSlide" Target="/ppt/notesSlides/notesSlide1.xml" Id="R4656a7c254f347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9f35ef43f419d" /><Relationship Type="http://schemas.openxmlformats.org/officeDocument/2006/relationships/notesSlide" Target="/ppt/notesSlides/notesSlide2.xml" Id="R69ece7230d5c40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0dcae2b034fda" /><Relationship Type="http://schemas.openxmlformats.org/officeDocument/2006/relationships/notesSlide" Target="/ppt/notesSlides/notesSlide3.xml" Id="R779ea2a257e04f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b635b383648c5" /><Relationship Type="http://schemas.openxmlformats.org/officeDocument/2006/relationships/notesSlide" Target="/ppt/notesSlides/notesSlide4.xml" Id="R41e6ea7056dd41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9906fb7a64240" /><Relationship Type="http://schemas.openxmlformats.org/officeDocument/2006/relationships/notesSlide" Target="/ppt/notesSlides/notesSlide5.xml" Id="R939a012c7edf41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1eea280f94fea" /><Relationship Type="http://schemas.openxmlformats.org/officeDocument/2006/relationships/notesSlide" Target="/ppt/notesSlides/notesSlide6.xml" Id="Re654729a162443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cbffc8f6542bb" /><Relationship Type="http://schemas.openxmlformats.org/officeDocument/2006/relationships/notesSlide" Target="/ppt/notesSlides/notesSlide7.xml" Id="Rbbb1731cc95c43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73a8b88d24715" /><Relationship Type="http://schemas.openxmlformats.org/officeDocument/2006/relationships/notesSlide" Target="/ppt/notesSlides/notesSlide8.xml" Id="Rb3d452b935764f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42a3b5dc74928" /><Relationship Type="http://schemas.openxmlformats.org/officeDocument/2006/relationships/notesSlide" Target="/ppt/notesSlides/notesSlide9.xml" Id="Rbdd29ea6668341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a63e251de434a" /><Relationship Type="http://schemas.openxmlformats.org/officeDocument/2006/relationships/notesSlide" Target="/ppt/notesSlides/notesSlide10.xml" Id="R442db21f936f46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24ce5405c42f4" /><Relationship Type="http://schemas.openxmlformats.org/officeDocument/2006/relationships/notesSlide" Target="/ppt/notesSlides/notesSlide11.xml" Id="Rdceab666eed446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e8d31714c4088" /><Relationship Type="http://schemas.openxmlformats.org/officeDocument/2006/relationships/notesSlide" Target="/ppt/notesSlides/notesSlide12.xml" Id="R6adb4cb3026c4a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2cc76db89483b" /><Relationship Type="http://schemas.openxmlformats.org/officeDocument/2006/relationships/notesSlide" Target="/ppt/notesSlides/notesSlide13.xml" Id="R089c6306b6e440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417be99f94f5f" /><Relationship Type="http://schemas.openxmlformats.org/officeDocument/2006/relationships/notesSlide" Target="/ppt/notesSlides/notesSlide14.xml" Id="R6ad14550505e4e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6b33ea1f647ba" /><Relationship Type="http://schemas.openxmlformats.org/officeDocument/2006/relationships/notesSlide" Target="/ppt/notesSlides/notesSlide15.xml" Id="Rc16a665ed6704c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74427c77a4b2e" /><Relationship Type="http://schemas.openxmlformats.org/officeDocument/2006/relationships/notesSlide" Target="/ppt/notesSlides/notesSlide16.xml" Id="R17a0d59699a049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e314a2487487b" /><Relationship Type="http://schemas.openxmlformats.org/officeDocument/2006/relationships/notesSlide" Target="/ppt/notesSlides/notesSlide17.xml" Id="R608ef061d7df4b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68740c18f4faf" /><Relationship Type="http://schemas.openxmlformats.org/officeDocument/2006/relationships/notesSlide" Target="/ppt/notesSlides/notesSlide18.xml" Id="Rf6ea3ee111954b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18b68e25d4cc8" /><Relationship Type="http://schemas.openxmlformats.org/officeDocument/2006/relationships/notesSlide" Target="/ppt/notesSlides/notesSlide19.xml" Id="Rec77bcdf029f4e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2d70b48ee4cf7" /><Relationship Type="http://schemas.openxmlformats.org/officeDocument/2006/relationships/notesSlide" Target="/ppt/notesSlides/notesSlide20.xml" Id="R8748a6d9f50c4b7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0e8d0405b4519" /><Relationship Type="http://schemas.openxmlformats.org/officeDocument/2006/relationships/notesSlide" Target="/ppt/notesSlides/notesSlide21.xml" Id="R679b0ebc50414c4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79a062cba4f13" /><Relationship Type="http://schemas.openxmlformats.org/officeDocument/2006/relationships/notesSlide" Target="/ppt/notesSlides/notesSlide22.xml" Id="R128b77eaac7847b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2467441434904" /><Relationship Type="http://schemas.openxmlformats.org/officeDocument/2006/relationships/notesSlide" Target="/ppt/notesSlides/notesSlide23.xml" Id="R52fe7011646c4b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5e6ec793641e2" /><Relationship Type="http://schemas.openxmlformats.org/officeDocument/2006/relationships/notesSlide" Target="/ppt/notesSlides/notesSlide24.xml" Id="R4bb6001d1f004bb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6a6157da94c3f" /><Relationship Type="http://schemas.openxmlformats.org/officeDocument/2006/relationships/notesSlide" Target="/ppt/notesSlides/notesSlide25.xml" Id="R689f2c507ff54e9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93ac9db4e43a3" /><Relationship Type="http://schemas.openxmlformats.org/officeDocument/2006/relationships/notesSlide" Target="/ppt/notesSlides/notesSlide26.xml" Id="R71b03d87adc543c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0f545dd51494f" /><Relationship Type="http://schemas.openxmlformats.org/officeDocument/2006/relationships/notesSlide" Target="/ppt/notesSlides/notesSlide27.xml" Id="Reb0829896ead436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ca396bdc741b2" /><Relationship Type="http://schemas.openxmlformats.org/officeDocument/2006/relationships/notesSlide" Target="/ppt/notesSlides/notesSlide28.xml" Id="R5bbf57f94f904fa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bd017411d4d79" /><Relationship Type="http://schemas.openxmlformats.org/officeDocument/2006/relationships/notesSlide" Target="/ppt/notesSlides/notesSlide29.xml" Id="Rec7898d98f3842f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e36caaaac45bd" /><Relationship Type="http://schemas.openxmlformats.org/officeDocument/2006/relationships/notesSlide" Target="/ppt/notesSlides/notesSlide30.xml" Id="R050fc75c61b34d5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e6747ee914348" /><Relationship Type="http://schemas.openxmlformats.org/officeDocument/2006/relationships/notesSlide" Target="/ppt/notesSlides/notesSlide31.xml" Id="R1fd3f2891023420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ace066a32400e" /><Relationship Type="http://schemas.openxmlformats.org/officeDocument/2006/relationships/notesSlide" Target="/ppt/notesSlides/notesSlide32.xml" Id="Ra149dc692088481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f973c25074beb" /><Relationship Type="http://schemas.openxmlformats.org/officeDocument/2006/relationships/notesSlide" Target="/ppt/notesSlides/notesSlide33.xml" Id="R1c1f286e8df84ae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0e119020b4d45" /><Relationship Type="http://schemas.openxmlformats.org/officeDocument/2006/relationships/notesSlide" Target="/ppt/notesSlides/notesSlide34.xml" Id="R19ae31dbbf4240e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712c479e943c9" /><Relationship Type="http://schemas.openxmlformats.org/officeDocument/2006/relationships/notesSlide" Target="/ppt/notesSlides/notesSlide35.xml" Id="R45bda02fe8a8474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c965b728943ef" /><Relationship Type="http://schemas.openxmlformats.org/officeDocument/2006/relationships/notesSlide" Target="/ppt/notesSlides/notesSlide36.xml" Id="R353403270b4b4ca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6215d7fcb4359" /><Relationship Type="http://schemas.openxmlformats.org/officeDocument/2006/relationships/notesSlide" Target="/ppt/notesSlides/notesSlide37.xml" Id="R5db6f04ecd6b4f3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e39a1d4de46a7" /><Relationship Type="http://schemas.openxmlformats.org/officeDocument/2006/relationships/notesSlide" Target="/ppt/notesSlides/notesSlide38.xml" Id="R68f4e8c177e148e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ca513b85144dd" /><Relationship Type="http://schemas.openxmlformats.org/officeDocument/2006/relationships/notesSlide" Target="/ppt/notesSlides/notesSlide39.xml" Id="R2c38b913b2e7419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f3d2eda4d452d" /><Relationship Type="http://schemas.openxmlformats.org/officeDocument/2006/relationships/notesSlide" Target="/ppt/notesSlides/notesSlide40.xml" Id="R88dbec8bd25b4c3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6bf130b634408" /><Relationship Type="http://schemas.openxmlformats.org/officeDocument/2006/relationships/notesSlide" Target="/ppt/notesSlides/notesSlide41.xml" Id="Rf12ce3b8b51a4b3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30d316dc44de9" /><Relationship Type="http://schemas.openxmlformats.org/officeDocument/2006/relationships/notesSlide" Target="/ppt/notesSlides/notesSlide42.xml" Id="Rc60df137d82d4d3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e0ba4fe30421d" /><Relationship Type="http://schemas.openxmlformats.org/officeDocument/2006/relationships/notesSlide" Target="/ppt/notesSlides/notesSlide43.xml" Id="R7a0b266770d34cf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05febfeab4ea8" /><Relationship Type="http://schemas.openxmlformats.org/officeDocument/2006/relationships/notesSlide" Target="/ppt/notesSlides/notesSlide44.xml" Id="R4d4e62fd22aa47a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b38efe25f4a9e" /><Relationship Type="http://schemas.openxmlformats.org/officeDocument/2006/relationships/notesSlide" Target="/ppt/notesSlides/notesSlide45.xml" Id="R5026fe099dab4a3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7fa68550f4c57" /><Relationship Type="http://schemas.openxmlformats.org/officeDocument/2006/relationships/notesSlide" Target="/ppt/notesSlides/notesSlide46.xml" Id="Ra892cac7040741d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dce56d1704fcc" /><Relationship Type="http://schemas.openxmlformats.org/officeDocument/2006/relationships/notesSlide" Target="/ppt/notesSlides/notesSlide47.xml" Id="R576e8ee1a8ee408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894d555084879" /><Relationship Type="http://schemas.openxmlformats.org/officeDocument/2006/relationships/notesSlide" Target="/ppt/notesSlides/notesSlide48.xml" Id="R7326e0376905471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0f44f22ed4d62" /><Relationship Type="http://schemas.openxmlformats.org/officeDocument/2006/relationships/notesSlide" Target="/ppt/notesSlides/notesSlide49.xml" Id="Rf35f9958ddcb4e2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2032ecaf34278" /><Relationship Type="http://schemas.openxmlformats.org/officeDocument/2006/relationships/notesSlide" Target="/ppt/notesSlides/notesSlide50.xml" Id="R3d14445fc25142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CE6A0-0CB9-4723-894E-ED746DAD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0630F-0C4E-4174-9D2D-AEFAB7D3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0DD6F-9C5F-4C5E-BD06-A9A77B59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31272-6916-4106-89B8-96B7801C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192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5175" b="1" i="0">
                <a:solidFill>
                  <a:srgbClr val="FFFFFF"/>
                </a:solidFill>
              </a:defRPr>
            </a:pPr>
            <a:r>
              <a:rPr sz="5175" b="1" i="0">
                <a:solidFill>
                  <a:srgbClr val="FFFFFF"/>
                </a:solidFill>
              </a:rPr>
              <a:t>EMPOWERING THE TRI DHARMA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EFF6A-B558-4B9E-9152-F59915D4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33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0F92A-5CC4-4866-8AC0-609A4B5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C000"/>
                </a:solidFill>
              </a:defRPr>
            </a:pPr>
            <a:r>
              <a:rPr sz="2100" b="1" i="0">
                <a:solidFill>
                  <a:srgbClr val="FFC000"/>
                </a:solidFill>
              </a:rPr>
              <a:t>AI agents—from foundations and theory to a governed academic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A3D69-DEAE-44EA-9347-C9D32D4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0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5DC"/>
                </a:solidFill>
              </a:defRPr>
            </a:pPr>
            <a:r>
              <a:rPr sz="1350" b="0" i="0">
                <a:solidFill>
                  <a:srgbClr val="C8D5DC"/>
                </a:solidFill>
              </a:rPr>
              <a:t>DCSE Summer Lecture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5B678-A9E3-404B-A449-A6E18176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9613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2">
            <a:extLst xmlns:a="http://schemas.openxmlformats.org/drawingml/2006/main">
              <a:ext uri="{FF2B5EF4-FFF2-40B4-BE49-F238E27FC236}">
                <a16:creationId xmlns:a16="http://schemas.microsoft.com/office/drawing/2014/main" id="{5ECD3B85-9C5F-4273-96E2-7CBEB579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99133-0237-4584-A3D7-BFCCED71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49D11-92A8-442A-A98F-D4349DFC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11BC3-E0F6-4535-9B6C-B65FBEFD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29AC7-8433-489D-9288-FC87A271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C1261-854C-4667-B861-7ADCC69A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B619E-31C9-4582-8532-62D317F2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108D6-863C-475F-B0BF-B6530236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">
            <a:extLst xmlns:a="http://schemas.openxmlformats.org/drawingml/2006/main">
              <a:ext uri="{FF2B5EF4-FFF2-40B4-BE49-F238E27FC236}">
                <a16:creationId xmlns:a16="http://schemas.microsoft.com/office/drawing/2014/main" id="{048738DD-1199-4057-90DC-E6C4BB7A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2C8EE0-2EF8-46F4-A0A6-56A74C93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Three outcomes for this lecture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D4F73-7409-4478-8CEA-F1E3E312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7C5A5-F8EF-43E4-8265-BD691BE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58A84-45BE-4C86-A7DA-2C00CE30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DECCD-C548-485F-864F-DC9A043C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Distinguish a language model, an assistant, and an agentic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A732B-6B54-4081-A6C4-D2578C4E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86FA7-03E8-4AB7-9881-F9A4BC72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C1C1D-AF09-4DDF-A4EF-8E1267E1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Connect planning, tools, memory, evidence, and human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3B6AC-32B4-45B4-AB7C-88C2935B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IMPLEMENT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6DC7D-EAAB-4EF4-AF74-CDD826A2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21467-9144-46D5-9602-E055122B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Prototype a repository-based workflow across Tri Dharma.</a:t>
            </a:r>
          </a:p>
        </p:txBody>
      </p:sp>
    </p:spTree>
    <p:extLst>
      <p:ext uri="{BB962C8B-B14F-4D97-AF65-F5344CB8AC3E}">
        <p14:creationId xmlns:p14="http://schemas.microsoft.com/office/powerpoint/2010/main" val="1954733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3">
            <a:extLst xmlns:a="http://schemas.openxmlformats.org/drawingml/2006/main">
              <a:ext uri="{FF2B5EF4-FFF2-40B4-BE49-F238E27FC236}">
                <a16:creationId xmlns:a16="http://schemas.microsoft.com/office/drawing/2014/main" id="{783F1E78-757A-41C6-98A4-3BF1184F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93019-DCCE-43BD-A4BD-9A13467D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300C1-04E9-4958-A5E5-2824D420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A961A-B365-4CE5-9B20-890AA321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DED2E-1449-42D0-A8F5-5F406B75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19BC5-0E89-4E03-BD77-4862413A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3B0F5-A434-4331-ABED-A5D940FC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8016A-520E-4119-A875-96C5D57C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">
            <a:extLst xmlns:a="http://schemas.openxmlformats.org/drawingml/2006/main">
              <a:ext uri="{FF2B5EF4-FFF2-40B4-BE49-F238E27FC236}">
                <a16:creationId xmlns:a16="http://schemas.microsoft.com/office/drawing/2014/main" id="{600DB88F-1731-4B75-A00F-97D875CD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DD8CA1-DF98-491D-BCBC-DB469E2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Tri Dharma is one connected mandate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6BE97-9C4A-4F50-B279-AB59E448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F8D9C-6B27-4180-98A4-D45CA88F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00D16-47EF-4B39-AE43-A50E1E1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E939A-FAE2-4653-AD97-019EA6B0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Produce, validate, preserve, and communicate knowledge.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31826-7D37-4C4A-95B5-AC8CB6AD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EDUCATION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B03FE-36DE-4C63-B684-C173A2BC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90C37-2A99-4822-81DC-8B8DE0AA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Design learning, assessment, feedback, and scholarly teaching.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8AE82-A3E8-41D6-8AAA-E24998BF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COMMUNITY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6C22F-2AF5-48C9-B159-ADD7F10D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1DC34-6A70-4897-82E3-DD71515F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Translate expertise into public value with local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6710110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etadata-rail-4">
            <a:extLst xmlns:a="http://schemas.openxmlformats.org/drawingml/2006/main">
              <a:ext uri="{FF2B5EF4-FFF2-40B4-BE49-F238E27FC236}">
                <a16:creationId xmlns:a16="http://schemas.microsoft.com/office/drawing/2014/main" id="{135A35B1-B66F-4F17-B1DD-AA6174EF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CD964-A208-4837-A05B-0C013665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E401D-6FBE-482D-A6BC-7C0E3908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AD7A0-68B7-44DD-9D61-BE9B398E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AED44-CB30-47A1-BB5E-DA272B3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CA9A1-EFAC-4840-921C-017626E7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6F4D0-2F84-4D25-A365-D7BB5CBB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4CBC1-B3FD-407A-A800-E1C27E29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">
            <a:extLst xmlns:a="http://schemas.openxmlformats.org/drawingml/2006/main">
              <a:ext uri="{FF2B5EF4-FFF2-40B4-BE49-F238E27FC236}">
                <a16:creationId xmlns:a16="http://schemas.microsoft.com/office/drawing/2014/main" id="{0954792D-2C53-40F5-A8EF-68330756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A86AD-FC91-4738-9D12-158F1016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C000"/>
                </a:solidFill>
              </a:defRPr>
            </a:pPr>
            <a:r>
              <a:rPr sz="4350" b="1" i="0">
                <a:solidFill>
                  <a:srgbClr val="FFC000"/>
                </a:solidFill>
              </a:rPr>
              <a:t>The constraint is not ideas.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6B0B4-DAB3-4FFD-B038-95046F38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FFFFFF"/>
                </a:solidFill>
              </a:defRPr>
            </a:pPr>
            <a:r>
              <a:rPr sz="4050" b="0" i="0">
                <a:solidFill>
                  <a:srgbClr val="FFFFFF"/>
                </a:solidFill>
              </a:rPr>
              <a:t>It is continuity across dozens of small academic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97BB4-9A6D-4290-A094-46CFA62F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8D5DC"/>
                </a:solidFill>
              </a:defRPr>
            </a:pPr>
            <a:r>
              <a:rPr sz="1875" b="0" i="0">
                <a:solidFill>
                  <a:srgbClr val="C8D5DC"/>
                </a:solidFill>
              </a:rPr>
              <a:t>Files, sources, deadlines, design choices, feedback, and publication decisions are distributed across tools—and across time.</a:t>
            </a:r>
          </a:p>
        </p:txBody>
      </p:sp>
    </p:spTree>
    <p:extLst>
      <p:ext uri="{BB962C8B-B14F-4D97-AF65-F5344CB8AC3E}">
        <p14:creationId xmlns:p14="http://schemas.microsoft.com/office/powerpoint/2010/main" val="920822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5">
            <a:extLst xmlns:a="http://schemas.openxmlformats.org/drawingml/2006/main">
              <a:ext uri="{FF2B5EF4-FFF2-40B4-BE49-F238E27FC236}">
                <a16:creationId xmlns:a16="http://schemas.microsoft.com/office/drawing/2014/main" id="{D59DA57D-E0DE-4157-BB69-6DC9E5A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74A5-075B-4A6F-A1D9-E3507E9B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5858F-ED27-4E79-A8B3-EF866A0E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E7DB3-A9E8-4D2F-B262-72168051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50887-3497-405D-BF51-8C1F166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072A3-6047-4471-B694-DA990BA9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DCA4D-FB16-4633-9819-320F1C0F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0A033-95BB-4245-A967-F77081B5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5">
            <a:extLst xmlns:a="http://schemas.openxmlformats.org/drawingml/2006/main">
              <a:ext uri="{FF2B5EF4-FFF2-40B4-BE49-F238E27FC236}">
                <a16:creationId xmlns:a16="http://schemas.microsoft.com/office/drawing/2014/main" id="{DB7BE69A-167C-45FC-A88E-AFCAEBD4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6E353C-0C3D-4AFE-B791-F61B28B9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Isolated prompts reset the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5537B-2462-457F-8BA7-A49CBB9C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3B04D-6555-4825-B3F6-CACC089E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B14CD-8510-435E-A9B3-601F5DD4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93BAC-5BAF-4970-8721-99555DA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The model sees what is in the current conversation, not the whole project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E0E6D-907D-4B3C-88EB-53566E20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42D3D-9981-4F80-9202-ABC6B77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E2FCC-FB22-40F9-9542-74C1FE18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Sources and decisions become detached from the outputs they informed.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402D6-8946-4DDA-82BC-058AC241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FOLLOW-THROUGH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016F6-31BB-4456-8CC5-B92F911D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6272C-CCBD-4C74-9E67-0520B239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useful answer still leaves scheduling, files, review, and publication to the lecturer.</a:t>
            </a:r>
          </a:p>
        </p:txBody>
      </p:sp>
    </p:spTree>
    <p:extLst>
      <p:ext uri="{BB962C8B-B14F-4D97-AF65-F5344CB8AC3E}">
        <p14:creationId xmlns:p14="http://schemas.microsoft.com/office/powerpoint/2010/main" val="635444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etadata-rail-6">
            <a:extLst xmlns:a="http://schemas.openxmlformats.org/drawingml/2006/main">
              <a:ext uri="{FF2B5EF4-FFF2-40B4-BE49-F238E27FC236}">
                <a16:creationId xmlns:a16="http://schemas.microsoft.com/office/drawing/2014/main" id="{9BBF2C46-855A-420C-AC19-077F20E1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E62A8-B4D1-465F-8D91-1CD2E098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53616-F6EF-4B63-8F47-A146345E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A850D-4856-4DE8-AB97-58D2FEFF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FDA58-6CAF-4B80-9F25-3986FBC5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7CDF1-5C53-4FF4-AB69-2AE446BF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5771C-7148-4548-83EC-3C3FF9EA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E9976-00D3-4080-87E9-5C643A57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6">
            <a:extLst xmlns:a="http://schemas.openxmlformats.org/drawingml/2006/main">
              <a:ext uri="{FF2B5EF4-FFF2-40B4-BE49-F238E27FC236}">
                <a16:creationId xmlns:a16="http://schemas.microsoft.com/office/drawing/2014/main" id="{F0EA2A56-95C3-495C-866D-BCD61021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048C2-A41D-4589-B18A-08C2A77F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C000"/>
                </a:solidFill>
              </a:defRPr>
            </a:pPr>
            <a:r>
              <a:rPr sz="4350" b="1" i="0">
                <a:solidFill>
                  <a:srgbClr val="FFC000"/>
                </a:solidFill>
              </a:rPr>
              <a:t>The key shift: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F51CF-2F3B-4420-BECA-F8D9474F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FFFFFF"/>
                </a:solidFill>
              </a:defRPr>
            </a:pPr>
            <a:r>
              <a:rPr sz="4050" b="0" i="0">
                <a:solidFill>
                  <a:srgbClr val="FFFFFF"/>
                </a:solidFill>
              </a:rPr>
              <a:t>from a clever chat to a governed workspace.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2B7D3-EA53-4DE1-B0E3-96C6D706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8D5DC"/>
                </a:solidFill>
              </a:defRPr>
            </a:pPr>
            <a:r>
              <a:rPr sz="1875" b="0" i="0">
                <a:solidFill>
                  <a:srgbClr val="C8D5DC"/>
                </a:solidFill>
              </a:rPr>
              <a:t>An agentic workspace gives work a durable home, bounded tools, repeatable workflows, and a visible review trail.</a:t>
            </a:r>
          </a:p>
        </p:txBody>
      </p:sp>
    </p:spTree>
    <p:extLst>
      <p:ext uri="{BB962C8B-B14F-4D97-AF65-F5344CB8AC3E}">
        <p14:creationId xmlns:p14="http://schemas.microsoft.com/office/powerpoint/2010/main" val="1808243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AE635-9972-403F-85EA-217E354B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1194D-467D-43D1-B2A8-6E3BC57F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7220F-7ADA-4102-8586-2C351B0E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2E608-352F-4A89-BB8B-7307D42F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41281-ACE5-46D7-8C8A-F256A817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B81A7-1C36-4CDA-B35D-A1C7882B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What changes when a language model becomes part of a working system?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428D6-B506-4590-89C2-673E740E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40679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8">
            <a:extLst xmlns:a="http://schemas.openxmlformats.org/drawingml/2006/main">
              <a:ext uri="{FF2B5EF4-FFF2-40B4-BE49-F238E27FC236}">
                <a16:creationId xmlns:a16="http://schemas.microsoft.com/office/drawing/2014/main" id="{C6A572C0-7A08-48B1-88A7-1258FA5D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38039-06EE-48C2-A7E6-1006B19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B5CAA-BA8C-49A9-B0D0-4A8B10B6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C121A-AC6F-4011-979E-D261FF1C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5B114-8FD3-4125-AEB9-4C88A90F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D6FF7-FDEE-4296-B8AD-EC2D7886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38C28-F04A-459E-9CA3-4D6CFB16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B4842-F8B8-43C0-A45F-7E5CACA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8">
            <a:extLst xmlns:a="http://schemas.openxmlformats.org/drawingml/2006/main">
              <a:ext uri="{FF2B5EF4-FFF2-40B4-BE49-F238E27FC236}">
                <a16:creationId xmlns:a16="http://schemas.microsoft.com/office/drawing/2014/main" id="{E33C4B92-49A5-4CDD-B120-A3B5760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8E7B95-1366-440B-9035-B04AED0F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AI is a stack, not one thing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93D87-19A0-4EA7-B4B9-46F48D6B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EE3B4-8062-41F6-BEBF-B0247768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40EC2-623A-4448-A4FD-29B97D00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6E65C-F139-4A8E-B0DD-DA097019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37089-7621-45BB-A3F4-37FD935E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0F1EC-926F-4BF5-9246-9E1F1530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Systems performing tasks associated with intelligence.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2F569-9728-4864-B222-1B3AA08F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8A013-D475-4C5B-803A-48A1F188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242DB-F4A1-4735-8384-7ACBA675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B69E7-D4C3-49D4-B8E2-9C111B49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Systems learning patterns from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03744-431D-4567-BF18-6577D307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1D79F-FB82-4859-8BE6-A9F5E79E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2053B-53E1-45FD-B427-82D1FDA1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Generative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A674A3-58EA-4393-BECE-C4300AC0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Models producing new content from learned patterns.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6A462-7724-46A3-B40B-F6AAAC1D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BD642-759C-4E93-B933-D5B969F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383C52-9ABA-413B-A31E-C6D339D0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LLM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F96D5F-D527-44D2-92DB-A2A034E0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 generative model specialized in language sequences.</a:t>
            </a:r>
          </a:p>
        </p:txBody>
      </p:sp>
    </p:spTree>
    <p:extLst>
      <p:ext uri="{BB962C8B-B14F-4D97-AF65-F5344CB8AC3E}">
        <p14:creationId xmlns:p14="http://schemas.microsoft.com/office/powerpoint/2010/main" val="2045470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9">
            <a:extLst xmlns:a="http://schemas.openxmlformats.org/drawingml/2006/main">
              <a:ext uri="{FF2B5EF4-FFF2-40B4-BE49-F238E27FC236}">
                <a16:creationId xmlns:a16="http://schemas.microsoft.com/office/drawing/2014/main" id="{37270D13-94E5-4F1F-B31E-B96A6336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7B9D9-7634-4CFC-8871-286DA93D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C9F6E-E8A3-429F-8810-B5C2C4BF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7FA07-6620-4D77-8E1A-9A10B1E0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27802-B842-49F7-B71C-95ADA79B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1F28A-EE00-4158-852F-4F7B16C3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F8CDE-B923-4E01-95D4-393BBB05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1811E-1D46-4D0A-8229-96806E4D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9">
            <a:extLst xmlns:a="http://schemas.openxmlformats.org/drawingml/2006/main">
              <a:ext uri="{FF2B5EF4-FFF2-40B4-BE49-F238E27FC236}">
                <a16:creationId xmlns:a16="http://schemas.microsoft.com/office/drawing/2014/main" id="{29D2222C-A57C-40A7-B14A-EA510A25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1AA84C-7CA4-48E2-AA00-A5DB570C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An LLM predicts a useful continuation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CF2FB-0477-4603-9184-8A1A55B9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6E517-ADB3-4460-888A-1C7AB46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A7D0F-BFAC-46BC-9141-DA8DE1DC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30B43-8030-44E5-8CDB-A0C3CE1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Instructions, examples, retrieved evidence, and conversation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4B3E7-16B6-4840-A6DE-DA533748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9ABE7-565D-4C83-B6BE-92997DE6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76AD6-1DE0-42B2-A31B-25000ACF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learned probability distribution over possible token sequences.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620C9-3925-451D-8E1E-3FEE0530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A7DE2-057C-4B0D-B484-4868D67C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AEA38-032D-4ECE-A0C9-935229E0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generated continuation—not a database lookup and not a guaranteed fact.</a:t>
            </a:r>
          </a:p>
        </p:txBody>
      </p:sp>
    </p:spTree>
    <p:extLst>
      <p:ext uri="{BB962C8B-B14F-4D97-AF65-F5344CB8AC3E}">
        <p14:creationId xmlns:p14="http://schemas.microsoft.com/office/powerpoint/2010/main" val="1074077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10">
            <a:extLst xmlns:a="http://schemas.openxmlformats.org/drawingml/2006/main">
              <a:ext uri="{FF2B5EF4-FFF2-40B4-BE49-F238E27FC236}">
                <a16:creationId xmlns:a16="http://schemas.microsoft.com/office/drawing/2014/main" id="{B3F310E9-4ACC-4C27-A417-86855BD4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EAE6C-3211-44FF-AA1B-FE5872ED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56E20-33F1-4027-8CC5-0C43D711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4BFFC-3474-4E11-92DE-4333BA91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8CC52-EA39-40B5-9A63-AEC7703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41889-AF13-4C5E-82B8-E3FF5EB5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6C641-3C5C-4131-A2EA-A788CB9B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79FB8-58C5-424C-B65B-03434432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10">
            <a:extLst xmlns:a="http://schemas.openxmlformats.org/drawingml/2006/main">
              <a:ext uri="{FF2B5EF4-FFF2-40B4-BE49-F238E27FC236}">
                <a16:creationId xmlns:a16="http://schemas.microsoft.com/office/drawing/2014/main" id="{4C2B7872-569A-4F93-8F11-965B9B52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F1C119-856A-4E35-B205-31F35DF0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 prompt is temporary working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DE919-360E-4CEC-B76D-E3924F3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05DE6-BDA1-41CC-98DB-5404BE18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INSTRUCTION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9ED99-61C2-4150-914F-4EC4A51E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1AC15-9632-47FA-9E61-B21907D0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should be done, for whom, and under which constraints?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2ED3A-58BA-48D1-A06B-42DDE1D6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366D6-BB5E-4CC6-AD77-6DA3BEEC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7070E-B883-4334-A200-6C23F879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evidence, examples, state, and prior decisions are available now?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B467F-8BD9-467B-BC04-80D83B71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OUTPUT CONTRACT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66C34-9D37-4C58-B2AC-FA0C05A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0F383-59F5-41FB-B2FF-F3274EFD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form, quality bar, and review conditions define success?</a:t>
            </a:r>
          </a:p>
        </p:txBody>
      </p:sp>
    </p:spTree>
    <p:extLst>
      <p:ext uri="{BB962C8B-B14F-4D97-AF65-F5344CB8AC3E}">
        <p14:creationId xmlns:p14="http://schemas.microsoft.com/office/powerpoint/2010/main" val="6810379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etadata-rail-11">
            <a:extLst xmlns:a="http://schemas.openxmlformats.org/drawingml/2006/main">
              <a:ext uri="{FF2B5EF4-FFF2-40B4-BE49-F238E27FC236}">
                <a16:creationId xmlns:a16="http://schemas.microsoft.com/office/drawing/2014/main" id="{5B591174-8076-4D1D-B6D4-7C05EDE0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8A158-4AAC-4662-A19C-01D7D511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C802F-99E9-476F-9FDD-29F35449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73DBA-27F4-4B43-AB17-61E8A435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6B16C-230D-4F9A-A7D3-22EF8A3F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94AA5-031F-4953-9FAD-398F35C0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45D83-2B94-4B11-AF0B-C12D21D8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82EBF-06D7-4D87-A9C9-D15FADE1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11">
            <a:extLst xmlns:a="http://schemas.openxmlformats.org/drawingml/2006/main">
              <a:ext uri="{FF2B5EF4-FFF2-40B4-BE49-F238E27FC236}">
                <a16:creationId xmlns:a16="http://schemas.microsoft.com/office/drawing/2014/main" id="{FD1DA801-0C2A-459B-B057-3C16417E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40B445-D0B0-4CCB-AF0A-6EEFED1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Systems turn models into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F551C-2412-4FBA-BF91-8F063510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F348A-D9E6-44CF-84E4-B11BDA5B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0FC79-7650-4866-8DF4-795C335E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C0829-3F5A-4AB7-BE38-F11F9526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Generates a response from supplied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790B6-AB0B-43F6-9C17-8D3EF2B6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No independent action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BF239-A8B6-415F-96CA-6519EBD4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B437C-6E52-4781-BC44-B7F7D3F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B6248-4B06-40DA-8D8B-FA301CF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Adds interface, instructions, and selected tools.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4A9C1-AB1D-474B-B757-D0311BB5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Usually user-steered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6275E-74A8-401D-8B50-D795EFD3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AGENTIC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13093-7BCF-4BEA-8B25-159CC1C9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5382E-EA1A-4621-B5BB-379AC44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Pursues a goal through observation, planning, tool use, and feedback.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D9B72-09EE-4B2F-8E39-45823763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Bounded autonomy</a:t>
            </a:r>
          </a:p>
        </p:txBody>
      </p:sp>
    </p:spTree>
    <p:extLst>
      <p:ext uri="{BB962C8B-B14F-4D97-AF65-F5344CB8AC3E}">
        <p14:creationId xmlns:p14="http://schemas.microsoft.com/office/powerpoint/2010/main" val="12254466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12">
            <a:extLst xmlns:a="http://schemas.openxmlformats.org/drawingml/2006/main">
              <a:ext uri="{FF2B5EF4-FFF2-40B4-BE49-F238E27FC236}">
                <a16:creationId xmlns:a16="http://schemas.microsoft.com/office/drawing/2014/main" id="{59B43F70-DB1D-4B91-89F1-E40FDE18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EE6C2-9B8A-4E02-90B1-9B3C5462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D9AFF-C74A-4750-B791-E4A93850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312A0-B1A5-4356-A6F5-64A97D41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A0A61-F6BE-4DC6-BC79-B3D064D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AC1DF-023C-4111-854E-B81227F8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4F0A3-C473-4440-8C72-144FEA56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E1833-3CB3-4F74-9C8C-2A9840C1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12">
            <a:extLst xmlns:a="http://schemas.openxmlformats.org/drawingml/2006/main">
              <a:ext uri="{FF2B5EF4-FFF2-40B4-BE49-F238E27FC236}">
                <a16:creationId xmlns:a16="http://schemas.microsoft.com/office/drawing/2014/main" id="{A5206527-82EA-43E7-B0B9-B8E10E70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85053A-CAF9-4D2B-B2E5-5F68DB5F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minimal agent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6C3D1-0ABD-463E-A4A6-53180FD7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B5CC5-683D-485A-8AE5-2FB05D9B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4589E-FA40-4544-99A0-63730EB5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91C7E-9014-43C9-95C8-5459338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6AA1F-A572-4A88-AF0D-3208CD3C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3D9CA-EDA3-4B80-9812-03FC200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Read the request and current environment.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D278E-7F47-4E15-8C03-C093838B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D74FF-523D-44EE-95D0-946B10E9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17B15-F688-4BFC-A96E-149D82AA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9D47E-4D6B-4FDF-AE67-1EC04C3E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Choose a next step or decompose the task.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5A6B1-1BAE-4440-9118-FF624C55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8AF4A-291E-44E4-B5A5-CAAA292A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02723-4AA9-477E-A343-6F91FCDE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DAD19-99B3-494B-ACE6-26369775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Use a tool or produce an artifact.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89DE9-863E-4668-B0F3-E6564E22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91AD0-6730-4E16-9932-21ABCC8F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189AB-5EA6-4EDE-9379-F4206973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Evaluate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D9598F-E8CE-4CDB-9059-FF515D0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Check the result, update state, and continue.</a:t>
            </a:r>
          </a:p>
        </p:txBody>
      </p:sp>
    </p:spTree>
    <p:extLst>
      <p:ext uri="{BB962C8B-B14F-4D97-AF65-F5344CB8AC3E}">
        <p14:creationId xmlns:p14="http://schemas.microsoft.com/office/powerpoint/2010/main" val="9772873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13">
            <a:extLst xmlns:a="http://schemas.openxmlformats.org/drawingml/2006/main">
              <a:ext uri="{FF2B5EF4-FFF2-40B4-BE49-F238E27FC236}">
                <a16:creationId xmlns:a16="http://schemas.microsoft.com/office/drawing/2014/main" id="{E5F26292-2739-4AFB-B867-E2F9DAB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A5F1D-45BA-465C-BC90-DE84495C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F465E-9810-41F9-AFE1-9B1CD532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9A55B-3B0F-4504-8D8A-53A0FF8B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73084-BC89-4462-B525-A4A1BF40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46B95-A563-4D8F-B246-39558806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48BEC-B65F-4BBC-9EC1-F137E21A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E933D-22D1-47D8-B0F7-1F364EF3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13">
            <a:extLst xmlns:a="http://schemas.openxmlformats.org/drawingml/2006/main">
              <a:ext uri="{FF2B5EF4-FFF2-40B4-BE49-F238E27FC236}">
                <a16:creationId xmlns:a16="http://schemas.microsoft.com/office/drawing/2014/main" id="{7F526AD5-1F6F-4FFD-A7F9-DBDAC5D3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723232-F050-4E9C-8031-DB69675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Tools convert language into consequences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5A571-1427-4800-8745-143C2E86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E3346-F0A4-42D9-B761-B8A36921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CC7CE-D95E-41DE-9908-C7AF88FC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F9FF8-DACE-48D5-A391-70A5EC21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Search, inspect files, retrieve sources, read calendars, or query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06767-7936-496A-B1DA-8320D9A2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CREATE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FA735-90D6-478C-BABB-14CBD917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17B99-69F4-4A77-9D39-3F501F97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Draft documents, generate presentations, transform datasets, or write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7537C-4A1A-48EF-9410-9CF20373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F86A6-8D39-4CC7-8C62-540CFB54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D13FB-9421-4138-9427-1684C9B4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Send messages, update records, publish content, or run external processes.</a:t>
            </a:r>
          </a:p>
        </p:txBody>
      </p:sp>
    </p:spTree>
    <p:extLst>
      <p:ext uri="{BB962C8B-B14F-4D97-AF65-F5344CB8AC3E}">
        <p14:creationId xmlns:p14="http://schemas.microsoft.com/office/powerpoint/2010/main" val="13687153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14">
            <a:extLst xmlns:a="http://schemas.openxmlformats.org/drawingml/2006/main">
              <a:ext uri="{FF2B5EF4-FFF2-40B4-BE49-F238E27FC236}">
                <a16:creationId xmlns:a16="http://schemas.microsoft.com/office/drawing/2014/main" id="{BF357DC7-AB86-4C0F-B470-68997930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85683-302D-46B8-AE3A-780EAD51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5CA7E-29C4-4F0B-8987-239A386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8F1EB-6488-4E14-8E7E-011BEBAB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D34C4-BF51-4AE4-BA1C-22B132D8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6B361-0426-479C-A068-598965E4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91B44-FC4E-44D0-A5EF-3BD8C589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0AC10-1866-4885-BC3A-8AA95CB4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14">
            <a:extLst xmlns:a="http://schemas.openxmlformats.org/drawingml/2006/main">
              <a:ext uri="{FF2B5EF4-FFF2-40B4-BE49-F238E27FC236}">
                <a16:creationId xmlns:a16="http://schemas.microsoft.com/office/drawing/2014/main" id="{C53AE575-477F-41E2-9EA8-D136B522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9ABDDC-2ACE-4567-8FDB-11D82438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Memory gives an agent continuity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9520A-118B-4C1A-8222-E0C5A820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0110D-E1D8-47F2-BF3F-56AF0B4C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WORKING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49F24-3040-431E-8102-05CCD6CB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342CD-1FEA-4378-85C3-EA790937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The immediate context needed for the current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A49E5-9A5B-40E7-B2BF-3A8C82D6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PROJECT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0F347-AE84-431B-96F1-426D1860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21F09-5284-43ED-8A83-95B060E3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Durable sources, decisions, terminology, and outputs.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B30A9-5DE3-4310-9D03-1054BF4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EVENT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14D42-AAF4-47E1-9BCC-965FAFDC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D8429-4DCC-48C2-959C-5E32CBD5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happened, when, through which tool, with what result.</a:t>
            </a:r>
          </a:p>
        </p:txBody>
      </p:sp>
    </p:spTree>
    <p:extLst>
      <p:ext uri="{BB962C8B-B14F-4D97-AF65-F5344CB8AC3E}">
        <p14:creationId xmlns:p14="http://schemas.microsoft.com/office/powerpoint/2010/main" val="6109044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15">
            <a:extLst xmlns:a="http://schemas.openxmlformats.org/drawingml/2006/main">
              <a:ext uri="{FF2B5EF4-FFF2-40B4-BE49-F238E27FC236}">
                <a16:creationId xmlns:a16="http://schemas.microsoft.com/office/drawing/2014/main" id="{1D94A3DE-8ACC-443C-BA71-BEE81CF2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E6C62-46E4-4965-966D-03B6B998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FF1AD-3B0F-4F7F-9E76-8376EBD3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E50B6-29A8-4894-8F37-7C9A706C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35C10-26DA-4905-A4B6-2541D7D2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CDBBF-55F5-417A-A8E4-73F4351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27430-8F40-47BD-A925-580AF7D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DD8A2-C1FD-4206-9707-8098C069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15">
            <a:extLst xmlns:a="http://schemas.openxmlformats.org/drawingml/2006/main">
              <a:ext uri="{FF2B5EF4-FFF2-40B4-BE49-F238E27FC236}">
                <a16:creationId xmlns:a16="http://schemas.microsoft.com/office/drawing/2014/main" id="{DDE36C25-53BE-4D89-9246-5F085495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E42C6F-BDE1-4305-A8EB-D4C83B2E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environment defines what is possible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EF065-36BB-449D-B58C-B8927B60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2D712-72CF-488C-B60D-CF47E72B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AVAILABLE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D9400-F0CC-47B1-9124-7420B51C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3215B-F33A-4039-B9FB-9E3E26CB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Files, repositories, applications, databases, and connected services.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7AE31-34DB-4FFC-99F6-202D3C1D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PERMISSIONS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24D6E-65FA-4490-91A4-9B65EFF6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84914-FB82-4380-BC19-67A4065E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the agent may read, modify, send, schedule, or publish.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E84B9-356E-437E-89E9-5A598A1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624ED-7CE7-4723-853F-8AC9780C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3BA63-B305-4DD5-B4A8-DA8D570A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Which actions require a person, a policy check, or a separate release path.</a:t>
            </a:r>
          </a:p>
        </p:txBody>
      </p:sp>
    </p:spTree>
    <p:extLst>
      <p:ext uri="{BB962C8B-B14F-4D97-AF65-F5344CB8AC3E}">
        <p14:creationId xmlns:p14="http://schemas.microsoft.com/office/powerpoint/2010/main" val="14371748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16">
            <a:extLst xmlns:a="http://schemas.openxmlformats.org/drawingml/2006/main">
              <a:ext uri="{FF2B5EF4-FFF2-40B4-BE49-F238E27FC236}">
                <a16:creationId xmlns:a16="http://schemas.microsoft.com/office/drawing/2014/main" id="{C18FADC7-A28A-4659-97FB-040FB790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9AF88-9EA4-4DA5-8DA5-8E62D05D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C4DB8-3BB9-423E-A2E2-4E906C32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AC4C4-AA46-455B-BDD7-B417851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F74E3-0FCF-4A57-ADAD-4797485C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FB8B9-532A-4141-A505-50FD252B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706F2-7CED-404E-BA4D-5CB3FA19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63B13-6A5B-48B1-9384-95E8806A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16">
            <a:extLst xmlns:a="http://schemas.openxmlformats.org/drawingml/2006/main">
              <a:ext uri="{FF2B5EF4-FFF2-40B4-BE49-F238E27FC236}">
                <a16:creationId xmlns:a16="http://schemas.microsoft.com/office/drawing/2014/main" id="{BD0794EA-D869-4B87-AE5E-E27EC725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8CF1E6-3631-4963-A9F7-82CC3EAF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Artifacts make agent work reviewable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68EDD-5F3D-4FB6-B3C0-34D33E74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FB436-99E8-48F4-82F9-88D355A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9ADD8-441A-40BB-AA36-A52480F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FF0C9-6A5C-4503-BCF1-1757C1BE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Drafts, plans, data, slides, and outputs can be inspected directly.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8C25A-5598-4A78-B80A-2108E037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E5D39-F60A-49D2-A8FA-51E94777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E09CD-48A6-44F5-A081-1A1FE4E1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Commits and issue activity show when and why work changed.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3B6E1-EDA9-4A43-B771-F8F37097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77F60-1885-4CF3-A9A7-F9159971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69FA1-B0BC-4DCF-B9F2-CBB907EA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Sources in notes and metadata connect claims to evidence.</a:t>
            </a:r>
          </a:p>
        </p:txBody>
      </p:sp>
    </p:spTree>
    <p:extLst>
      <p:ext uri="{BB962C8B-B14F-4D97-AF65-F5344CB8AC3E}">
        <p14:creationId xmlns:p14="http://schemas.microsoft.com/office/powerpoint/2010/main" val="4034296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1C3AB-36B9-4488-B69C-255902B7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B607A-C369-4E63-911D-E61CA77C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02432-6AEC-40CF-AD59-2929C43C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84372-2911-45AD-A7DF-2AD71707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2D42F-A827-42B1-AF20-73F84ED2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0F7AD-EA7A-4B6C-AB7E-639F732E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Planning, acting, remembering, reflecting, and governing the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BDF24-CBF5-4CC2-BD83-6ADFDD86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597379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18">
            <a:extLst xmlns:a="http://schemas.openxmlformats.org/drawingml/2006/main">
              <a:ext uri="{FF2B5EF4-FFF2-40B4-BE49-F238E27FC236}">
                <a16:creationId xmlns:a16="http://schemas.microsoft.com/office/drawing/2014/main" id="{2D2FE2E2-AA13-4938-B910-EBB774BE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3E36E-CF1C-46B8-A375-01EEE7A4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9F446-2309-4DC2-A125-CD3BD8E4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2CC9C-F320-43D4-946D-4C5E104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56036-5E85-469F-8786-B6DA62A4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34CC9-BEDF-49AA-A11C-EAD6B81A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6406F-A6CB-456B-9EBF-6FD230C7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BD596-6663-4B54-95C2-929B790C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18">
            <a:extLst xmlns:a="http://schemas.openxmlformats.org/drawingml/2006/main">
              <a:ext uri="{FF2B5EF4-FFF2-40B4-BE49-F238E27FC236}">
                <a16:creationId xmlns:a16="http://schemas.microsoft.com/office/drawing/2014/main" id="{BD43902F-855C-40C5-B913-D806860D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671568-63DD-4E8B-9BE1-32EC07F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ReAct interleaves reasoning and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BF289-7EC2-4BA7-BD39-E1613542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7DFA9-6CC7-4A1D-A766-9EDCBD61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EA960-55A3-494F-88F8-F6C8E30D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A8D58-4CC9-4ADE-9CC5-FD24F9CF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FEC49-960F-41F9-AE83-958B75F1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3AF5A-FEE5-45C5-9F8A-C243024D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Form a hypothesis or decide what is missing.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DDD95-0EA5-441E-AFBC-2006CEA0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5F68C-0894-45B9-B277-1066E38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B37E3-4547-45AA-975C-0CF28B8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6B96C-1A50-40B7-BE34-BCF7AC4A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Call a tool or interact with the environment.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21BCB-DA6B-4ABA-AAF9-CDFC620D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B8227-5857-4AE0-848C-F90C0124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CC1F5-F923-4829-88C5-FE7A5F54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28653-804C-4314-B1BC-0396C887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Receive new evidence or a tool result.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A407D-B570-41B9-8DF1-1E1A8E4E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835D8D-8B6A-4F8A-A956-C6B60D6B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36DDF-A45C-4AD1-A23F-D3469FBA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Revise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431DB4-4DF1-481C-85EA-CBEF3FBE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Update the plan and repeat as needed.</a:t>
            </a:r>
          </a:p>
        </p:txBody>
      </p:sp>
    </p:spTree>
    <p:extLst>
      <p:ext uri="{BB962C8B-B14F-4D97-AF65-F5344CB8AC3E}">
        <p14:creationId xmlns:p14="http://schemas.microsoft.com/office/powerpoint/2010/main" val="21214948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19">
            <a:extLst xmlns:a="http://schemas.openxmlformats.org/drawingml/2006/main">
              <a:ext uri="{FF2B5EF4-FFF2-40B4-BE49-F238E27FC236}">
                <a16:creationId xmlns:a16="http://schemas.microsoft.com/office/drawing/2014/main" id="{6184FC58-F073-42CE-9F11-91257022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C3274-5141-4330-96A6-FCAE4D2B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3A316-1DC0-4958-B66B-930920EA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CD425-E200-44B7-94C1-C06C269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1F22A-075F-4BB2-8A22-FF36E858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D658B-276A-4ED6-9CB7-332559D7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39F26-5CB4-4FBA-95C2-A306322A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51D2F-616E-4A39-8C4D-993189BB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19">
            <a:extLst xmlns:a="http://schemas.openxmlformats.org/drawingml/2006/main">
              <a:ext uri="{FF2B5EF4-FFF2-40B4-BE49-F238E27FC236}">
                <a16:creationId xmlns:a16="http://schemas.microsoft.com/office/drawing/2014/main" id="{1861ECB5-CF0C-4E7C-B238-B9DC3B6D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8810AD-0928-4028-B093-8308EFB2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Planning turns goals into tractable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A6F1D-CA96-4743-A45B-B288271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9BC68-C84B-40BB-8840-2465B715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DECOMPOSE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AD32C-95F5-452C-A761-46B45FF8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BACB5-216F-4D5F-BBCA-48B8A4F1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Break a broad objective into smaller deliverables or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B0C2D-EB6C-4693-922F-E6C65976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BF880-5BCC-422F-B473-764B295E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D0606-48C1-486C-91F7-073F552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Place dependencies, approvals, and evidence gathering in a safe sequence.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8A816-B820-4CEB-9B20-AA2C4045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0F589-CEA6-4EBE-9DFA-35C52E79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88421-E5EF-4AB7-AFB5-C2209E0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Change course when tools fail, evidence conflicts, or constraints appear.</a:t>
            </a:r>
          </a:p>
        </p:txBody>
      </p:sp>
    </p:spTree>
    <p:extLst>
      <p:ext uri="{BB962C8B-B14F-4D97-AF65-F5344CB8AC3E}">
        <p14:creationId xmlns:p14="http://schemas.microsoft.com/office/powerpoint/2010/main" val="11711792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20">
            <a:extLst xmlns:a="http://schemas.openxmlformats.org/drawingml/2006/main">
              <a:ext uri="{FF2B5EF4-FFF2-40B4-BE49-F238E27FC236}">
                <a16:creationId xmlns:a16="http://schemas.microsoft.com/office/drawing/2014/main" id="{F526309F-E446-45FA-8E28-A743BFD5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87C9A-86AC-4036-9D08-563D8A14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9FA69-D657-4804-8575-BC6CF9F0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E444F-630F-4F5C-89EF-519EC407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40ED6-8093-47E6-B403-CD6F366C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5B72E-1AE9-463C-8D03-4B09346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36E21-066B-4BC5-81F8-04E7022E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D9818-B954-477E-99DB-BBF1A6B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0">
            <a:extLst xmlns:a="http://schemas.openxmlformats.org/drawingml/2006/main">
              <a:ext uri="{FF2B5EF4-FFF2-40B4-BE49-F238E27FC236}">
                <a16:creationId xmlns:a16="http://schemas.microsoft.com/office/drawing/2014/main" id="{B8988FF9-6411-40A0-B5A0-F1D517AB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B74771-4C31-4FEE-BE4D-5871B842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Tool selection is a policy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976F1-8867-42BB-8CA0-64175B12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2ED1F-2EB7-448D-AAB7-0789C9C0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056CC-B68D-449E-A2A3-99A185D0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0FA50-F6B7-4AA4-9A8B-CCA3BCD0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Use a tool when the model lacks current state, precision, or the ability to 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450DC-D3E5-435F-965B-E2DDDB4C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WHICH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2693D-CE4C-4552-B833-1DFE8732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9334D-464D-4EFA-BF56-E91E48B7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Choose the narrowest tool whose capability and permissions match the step.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9D248-F6E6-4B3A-B23C-6AEC161E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HOW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7871B-3DEA-4021-9E99-14B970E4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811E1-DFF3-4D67-A998-EBAED89E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Validate arguments, inspect results, and stop loops that do not converge.</a:t>
            </a:r>
          </a:p>
        </p:txBody>
      </p:sp>
    </p:spTree>
    <p:extLst>
      <p:ext uri="{BB962C8B-B14F-4D97-AF65-F5344CB8AC3E}">
        <p14:creationId xmlns:p14="http://schemas.microsoft.com/office/powerpoint/2010/main" val="4797817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21">
            <a:extLst xmlns:a="http://schemas.openxmlformats.org/drawingml/2006/main">
              <a:ext uri="{FF2B5EF4-FFF2-40B4-BE49-F238E27FC236}">
                <a16:creationId xmlns:a16="http://schemas.microsoft.com/office/drawing/2014/main" id="{2C78ADAC-BDB7-4D40-91DF-694FC384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1312A-1BCE-40D5-ABB2-0F64D72D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85FAB-1AFD-4A6C-84AD-F4D599B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3BB58-BF78-4FBF-AC27-0EB59E1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D72EB-501F-4E59-986B-428C995D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4E533-96DD-4C01-A30B-25C17320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7F558-330E-4BF3-B832-47EF7739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86602-FE2D-47FE-B7CD-C9865C8E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1">
            <a:extLst xmlns:a="http://schemas.openxmlformats.org/drawingml/2006/main">
              <a:ext uri="{FF2B5EF4-FFF2-40B4-BE49-F238E27FC236}">
                <a16:creationId xmlns:a16="http://schemas.microsoft.com/office/drawing/2014/main" id="{194999F6-999D-45E0-8FE2-CDBB8204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A18DEF-325E-4BEE-9D97-8A4EF15E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Memory is a lifecycle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FC9E2-90D6-4D8C-BBCC-903A27CB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58A8A-2E48-46A9-862C-803A4CD6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5E0BF-BFE3-4A75-AC53-877F83C3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EEC1F-0588-4506-8348-8DC6BD17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69B74-FFCE-42C7-A8FF-440B6728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C6E9F-C19D-434D-A36E-572F6B22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Record sources, events, decisions, and artifacts.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98890-CC41-440C-82A6-74ED9062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B4AA4-A3A5-4E6D-BD3A-5A56CB8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40796-0796-449D-BE2A-C594FA5E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Organize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BD087-D058-41BF-B021-9B197E89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Structure knowledge for future retrieval.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9FAB4-A0A9-47E4-A063-D62CECB9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9AA6A-E89B-43AE-BAF3-6333D672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B8063-4FA7-4BA0-89D7-9731ABDA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6BA23-D182-4608-A04D-8E6B6C3B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Bring only relevant evidence into working context.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E3111-4300-45B7-B087-B677F0CA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EE1F6-5F16-48AE-BE4F-F239B88B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93CA36-B0B4-40A4-A151-0CFA779A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7DBD44-4EC9-4E49-BFAB-FAFDC702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Correct, supersede, or archive knowledge as the project changes.</a:t>
            </a:r>
          </a:p>
        </p:txBody>
      </p:sp>
    </p:spTree>
    <p:extLst>
      <p:ext uri="{BB962C8B-B14F-4D97-AF65-F5344CB8AC3E}">
        <p14:creationId xmlns:p14="http://schemas.microsoft.com/office/powerpoint/2010/main" val="4255182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22">
            <a:extLst xmlns:a="http://schemas.openxmlformats.org/drawingml/2006/main">
              <a:ext uri="{FF2B5EF4-FFF2-40B4-BE49-F238E27FC236}">
                <a16:creationId xmlns:a16="http://schemas.microsoft.com/office/drawing/2014/main" id="{603FBCD0-3CD2-4400-B877-2F3F9A4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ED53C-0C94-41D5-8614-CB5E6866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73BDC-EB43-4E70-9DCB-32C65F9E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92708-5A2D-45CC-94B6-2BA12AD1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4A430-D69E-47CC-9E51-DF167A24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66184-5D33-4F68-ADC7-E2F45EB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BE084-0DFA-41E0-B572-E697A727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B0CF1-A813-405D-ADB4-6FC29308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2">
            <a:extLst xmlns:a="http://schemas.openxmlformats.org/drawingml/2006/main">
              <a:ext uri="{FF2B5EF4-FFF2-40B4-BE49-F238E27FC236}">
                <a16:creationId xmlns:a16="http://schemas.microsoft.com/office/drawing/2014/main" id="{E6B8DADB-7C05-454C-B393-DC24A580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77563E-5F35-46B0-B693-2021A199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RAG grounds generation in retrieved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0DB9E-E5AE-4DC8-AF1F-5AFB9D1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034D7-C4A2-4C08-9222-2479681A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RETRIEVE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59C86-43BD-4AB1-8C81-0E02F52E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E18DD-0AF8-49DA-93FD-CA593223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Find relevant passages from an external, updateable knowledge source.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C6F7B-1C46-4CB8-8BA0-8F852624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AUGMENT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4D921-22B0-4853-86C7-7DF44E4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D908F-BE7F-49D0-BCF4-17B6292E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Place those passages and provenance in the model’s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3AAA2-D198-426B-A3D6-C548B53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GENERATE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97DB5-422C-4F8E-AB2C-DC00606E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934C6-9AE1-48F3-8CB2-914C8495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Produce an answer conditioned on both model knowledge and retrieved evidence.</a:t>
            </a:r>
          </a:p>
        </p:txBody>
      </p:sp>
    </p:spTree>
    <p:extLst>
      <p:ext uri="{BB962C8B-B14F-4D97-AF65-F5344CB8AC3E}">
        <p14:creationId xmlns:p14="http://schemas.microsoft.com/office/powerpoint/2010/main" val="14961356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23">
            <a:extLst xmlns:a="http://schemas.openxmlformats.org/drawingml/2006/main">
              <a:ext uri="{FF2B5EF4-FFF2-40B4-BE49-F238E27FC236}">
                <a16:creationId xmlns:a16="http://schemas.microsoft.com/office/drawing/2014/main" id="{E0EFA486-0A35-47B2-8C4D-1753682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DB703-5DD0-4C59-8B0E-7B68FABF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2C0F6-27C3-41D5-9245-7A31DBC2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C4F0F-310E-48BF-9C7D-E39ED725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2559C-5AE5-4818-A193-AF106DAC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E68E0-AB17-4A89-A490-A467D3E4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69DF2-3CB7-49AA-89F7-EDBAD7C8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58CCF-0157-436A-A953-68328F5F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3">
            <a:extLst xmlns:a="http://schemas.openxmlformats.org/drawingml/2006/main">
              <a:ext uri="{FF2B5EF4-FFF2-40B4-BE49-F238E27FC236}">
                <a16:creationId xmlns:a16="http://schemas.microsoft.com/office/drawing/2014/main" id="{EE9D97C3-47A2-49CC-AAED-3BC5E93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E0E48E-E7CC-4B56-AF0D-A451AF61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Reflection converts outcomes into guidance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33F08-CE97-4F22-8E70-E2F93DBB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C4492-E0EA-4744-A4BF-522CD01C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7DC0D-3508-4C00-8FFC-20325843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ED28A-F949-49CC-A3F9-39E1CDC6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Did the result satisfy the objective, constraints, and evidence standard?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C7B89-FC58-4218-8112-EE6613BE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DIAGNOSE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895B1-4D8C-4CC4-8D03-F84A2515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E4D32-F472-434A-A409-AC6C804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Was the failure caused by the plan, tool, data, permissions, or model?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9DFFA-53E6-416A-8B14-01807BAF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ADAPT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E6893-4954-48F0-B668-0CC1A53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6FC96-B7AE-441D-AC35-DE35570E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Revise the next step or store a durable lesson for future work.</a:t>
            </a:r>
          </a:p>
        </p:txBody>
      </p:sp>
    </p:spTree>
    <p:extLst>
      <p:ext uri="{BB962C8B-B14F-4D97-AF65-F5344CB8AC3E}">
        <p14:creationId xmlns:p14="http://schemas.microsoft.com/office/powerpoint/2010/main" val="12514547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24">
            <a:extLst xmlns:a="http://schemas.openxmlformats.org/drawingml/2006/main">
              <a:ext uri="{FF2B5EF4-FFF2-40B4-BE49-F238E27FC236}">
                <a16:creationId xmlns:a16="http://schemas.microsoft.com/office/drawing/2014/main" id="{4C4FD10F-9652-4023-8B3A-C81B3EB8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02B0C-8AAB-4AD8-830F-FCCD613C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15151-57D7-47E9-BE92-B87C159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FF2AC-ADEC-4C4A-B6E6-B924FB17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23A35-9957-4E4B-9F06-B576D563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C2732-3037-423C-A8FC-25A0BA94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EE95B-8BA3-471D-8B34-EC6C4885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12B4F-B499-459F-8F1B-81B3F8F0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4">
            <a:extLst xmlns:a="http://schemas.openxmlformats.org/drawingml/2006/main">
              <a:ext uri="{FF2B5EF4-FFF2-40B4-BE49-F238E27FC236}">
                <a16:creationId xmlns:a16="http://schemas.microsoft.com/office/drawing/2014/main" id="{F6FD50BA-1F8B-418B-B2F7-7520D073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DCDE1E-767F-4924-A9E4-5514636B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Orchestration can stay simple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3E942-68F7-43DB-BD9E-C1CDB31B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85859-64DC-4A82-AD9B-830E3692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SEQUENTIAL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8230B-4BF0-4412-8AE3-67D01BA6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9D657-397A-4721-83CB-29146875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One step feeds the next. Best when dependencies are clear.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F016B-E0C0-45EF-A03F-499B99D6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PARALLEL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A3813-C17E-4B28-9662-A520A969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0A45A-FFC3-4728-8B9B-356774DF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Independent subtasks run together. Best when evidence can be reconciled.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6E744-679C-4E85-98DA-7F6CA32A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ROUTED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2E537-1CE2-4CB8-96A7-8EAD773D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250CA-FF7B-45B2-A8F3-5CFDCD5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coordinator selects a specialized workflow. Best for recurring task families.</a:t>
            </a:r>
          </a:p>
        </p:txBody>
      </p:sp>
    </p:spTree>
    <p:extLst>
      <p:ext uri="{BB962C8B-B14F-4D97-AF65-F5344CB8AC3E}">
        <p14:creationId xmlns:p14="http://schemas.microsoft.com/office/powerpoint/2010/main" val="17091673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25">
            <a:extLst xmlns:a="http://schemas.openxmlformats.org/drawingml/2006/main">
              <a:ext uri="{FF2B5EF4-FFF2-40B4-BE49-F238E27FC236}">
                <a16:creationId xmlns:a16="http://schemas.microsoft.com/office/drawing/2014/main" id="{F207877F-1BE3-44EE-B812-2F0F52D4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69EA2-B344-41C5-ACEE-1B618B13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FE003-CD8B-4874-AC9C-1B354EC0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7D6BE-E834-4686-B00A-CF510BA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A9644-C5A3-42A1-87D6-9B4AE653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10CA5-5E24-4648-92DA-B5F8B75C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AB010-4DA1-4A3F-AFC3-7A620E8B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9ECA2-BAA2-47D7-93AE-6234A871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5">
            <a:extLst xmlns:a="http://schemas.openxmlformats.org/drawingml/2006/main">
              <a:ext uri="{FF2B5EF4-FFF2-40B4-BE49-F238E27FC236}">
                <a16:creationId xmlns:a16="http://schemas.microsoft.com/office/drawing/2014/main" id="{7CB5BC67-6C8D-4BAA-9C03-AC07D0F8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60CAD1-B7E6-4398-8F88-960A9F08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Autonomy should rise with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F0728-1DEE-488E-83C9-CF613AAC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82917-32BB-4887-886C-1EDFC605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E5611-5535-4B18-A348-84D0F646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BF9B6-E467-49C7-9593-E77F1C52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557CA-0902-4A50-AE10-32204FD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Suggest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D0487-F6C0-435B-88E1-680239D5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Draft options; a person chooses.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D25B0-3B8E-4D6D-81F0-189A84F0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89BF9-BCBA-46AF-AA1E-944E2785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B0C72-F68E-4EF5-92A8-6DBB2DF2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DF6B3-C499-424C-B57E-5F0172BC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Create artifacts; a person reviews.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FEE39F-8893-49E3-983C-DEED055A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540E8-393A-4A88-BF26-233BD028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72E3F-4718-4CDC-8411-7AD1F85D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Execute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12994-0C3D-461E-9A08-DD70D55D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Act within narrow, reversible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A5A42-E83A-4FFA-BCA1-21DBDA2E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7074D-E019-409F-A4F5-B4B9499B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2BC73-D7F6-43D3-8F29-EED21675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Monitor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3E209C-1377-420F-B1B6-82681FBB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Run repeatedly with logs, thresholds, and stop conditions.</a:t>
            </a:r>
          </a:p>
        </p:txBody>
      </p:sp>
    </p:spTree>
    <p:extLst>
      <p:ext uri="{BB962C8B-B14F-4D97-AF65-F5344CB8AC3E}">
        <p14:creationId xmlns:p14="http://schemas.microsoft.com/office/powerpoint/2010/main" val="18452312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26">
            <a:extLst xmlns:a="http://schemas.openxmlformats.org/drawingml/2006/main">
              <a:ext uri="{FF2B5EF4-FFF2-40B4-BE49-F238E27FC236}">
                <a16:creationId xmlns:a16="http://schemas.microsoft.com/office/drawing/2014/main" id="{4025FFBB-8607-4326-AB1D-7BC5B8D1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ADB58-0701-43C2-A79E-1243683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7928E-D04E-4A82-A6BE-21FBD0DD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35F75-06BB-40F1-9F78-20D5E6A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ED029-1BF4-452B-93F7-B0FA9080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45365-1406-475F-8C46-5373443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0FB68-41E2-4C17-A0E5-CA491EEB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4B301-781F-44FD-80BB-397CFA0D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6">
            <a:extLst xmlns:a="http://schemas.openxmlformats.org/drawingml/2006/main">
              <a:ext uri="{FF2B5EF4-FFF2-40B4-BE49-F238E27FC236}">
                <a16:creationId xmlns:a16="http://schemas.microsoft.com/office/drawing/2014/main" id="{21C418B2-FD97-442E-A225-B5B5A0F2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2D6D5A-D1A8-480A-ABE2-6839C0EA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Failure is usually systemic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07247-4060-49A1-A728-51E000FD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C6D29-CC8C-4ACC-A89B-A88088FA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KNOWLEDGE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89F22-7329-49EE-B90B-4108465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0528A-2660-4C17-A190-58EB1893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Hallucinated facts, stale evidence, weak retrieval, missing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12D14-F880-45B9-879E-745B15E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89FF2-733C-4DFC-A5A8-C6C9035F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F72A6-23D6-4A57-8D4D-9278E1BD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Wrong tool, malformed arguments, unintended writes, repeated loops.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48DDC-243F-48A0-BBBE-E8F25E2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C6507-2A67-427B-BB59-A5A5CEF5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7B717-925A-4A36-9ECF-1975B19B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Unclear ownership, hidden provenance, privacy leakage, premature publication.</a:t>
            </a:r>
          </a:p>
        </p:txBody>
      </p:sp>
    </p:spTree>
    <p:extLst>
      <p:ext uri="{BB962C8B-B14F-4D97-AF65-F5344CB8AC3E}">
        <p14:creationId xmlns:p14="http://schemas.microsoft.com/office/powerpoint/2010/main" val="18780469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27">
            <a:extLst xmlns:a="http://schemas.openxmlformats.org/drawingml/2006/main">
              <a:ext uri="{FF2B5EF4-FFF2-40B4-BE49-F238E27FC236}">
                <a16:creationId xmlns:a16="http://schemas.microsoft.com/office/drawing/2014/main" id="{E768C041-EF60-4648-9881-359A53BE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F3B2C-6FAB-4132-8317-FDFA50A6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FE23F-7D15-4247-A55E-DA5E1ED5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7669-A7ED-4FB6-BC2E-2DBAFAC4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4F6A7-FC0C-4A84-877F-3FD4764B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9B083-1C6C-4804-B98A-F828F194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80720-F72F-452E-B85E-D749F7BA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EB983-3AF7-4BED-8352-3D8F842D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7">
            <a:extLst xmlns:a="http://schemas.openxmlformats.org/drawingml/2006/main">
              <a:ext uri="{FF2B5EF4-FFF2-40B4-BE49-F238E27FC236}">
                <a16:creationId xmlns:a16="http://schemas.microsoft.com/office/drawing/2014/main" id="{2619B7EE-1BC1-4CA4-966D-5CCCD74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CF1695-EC6F-4B60-AB27-15AA775A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Keep the human at the decision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F63E2-9B86-4B7C-B6C2-D4AE0C99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3DAB8-15E9-4C46-B66B-11DE13E4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000"/>
                </a:solidFill>
              </a:defRPr>
            </a:pPr>
            <a:r>
              <a:rPr sz="1275" b="1" i="0">
                <a:solidFill>
                  <a:srgbClr val="FFC000"/>
                </a:solidFill>
              </a:rPr>
              <a:t>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16113-2113-4B65-9DFE-6AE39450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000"/>
                </a:solidFill>
              </a:defRPr>
            </a:pPr>
            <a:r>
              <a:rPr sz="1275" b="1" i="0">
                <a:solidFill>
                  <a:srgbClr val="FFC000"/>
                </a:solidFill>
              </a:rPr>
              <a:t>AGENT PREPARES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7C912-7A0A-4E5A-95FA-AA903C41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000"/>
                </a:solidFill>
              </a:defRPr>
            </a:pPr>
            <a:r>
              <a:rPr sz="1275" b="1" i="0">
                <a:solidFill>
                  <a:srgbClr val="FFC000"/>
                </a:solidFill>
              </a:rPr>
              <a:t>HUMAN DECIDES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920B7-E3CB-4D52-A888-BF926DF9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C7D06-BE6D-4384-A59E-E0A41599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A1D4E-B17D-4D07-9959-C8943133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Search, organize, draft, 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3AEB5-05DB-4F84-BDD7-84D8E5A9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Validate sources, interpretation, and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2C755-4EF9-4643-845A-F704CBD2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CCAD3-08CF-4852-A3FD-C1AB3E6A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Education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BD7A8-608E-4FDC-A7D3-1355C1ED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Prepare materials, examples, feedback drafts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2E149-38DB-4472-B3A8-29FC5AB9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Approve objectives, assessment, grades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7B219-F9FB-45C7-A8F4-6C68B7F3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56350-BEE3-4264-8E4E-2AAC44C4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Community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F131B-3604-4F83-90E6-B1D8D247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86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Adapt formats and draft public assets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8F2106-40DB-4953-A46D-32D770D7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Confirm consent, context, accessibility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44861-075A-4DA5-B040-5D9F4D45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4999D-B232-4959-BF2F-2D109C4C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Publication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135910-6734-4CF7-B3EA-C1AC2630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Assemble a reviewed export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7150C-780B-4C82-8C9D-56ECD328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Approve the exact release</a:t>
            </a:r>
          </a:p>
        </p:txBody>
      </p:sp>
    </p:spTree>
    <p:extLst>
      <p:ext uri="{BB962C8B-B14F-4D97-AF65-F5344CB8AC3E}">
        <p14:creationId xmlns:p14="http://schemas.microsoft.com/office/powerpoint/2010/main" val="281971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28">
            <a:extLst xmlns:a="http://schemas.openxmlformats.org/drawingml/2006/main">
              <a:ext uri="{FF2B5EF4-FFF2-40B4-BE49-F238E27FC236}">
                <a16:creationId xmlns:a16="http://schemas.microsoft.com/office/drawing/2014/main" id="{46A8E41D-76B1-4D99-B44F-8143FC80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EDCE9-3983-42AD-A3E7-442D69D8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4C7FF-E35B-459D-B972-15791876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37DE2-8AAA-40FB-B990-8E4543F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E0F54-C601-4CE4-A58D-2B8B0331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41C66-6C2F-4FB9-AC41-01425D1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FD66E-C4E2-456B-965F-9EE7FA89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4B146-39CE-4A4A-8C20-B236388A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28">
            <a:extLst xmlns:a="http://schemas.openxmlformats.org/drawingml/2006/main">
              <a:ext uri="{FF2B5EF4-FFF2-40B4-BE49-F238E27FC236}">
                <a16:creationId xmlns:a16="http://schemas.microsoft.com/office/drawing/2014/main" id="{E77BB007-C121-450B-80F8-6B81A7AD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C54626-6388-4BF1-ACDC-89239755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Evaluate the whole agent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FB7D0-7961-4F73-BB96-A26D5822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D64AB-F5D3-4C6C-913A-36640F4D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CD737-E9FD-4244-A87C-E4F4F4E2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2B52B-CEFA-4DDD-9006-836A0788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Correctness, relevance, clarity, and traceable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697BA-C361-4FB2-88EC-CA247D6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335D7-0018-49B6-9421-AA2EF7A7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8D5B4-8346-402C-B159-2A691F9A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Task completion, tool reliability, recovery, cost, and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9A5BD-2073-4E0D-B8DF-CA9ECC1D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5AF79-29BD-43C3-93BF-31C83919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84A7F-0791-4E02-9B97-CAD24E4C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Privacy, bias, security, reversibility, and human oversight.</a:t>
            </a:r>
          </a:p>
        </p:txBody>
      </p:sp>
    </p:spTree>
    <p:extLst>
      <p:ext uri="{BB962C8B-B14F-4D97-AF65-F5344CB8AC3E}">
        <p14:creationId xmlns:p14="http://schemas.microsoft.com/office/powerpoint/2010/main" val="24318201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A26CA-5634-4F2B-B648-0C1D4D2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C6B7F-4C21-4BD9-9770-601CCBA4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DC5F0-0D1E-422E-84EB-73407344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0DDF7-3C40-4621-8695-163BB1E8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64C82-8FD2-4699-B18D-E6EFB7A7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ACADEMIC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02C3F-E91E-4EDB-B6FE-F9C49792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Map one agentic workspace to the distinct responsibilities of Tri Dharma.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0B6D8-EA51-4D25-BB64-8FBF8DAA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997896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etadata-rail-30">
            <a:extLst xmlns:a="http://schemas.openxmlformats.org/drawingml/2006/main">
              <a:ext uri="{FF2B5EF4-FFF2-40B4-BE49-F238E27FC236}">
                <a16:creationId xmlns:a16="http://schemas.microsoft.com/office/drawing/2014/main" id="{8C71C1CD-CCB9-4E20-8570-A3A0FF17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0F59F-AB62-49B1-A104-21872D15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51679-B586-4A60-AC27-C79A0ECC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76AF9-C626-47E3-B4C6-E0CB1CBC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E5D16-B67D-4DD4-9825-4C47A110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C61C9-FB89-41BE-91F9-F5AF81C2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EEC71-9221-4EAA-B431-614B22D0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17C38-1C67-421F-8B59-6A8D8C38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0">
            <a:extLst xmlns:a="http://schemas.openxmlformats.org/drawingml/2006/main">
              <a:ext uri="{FF2B5EF4-FFF2-40B4-BE49-F238E27FC236}">
                <a16:creationId xmlns:a16="http://schemas.microsoft.com/office/drawing/2014/main" id="{A44BCA2A-0FFE-4B09-8685-4E308E4B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CC7414-0E1B-4002-B28F-B9E2513D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Three obligations need three operational homes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B88B6-6E6B-4CD5-9BFA-F4F00A65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2C062-6A2B-46A5-8D45-EDAAC70E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8FFCC-4E7F-4A65-83BC-0D8C6F85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61E23-9EB5-4D24-B8DB-841CD267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Sources, knowledge, questions, syntheses, and research outputs.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E7FCB-FEF4-4033-942E-73FF4CC9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Research continuity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03400-5241-467F-B66C-6670692F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.SCHEDULE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BD96E-EB17-4E77-8E51-CA52AEA3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C7EF0-AB0C-4B2F-9811-FC1CB102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Recurring prompts, teaching rhythms, checks, and planned follow-ups.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231BF-3928-491F-BCB9-3970CCE1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Operational continuity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6A593-DB26-466F-909C-7C6CDB1E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E415B-D761-4035-9157-B9975A19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41D63-EBC1-42B9-83AF-1889BD36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Visual rules, templates, examples, and consistent audience-facing artifacts.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3E919-7EA7-4FFD-9651-CC920FD7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Communication continuity</a:t>
            </a:r>
          </a:p>
        </p:txBody>
      </p:sp>
    </p:spTree>
    <p:extLst>
      <p:ext uri="{BB962C8B-B14F-4D97-AF65-F5344CB8AC3E}">
        <p14:creationId xmlns:p14="http://schemas.microsoft.com/office/powerpoint/2010/main" val="15893480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31">
            <a:extLst xmlns:a="http://schemas.openxmlformats.org/drawingml/2006/main">
              <a:ext uri="{FF2B5EF4-FFF2-40B4-BE49-F238E27FC236}">
                <a16:creationId xmlns:a16="http://schemas.microsoft.com/office/drawing/2014/main" id="{5B54D21F-F753-49A0-A4EF-477B3106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3AF33-65FC-4454-ACC7-8E139539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6219B-3ACE-44DE-B9DC-0F3320C1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6433F-F231-4962-ABFF-E1427A70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66BE6-B546-4792-9E00-6A3F6396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E6BE9-BB41-4D8E-A3AA-A9AA3313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DA806-C8FD-408C-8EA7-2CABB6DD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7761F-F803-40C2-9D9E-1C378E38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1">
            <a:extLst xmlns:a="http://schemas.openxmlformats.org/drawingml/2006/main">
              <a:ext uri="{FF2B5EF4-FFF2-40B4-BE49-F238E27FC236}">
                <a16:creationId xmlns:a16="http://schemas.microsoft.com/office/drawing/2014/main" id="{41685B90-E9AD-4EB5-8C73-C382BA3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8D5BAD-E037-4713-B3E0-155ED3B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One source, three reviewed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064FE-861D-49B8-B0B0-942172D9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292E1-959E-4520-AEB5-B64D22E9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BD72A-17F7-44EF-A063-CEF8A579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D5461-9C97-4A9D-B89A-13D6DBA8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39B11-7D01-4CFF-9DFD-48CD7E46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Ingest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59399-022B-487F-93A3-0C98867B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Capture the source and its provenance.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950B1-FA28-431F-B505-4D8EEA9C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D8377-7093-4804-987E-F17C55FC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B3275-C2B5-41EF-94CF-9B6FB80E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Synthesize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9F68F-0385-494A-9D10-2CA70A6E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Extract concepts, claims, and open questions.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22C0A-876E-4EAF-B3E5-66BA2B3D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FBB7E-F406-4F6D-88A8-0C4752B7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0DAB1D-EACE-4A18-9E5E-97E3F6F3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FC426D-9A9B-4791-BF1A-5467C287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Adapt for research, teaching, or community use.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9E4DD5-EC44-4CDF-8348-63F36AA3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9201D8-B08F-4892-B958-C34B60EC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A90AD-9D4F-4782-A917-6105E297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95929-C3FA-4B5C-B44D-21EC6802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Apply domain, privacy, and release checks.</a:t>
            </a:r>
          </a:p>
        </p:txBody>
      </p:sp>
    </p:spTree>
    <p:extLst>
      <p:ext uri="{BB962C8B-B14F-4D97-AF65-F5344CB8AC3E}">
        <p14:creationId xmlns:p14="http://schemas.microsoft.com/office/powerpoint/2010/main" val="210741120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32">
            <a:extLst xmlns:a="http://schemas.openxmlformats.org/drawingml/2006/main">
              <a:ext uri="{FF2B5EF4-FFF2-40B4-BE49-F238E27FC236}">
                <a16:creationId xmlns:a16="http://schemas.microsoft.com/office/drawing/2014/main" id="{F70B5AE8-0E1D-4560-8DD0-7BE53DBC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0825B-E39D-43B7-A164-4F7AE473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E4FB-1A60-430B-83F0-4421B0A9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E9BD6-F164-4CA4-BCA6-8F63587A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22B67-6716-4D01-9E3E-546068EC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58203-616D-4EF4-A679-26A09820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4F44E-7A66-4E4D-B285-B7E9F4DA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92681-24EC-4E2A-B105-6CAF3820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2">
            <a:extLst xmlns:a="http://schemas.openxmlformats.org/drawingml/2006/main">
              <a:ext uri="{FF2B5EF4-FFF2-40B4-BE49-F238E27FC236}">
                <a16:creationId xmlns:a16="http://schemas.microsoft.com/office/drawing/2014/main" id="{39B47125-9E6D-40D0-B19D-95DF296E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05F172-9E0C-4270-AD6E-F0BB322F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Research workspace: evidence before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73917-5812-4D30-AE71-679B15B8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3415B-3524-4AE9-8A50-18AAA082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EAD65-9679-4739-919F-87370DAA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C164A-03D3-49E1-AD5D-6C6FEB5E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Immutable captures and provenance records.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45C58-A95A-4E82-9920-B436DE02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WIKI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FB7EF-0DA3-4AAA-B829-2C4FAD28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33C84-6EE4-417E-B7A8-8E9A3F4D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Maintained concepts, claims, questions, and syntheses.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B3BFB-33F2-4A1F-B621-CE26A91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EBBB4-6CD3-46E2-AE58-2AB0E533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D3B2C-5E39-4814-AA90-61BF43D2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Drafts and artifacts that link back to evidence.</a:t>
            </a:r>
          </a:p>
        </p:txBody>
      </p:sp>
    </p:spTree>
    <p:extLst>
      <p:ext uri="{BB962C8B-B14F-4D97-AF65-F5344CB8AC3E}">
        <p14:creationId xmlns:p14="http://schemas.microsoft.com/office/powerpoint/2010/main" val="4889552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33">
            <a:extLst xmlns:a="http://schemas.openxmlformats.org/drawingml/2006/main">
              <a:ext uri="{FF2B5EF4-FFF2-40B4-BE49-F238E27FC236}">
                <a16:creationId xmlns:a16="http://schemas.microsoft.com/office/drawing/2014/main" id="{FB006CF1-8BDC-4F09-B664-3384949B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55001-BE47-4ECE-B1FD-02DE8CBC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923EB-A354-48A3-9192-7FA366C7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BE885-FB38-435E-8AE1-7F8F08E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DDA0C-DF55-4E1F-AF52-78EAAE19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5E5C0-EF8B-4023-9E9B-6202569D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0D290-9D49-45C9-9436-CAFE8F23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A83CC-D5EB-4DA0-A0B1-081A621B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3">
            <a:extLst xmlns:a="http://schemas.openxmlformats.org/drawingml/2006/main">
              <a:ext uri="{FF2B5EF4-FFF2-40B4-BE49-F238E27FC236}">
                <a16:creationId xmlns:a16="http://schemas.microsoft.com/office/drawing/2014/main" id="{C4EF7B07-67BC-4D5B-90B9-61268C38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BEC251-904D-4C11-B577-24B27881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Education workspace: repeatable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AAF50-7E78-4DA5-95D8-A7194D05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C2E87-DFC0-4DA2-B5ED-C5EA57BE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4A71D-6654-4C5A-81C3-2FEA4994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A3002-C21C-41D1-BA85-3D90A07C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Start from learning outcomes, misconceptions, and authentic tasks.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2F9EE-0C60-456B-B805-DEBE61D3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PRODUCE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AC236-7B53-469B-9533-2A27FAE8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33FA4-89BE-410E-A089-A22116C4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Generate examples, slides, activities, rubrics, and feedback drafts.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2C05F-04B3-42EA-8F3F-B1E5C5A1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7F52E-27B6-439E-9230-9551F580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34DBC-A32C-4A9F-A638-D899021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Check pedagogy, accessibility, integrity, and student data handling.</a:t>
            </a:r>
          </a:p>
        </p:txBody>
      </p:sp>
    </p:spTree>
    <p:extLst>
      <p:ext uri="{BB962C8B-B14F-4D97-AF65-F5344CB8AC3E}">
        <p14:creationId xmlns:p14="http://schemas.microsoft.com/office/powerpoint/2010/main" val="19298524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34">
            <a:extLst xmlns:a="http://schemas.openxmlformats.org/drawingml/2006/main">
              <a:ext uri="{FF2B5EF4-FFF2-40B4-BE49-F238E27FC236}">
                <a16:creationId xmlns:a16="http://schemas.microsoft.com/office/drawing/2014/main" id="{797DB88E-4911-44E5-923A-CFA6FDC6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2A338-6318-42B7-8997-0BD9016B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D4CFF-F02C-405F-AE19-683DA491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4D36F-B853-4F30-9629-09BD1E36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0ED04-FE71-496D-87CD-1A3CB5F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E32F7-CA85-4633-93E7-B32C7F6D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BA054-A47C-4D18-A344-31D36747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15A8B-9E26-4AAB-9643-DD4753DD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4">
            <a:extLst xmlns:a="http://schemas.openxmlformats.org/drawingml/2006/main">
              <a:ext uri="{FF2B5EF4-FFF2-40B4-BE49-F238E27FC236}">
                <a16:creationId xmlns:a16="http://schemas.microsoft.com/office/drawing/2014/main" id="{54FE1085-D4F0-406F-8FF8-6C5E8792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BE16FA-1BFA-4284-B55F-DF4A115A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Community workspace: translate with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4E7B8-4BB2-41B2-8E22-00B6F1E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AC21C-0E91-40BA-89DA-1D672F36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FF982-969F-41C3-97F1-19B85787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B8072-F1B0-45E6-AC60-14ABE4AF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Identify community goals, language, constraints, and consent.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7F8A8-1877-4B31-B84F-1DCAA70F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FORMAT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3E008-155F-453C-8C49-AF8805A0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94E7C-BCE9-4A35-9972-EC72B7D0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Choose accessible media, visual conventions, and distribution channels.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D7A41-AE2F-4C1B-924E-64451D3E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6CEF7-59FF-43F4-9FE1-FF5B2B29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9D582-A3FC-43E8-8A54-06D769F2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Record questions and outcomes as new evidence for the project.</a:t>
            </a:r>
          </a:p>
        </p:txBody>
      </p:sp>
    </p:spTree>
    <p:extLst>
      <p:ext uri="{BB962C8B-B14F-4D97-AF65-F5344CB8AC3E}">
        <p14:creationId xmlns:p14="http://schemas.microsoft.com/office/powerpoint/2010/main" val="17251855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35">
            <a:extLst xmlns:a="http://schemas.openxmlformats.org/drawingml/2006/main">
              <a:ext uri="{FF2B5EF4-FFF2-40B4-BE49-F238E27FC236}">
                <a16:creationId xmlns:a16="http://schemas.microsoft.com/office/drawing/2014/main" id="{F50FA812-082C-4E90-943D-757F9F2A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9BCB2-1A4E-428C-8156-F2E1233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2BD65-DC2E-4D43-B6FB-FBE700B0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13CCD-4190-4E9E-BD84-3E104F86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CA95F-E35E-45F2-805B-63698AD6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9D64B-72C7-4A18-B4CA-3C4F66DF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AABBA-B222-4D2F-BD27-899D8D7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03993-D577-4E6A-B7C3-DBE856AC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5">
            <a:extLst xmlns:a="http://schemas.openxmlformats.org/drawingml/2006/main">
              <a:ext uri="{FF2B5EF4-FFF2-40B4-BE49-F238E27FC236}">
                <a16:creationId xmlns:a16="http://schemas.microsoft.com/office/drawing/2014/main" id="{CA0FECB8-B1C9-4EC0-82E3-732A4C3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15A3A8-FF4A-4A63-A5F0-167857C8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GitHub becomes the coordination backbone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6ABF9-30EA-4E17-8BA1-880DD4D6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EC573-B0BD-431A-8235-46CA4794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ISSUES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12DC0-E20F-4200-9F90-1EC39156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F59AF-3942-4362-8276-20A102BA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Turn goals and open questions into visible, assignable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3FB4A-3BEE-4527-A836-9EA92E80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F3EEC-7809-42D9-B777-B86112E2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F51BE-F93F-47BD-B290-2B42A128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Preserve incremental changes and the reasoning attached to them.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B490E-2E96-4C8E-A2DD-78B35D7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5FEC8-E9FA-4710-8718-53501E7C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F5681-E36A-4EF5-885C-CFB674B1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Create explicit checkpoints before sensitive changes or releases.</a:t>
            </a:r>
          </a:p>
        </p:txBody>
      </p:sp>
    </p:spTree>
    <p:extLst>
      <p:ext uri="{BB962C8B-B14F-4D97-AF65-F5344CB8AC3E}">
        <p14:creationId xmlns:p14="http://schemas.microsoft.com/office/powerpoint/2010/main" val="16108930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36">
            <a:extLst xmlns:a="http://schemas.openxmlformats.org/drawingml/2006/main">
              <a:ext uri="{FF2B5EF4-FFF2-40B4-BE49-F238E27FC236}">
                <a16:creationId xmlns:a16="http://schemas.microsoft.com/office/drawing/2014/main" id="{1D61AD93-FD5F-4CFC-86BC-E11CC652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19F3E-5849-4CAE-9EEE-EEB2D6FF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33AE9-7CE1-472E-BF2A-B46B4052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F7D22-F02E-4309-ACBD-9C455D38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3DC6F-9F0E-4231-BE1D-24C04A1E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77240-FAAD-4C2E-BA20-31B6D0C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77809-E4B4-4ECF-9129-1CB9106D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0B09D-0ABD-4013-964B-77154782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6">
            <a:extLst xmlns:a="http://schemas.openxmlformats.org/drawingml/2006/main">
              <a:ext uri="{FF2B5EF4-FFF2-40B4-BE49-F238E27FC236}">
                <a16:creationId xmlns:a16="http://schemas.microsoft.com/office/drawing/2014/main" id="{DA2533EE-2AE4-41D7-8815-FE09DF6B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E5D547-AF06-4640-A18C-773D62FB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Separate private work from public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BAA3D-57B8-4069-8757-3FF42E25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E1CF5-180A-4C2E-A829-3ACCB7AD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PRIVATE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EE252-EB08-463B-A74B-3C0BBA3A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6B859-2FEB-4CFA-8C70-F51F74DC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Raw data, student information, internal notes, unpublished research, and full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8E0F5-948C-4E49-B8CB-F99B507B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REVIEWED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3F6E7-A35E-4493-B6AA-73045592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13974-8906-48A7-B330-5D21C8B6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Only selected files, checked for rights, privacy, accuracy, and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B5DB3-5034-4FBC-921C-9547ADEB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PUBLIC RELEASE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F4ADD-28C2-47B7-9F6E-F7CC0C90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AF189D-B49E-4B1A-B3EB-8AFB5059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Separate history and explicit human approval for each publication.</a:t>
            </a:r>
          </a:p>
        </p:txBody>
      </p:sp>
    </p:spTree>
    <p:extLst>
      <p:ext uri="{BB962C8B-B14F-4D97-AF65-F5344CB8AC3E}">
        <p14:creationId xmlns:p14="http://schemas.microsoft.com/office/powerpoint/2010/main" val="14720756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0932F-A218-479E-A127-01FA3B70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1F36C-F06C-43ED-A547-B6BA8284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11043-A6B2-4415-A607-E032AF8D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05B74-A70A-4C86-BD57-2F2234D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CDF92-0D4F-4DFD-B128-CEA298E3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55A50-67AF-4AD3-9C02-B760C4BE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Build the workspace carefully—and separate the MVP from the vision.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65C36-5ED4-4AFC-8CB1-CD7A8AA4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94869916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38">
            <a:extLst xmlns:a="http://schemas.openxmlformats.org/drawingml/2006/main">
              <a:ext uri="{FF2B5EF4-FFF2-40B4-BE49-F238E27FC236}">
                <a16:creationId xmlns:a16="http://schemas.microsoft.com/office/drawing/2014/main" id="{5296073B-7083-4307-BA3A-EB1D4599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8B8A7-459A-4BFF-866B-FE590C1B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CC072-E6F5-4C7A-A84A-1DF14934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9425E-9524-436F-90B0-9D43831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F9A62-CF15-4233-A97A-A6D42673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47E7C-47D5-4297-9B62-EA5DCA3F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B65D2-4BB2-4760-AFA3-32A7B359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07F9B-40BE-4027-9B9D-1D2D668D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8">
            <a:extLst xmlns:a="http://schemas.openxmlformats.org/drawingml/2006/main">
              <a:ext uri="{FF2B5EF4-FFF2-40B4-BE49-F238E27FC236}">
                <a16:creationId xmlns:a16="http://schemas.microsoft.com/office/drawing/2014/main" id="{BAFBD7BE-604D-4835-999E-6AA1DACF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E97640-59AF-4B6D-9538-CDD49484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AFK Research: what exists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5B1A4-AE57-4107-9166-3D8F7071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E888B-B1C1-4A53-B65C-39C70807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IMPLEMENTED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ABF3F-A477-4072-ADB3-2704DF55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0E09C-B739-4CDD-9B97-1C25C045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private GitHub-hosted setup CLI, workspace scaffolding, bundled skills, managed updates, and Schedule Runner infrastructure.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23303-57BA-46AE-9629-1E23204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COMPOSED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41B0D-4F67-476F-8FE4-A4A063EF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D86A9-AAB8-4786-99AF-7729827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Research ingestion, presentations, design, and scheduled prompts can be assembled through installed skills and tools.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F2EC6-6A83-4589-81BC-A653CDA5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28E98-B44E-48F6-B4E5-D15F7437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55296-CCB3-4AA8-A531-CBDD3FD0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One-command Tri Dharma transformation, automatic grading, and automatic public portfolio updates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3550828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metadata-rail-39">
            <a:extLst xmlns:a="http://schemas.openxmlformats.org/drawingml/2006/main">
              <a:ext uri="{FF2B5EF4-FFF2-40B4-BE49-F238E27FC236}">
                <a16:creationId xmlns:a16="http://schemas.microsoft.com/office/drawing/2014/main" id="{3C0351A9-8B65-434A-96BC-8FB4E36C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0FAF3-346D-4A4B-B60D-88042C54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005AB-1050-44F9-8AA9-B86E5CA7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0A937-3057-4A1F-BD85-FCBA01F3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E1182-EE8E-4F0C-B801-8117F423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409DC-6282-4618-ADC3-1130846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0EF84-CDBF-4007-A00E-702D69E1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C3319-4E55-4BC7-BEFC-352D5C14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39">
            <a:extLst xmlns:a="http://schemas.openxmlformats.org/drawingml/2006/main">
              <a:ext uri="{FF2B5EF4-FFF2-40B4-BE49-F238E27FC236}">
                <a16:creationId xmlns:a16="http://schemas.microsoft.com/office/drawing/2014/main" id="{58096DC3-6766-4984-81F0-69322A1B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7359C3-CA26-40EF-A815-743E6D79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implemented architecture is layered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1B27F-B2AB-42B4-8EB1-BC41D719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B9A21-0E99-4F5D-AFD1-7BFA4C7A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45C5D-C5E7-4C78-A29E-F3509BB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E3B75-F8DC-45E2-BD1B-788344E0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0552A-32E6-40CE-8C82-762B14DC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02BB7-7CB3-4B90-AFFC-76211B4B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An existing GitHub-backed worktree.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13F0E-6DFB-4624-97F8-CCD2E2CA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6E3DC-F6D6-4B37-AB3C-45E92AD5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BE88A-50A6-4855-8F19-7DA40927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Installer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C738D-D085-4B81-9D8E-770B760D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CLI verifies, plans, applies, and checks setup.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000E0-C19D-4EFC-A745-77D28CC0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15C74-8BC9-44C1-B6ED-8387D495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B8F70-C11A-456F-89CD-5EC10829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Workspaces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5B732-0D24-4BDE-A688-2A8CD4F1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.brain plus optional .design and .schedule.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B11B2-509C-49EA-95A3-865A7B1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A20DD0-B600-4FA1-8A31-7852B1C2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D74B9D-86B2-4D73-9517-5E1346F7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1DD10-6C40-4261-9DCC-3A75462C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Reusable workflows for agents to follow.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56C174-7244-4C24-8966-5B2E847E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E13BA4-7EA5-43F4-9EE7-A09998A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5D69A-B318-4229-BE29-BB8CF2DE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History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CD3F3B-ABC1-46CB-A7E3-07909C7E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Issues, commits, manifests, and logs.</a:t>
            </a:r>
          </a:p>
        </p:txBody>
      </p:sp>
    </p:spTree>
    <p:extLst>
      <p:ext uri="{BB962C8B-B14F-4D97-AF65-F5344CB8AC3E}">
        <p14:creationId xmlns:p14="http://schemas.microsoft.com/office/powerpoint/2010/main" val="149361238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40">
            <a:extLst xmlns:a="http://schemas.openxmlformats.org/drawingml/2006/main">
              <a:ext uri="{FF2B5EF4-FFF2-40B4-BE49-F238E27FC236}">
                <a16:creationId xmlns:a16="http://schemas.microsoft.com/office/drawing/2014/main" id="{662CDAD2-4F3D-4387-8C34-FB1504D8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03A9D-4836-4520-8574-5D1B271A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7CEE4-6807-4D92-B1F6-2908C727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9377C-0B6E-44A2-95E3-BD3DCB4C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876D3-293A-4A8B-A7BA-FF088899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82F72-DBC6-48BB-A905-31A54B23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D949C-4CE4-4B17-A0E4-61F79859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4B658-7533-4067-BD66-52BCB58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0">
            <a:extLst xmlns:a="http://schemas.openxmlformats.org/drawingml/2006/main">
              <a:ext uri="{FF2B5EF4-FFF2-40B4-BE49-F238E27FC236}">
                <a16:creationId xmlns:a16="http://schemas.microsoft.com/office/drawing/2014/main" id="{10A74955-C113-41D9-A5C8-7B5D705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79D080-A48B-404F-856E-BA1B56DF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Start with verifiable prerequisites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5559C-AE20-46E1-8E74-DF0F0469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2C625-696D-4A35-B3CB-191309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096D3-04C2-4704-A3AF-21FAC581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5EB83-7E33-45F2-AC65-8FC149F6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Node.js 18.18 or newer and npm.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4390F-DF27-4312-9315-9BC262F2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51DF5-413D-419B-B08A-31358447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C6374-0B04-47A6-AAEA-3B20712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An existing Git worktree with a reachable GitHub origin.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58275-B8BA-4ED2-948D-D5A1ACA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2E68C-FB06-4236-B24C-F96A472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8BA1B-81BD-4832-833C-8C6C334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Decide whether the project needs Design, Schedule, Claude Code, or Sandcastle support.</a:t>
            </a:r>
          </a:p>
        </p:txBody>
      </p:sp>
    </p:spTree>
    <p:extLst>
      <p:ext uri="{BB962C8B-B14F-4D97-AF65-F5344CB8AC3E}">
        <p14:creationId xmlns:p14="http://schemas.microsoft.com/office/powerpoint/2010/main" val="20563110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etadata-rail-41">
            <a:extLst xmlns:a="http://schemas.openxmlformats.org/drawingml/2006/main">
              <a:ext uri="{FF2B5EF4-FFF2-40B4-BE49-F238E27FC236}">
                <a16:creationId xmlns:a16="http://schemas.microsoft.com/office/drawing/2014/main" id="{9E64FDF4-629E-42A1-963E-F5D73845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D62B7-68C0-4D57-88E0-0ECB9965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CDF1B-EBE2-46AC-9563-0F3CE9B5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56BF9-E31F-4BF2-9D62-B6025E1B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C2764-5B55-450A-9673-9BB76D0B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B7344-78B1-4ECE-B11E-DBC0EFC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8B3A0-B3F2-464A-8B51-2DDF647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7CE3E-55AA-46AF-BCD7-3935D674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1">
            <a:extLst xmlns:a="http://schemas.openxmlformats.org/drawingml/2006/main">
              <a:ext uri="{FF2B5EF4-FFF2-40B4-BE49-F238E27FC236}">
                <a16:creationId xmlns:a16="http://schemas.microsoft.com/office/drawing/2014/main" id="{3A9DB8F6-0AC3-485F-B0FB-786F50F0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0B52A9-F1E0-4B27-AAB2-FC4B5031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Preview before applying 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6DD31-76CA-494E-A8EF-504B4861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33A75-4DB8-4775-B268-643176C4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5341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01110-EEAA-40B8-8316-185FD68B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59626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# 1. Preview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npx --yes --package github:ORG/AFK-RESEARCH-REPO \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  afk-research init --dry-run --yes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# 2. Apply after review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npx --yes --package github:ORG/AFK-RESEARCH-REPO \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  afk-research init --design --schedule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B3E43-0B05-4AB2-A1D1-41D4149B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65BD0-21E5-4A66-B818-5B55A2CE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The target project and GitHub remote must already exist.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C874E-7855-4390-88C9-6F640A3D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69A54-E2AE-42FF-912B-8DED5659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385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Dry run shows planned files and dependencies without writing.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C79F5-2BE1-465B-AC1E-90655FA2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CHOOSE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042D7-3F17-49DA-B998-9843CBDC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053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Optional workspaces are explicit setup decisions.</a:t>
            </a:r>
          </a:p>
        </p:txBody>
      </p:sp>
    </p:spTree>
    <p:extLst>
      <p:ext uri="{BB962C8B-B14F-4D97-AF65-F5344CB8AC3E}">
        <p14:creationId xmlns:p14="http://schemas.microsoft.com/office/powerpoint/2010/main" val="77238889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42">
            <a:extLst xmlns:a="http://schemas.openxmlformats.org/drawingml/2006/main">
              <a:ext uri="{FF2B5EF4-FFF2-40B4-BE49-F238E27FC236}">
                <a16:creationId xmlns:a16="http://schemas.microsoft.com/office/drawing/2014/main" id="{2F22A233-366C-4D91-BB60-E74D1B5B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47AF0-7B28-4FDD-B458-F3E4DCEC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5EBB7-5116-4472-9008-9838A96A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D3D7F-6E17-4B6D-ACD2-6A03C2AA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5A172-AD61-4080-A81F-C6FFC123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A5C0E-85D9-4EA4-A34E-79E787D5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50620-BCCA-4987-B368-B3F6C354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40BA9-F81E-47C6-955C-E94FBC17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2">
            <a:extLst xmlns:a="http://schemas.openxmlformats.org/drawingml/2006/main">
              <a:ext uri="{FF2B5EF4-FFF2-40B4-BE49-F238E27FC236}">
                <a16:creationId xmlns:a16="http://schemas.microsoft.com/office/drawing/2014/main" id="{B8763AC2-2566-4071-98C9-FF0E9792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5325EC-F637-4462-A9A2-27D61A6B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workspace has a readable anatomy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31400-2103-4B8B-AA23-4D46C96A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1767D-110C-48F9-BC31-3A75A7DC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.BRAIN/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2A2B5-7BC5-4075-AA78-D469D3A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8E462-2D20-499E-8B56-E75A3BF1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Raw provenance, maintained wiki knowledge, indexes, logs, and durable outputs.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8B21B-8E8A-4158-B5F3-1B0AECC5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.DESIGN/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0C4BB-858D-4338-BE6C-E2D96C77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EA3EF-4FC1-4033-8F16-34C799C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Named Design Systems with DESIGN.md, tokens, templates, and examples.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6BBAC-9E84-449B-85D3-8A22B86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.SCHEDULE/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6AE63-C07D-4ADA-9452-3F2DB6EE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85A26-26B2-4442-8B30-12E0BFE1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Task Prompts, runner guidance, and machine-local operational state.</a:t>
            </a:r>
          </a:p>
        </p:txBody>
      </p:sp>
    </p:spTree>
    <p:extLst>
      <p:ext uri="{BB962C8B-B14F-4D97-AF65-F5344CB8AC3E}">
        <p14:creationId xmlns:p14="http://schemas.microsoft.com/office/powerpoint/2010/main" val="208574728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43">
            <a:extLst xmlns:a="http://schemas.openxmlformats.org/drawingml/2006/main">
              <a:ext uri="{FF2B5EF4-FFF2-40B4-BE49-F238E27FC236}">
                <a16:creationId xmlns:a16="http://schemas.microsoft.com/office/drawing/2014/main" id="{030F6D29-2160-4FCF-BC71-5388B738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EB0FE-3DF7-45E3-AA8F-7410F48D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9D909-9D30-431A-A720-A4805761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EECE0-A6B5-459F-A121-4D179017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1EA53-EA77-47BE-AD6B-CE4FD6F8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E95CE-6E8E-4F95-BD67-DE679783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4A63E-F75F-4082-8C06-069A3C44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E13D1-5476-4F59-B84D-9A84C37B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3">
            <a:extLst xmlns:a="http://schemas.openxmlformats.org/drawingml/2006/main">
              <a:ext uri="{FF2B5EF4-FFF2-40B4-BE49-F238E27FC236}">
                <a16:creationId xmlns:a16="http://schemas.microsoft.com/office/drawing/2014/main" id="{A508EA5D-E591-428A-92B1-D19852EC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B5639B-841E-459D-BAC7-B8DA5025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Implement a research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2F82F-720D-49EE-807D-86608B6F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9C876-A1F5-4DDF-B28E-0E97F038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7572A-B22B-400C-BA07-6E7E3DB2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5EB3F-93D1-410C-AFA2-C7F0AD10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1F30E-6E8E-44B8-8AEB-9BCC2F5D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A9C57-8D71-4353-87E3-2E4CDC9C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Save the source and provenance without rewriting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96F5B-325B-4AE8-8294-ABFEF77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71D3E-FE54-463E-BE29-E4E3214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F332D-98DA-4763-BD39-88422BCD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B8887-6F21-498C-B090-F6F54C64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Create source notes, concepts, claims, and questions.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2EF7B-4E33-48E2-9D6B-227B2408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D4F4A-26BF-41E7-85B9-96811F55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89977-0F04-42FB-898A-0A7E0316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D313B-E0EF-4DEB-BCCB-AF58BA34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Answer from maintained knowledge with precise citations.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F5E7FA-F4DB-437E-8209-18FEF4D1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F1FCAB-DAE8-4537-B6DA-45228A0B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459D74-D253-4BFF-8290-EFD6E27B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Validate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A89C32-BFED-4106-BBB2-127B822E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Inspect original evidence before making consequential claims.</a:t>
            </a:r>
          </a:p>
        </p:txBody>
      </p:sp>
    </p:spTree>
    <p:extLst>
      <p:ext uri="{BB962C8B-B14F-4D97-AF65-F5344CB8AC3E}">
        <p14:creationId xmlns:p14="http://schemas.microsoft.com/office/powerpoint/2010/main" val="71695486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44">
            <a:extLst xmlns:a="http://schemas.openxmlformats.org/drawingml/2006/main">
              <a:ext uri="{FF2B5EF4-FFF2-40B4-BE49-F238E27FC236}">
                <a16:creationId xmlns:a16="http://schemas.microsoft.com/office/drawing/2014/main" id="{9F77EE9F-E43A-4C43-BFC6-C0F5823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6718D-BED3-4844-A481-B4F14B0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11DE0-7521-44AC-B452-7671EDD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4C8A7-771D-4931-8D92-7E6EE66B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8AFC3-0A66-4198-9769-CEFEA662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A3B77-03BC-47F0-8C40-6CB8DF3F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06BFA-A7A2-4123-B69C-01C5085E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FD3F3-8147-41BE-9033-03619C9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4">
            <a:extLst xmlns:a="http://schemas.openxmlformats.org/drawingml/2006/main">
              <a:ext uri="{FF2B5EF4-FFF2-40B4-BE49-F238E27FC236}">
                <a16:creationId xmlns:a16="http://schemas.microsoft.com/office/drawing/2014/main" id="{5B5C93C3-AC66-4681-AB2C-33613106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DC9894-8232-4EEF-A605-4F8FDC88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Implement a teaching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4D553-5BDE-40FB-9CD7-C718D689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4B7EA-951B-4DB1-BA9C-E9530766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7B0DE-8FB4-4275-8922-4F2CB06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DA1B-4530-44B3-A075-C54A983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44B67-35F6-45D9-8CD7-4EF760EE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9DA58-99B1-4822-9530-C8C323F8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Set learning outcomes and audience assumptions.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57A53-F4F6-4255-8DDF-BDF8F693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E7FA0-2E36-4D2C-A5E5-96AEB56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ADA38-653C-4EB0-A037-CAB20748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5DB5E-C05F-4F13-9F33-9C1152FD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Bring relevant evidence and prior decisions into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FF072-A71F-4913-BE9B-C4647E11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FB9F2-83D2-4A50-8647-C87BC9A9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0DDD1-EF39-4830-936F-B383B84F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Generate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269B5-2EA8-4F81-8E6E-AD4F911E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Create lecture materials, examples, activities, and notes.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26E6ED-6123-453C-B780-FA441098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4C965-3154-4017-B838-36BA6FF5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D67859-75C3-44BB-B4C5-30DD4B00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3E94E-82C4-4084-A4A3-B7C23FE1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Check accuracy, pedagogy, accessibility, and integrity.</a:t>
            </a:r>
          </a:p>
        </p:txBody>
      </p:sp>
    </p:spTree>
    <p:extLst>
      <p:ext uri="{BB962C8B-B14F-4D97-AF65-F5344CB8AC3E}">
        <p14:creationId xmlns:p14="http://schemas.microsoft.com/office/powerpoint/2010/main" val="94751510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45">
            <a:extLst xmlns:a="http://schemas.openxmlformats.org/drawingml/2006/main">
              <a:ext uri="{FF2B5EF4-FFF2-40B4-BE49-F238E27FC236}">
                <a16:creationId xmlns:a16="http://schemas.microsoft.com/office/drawing/2014/main" id="{0A950A11-990C-4907-8BDF-B0AF9DB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67818-FDBD-4B67-AF09-1E155C84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C6CF6-273A-48DB-B837-E2825AA5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86EF7-AC57-48D4-A43D-1B89820E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D38E8-E934-47A7-BB03-F3974313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5D4C3-93DF-4897-9622-E3243163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4A12F-E02D-4158-9CC6-B37832C6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A1ED8-D1F1-4749-AAE1-C31C1349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5">
            <a:extLst xmlns:a="http://schemas.openxmlformats.org/drawingml/2006/main">
              <a:ext uri="{FF2B5EF4-FFF2-40B4-BE49-F238E27FC236}">
                <a16:creationId xmlns:a16="http://schemas.microsoft.com/office/drawing/2014/main" id="{D252C528-08B7-4768-92E2-6E64DB96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7D86DF-B446-4A49-8C1E-10B04AE2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Implement a community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7E901-3613-4655-9B3F-6EE9BB13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E506F-F7D1-4FBD-B366-808232E1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3D29E-6D60-4E22-A808-05463262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89360-08F9-4DE1-A7FD-1FC1C70B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268A1-C66B-4520-B73D-325C42B7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A3713-E204-44D0-8E59-FF9F9787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Record community needs, language, and constraints.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68151-38B8-491D-B74F-3864630B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215B4-8DBA-41B7-844B-D8327650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3BDF5-23DC-4AE4-9E94-845725BF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Adapt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E9321-C002-4704-BA3C-BDC4CB8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Translate expertise into appropriate formats.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20975-8CF3-44FC-A9CB-AD25AA0D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1EFA1-AA44-47DE-87FD-F4F46EDC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FF97F-5B02-495B-8631-9980ADBC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E8EFA-833F-44C1-B8A1-EF107AA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Check consent, rights, privacy, and local relevance.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0C5D9-B0B4-4A80-9051-7DBC77D2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316684-01E1-4F73-8676-39B5E8DC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791353-2082-4E43-9302-B379D008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Learn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EEEFA9-6FD2-4E76-B8C6-EF721889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Capture feedback as evidence for the next iteration.</a:t>
            </a:r>
          </a:p>
        </p:txBody>
      </p:sp>
    </p:spTree>
    <p:extLst>
      <p:ext uri="{BB962C8B-B14F-4D97-AF65-F5344CB8AC3E}">
        <p14:creationId xmlns:p14="http://schemas.microsoft.com/office/powerpoint/2010/main" val="174111204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46">
            <a:extLst xmlns:a="http://schemas.openxmlformats.org/drawingml/2006/main">
              <a:ext uri="{FF2B5EF4-FFF2-40B4-BE49-F238E27FC236}">
                <a16:creationId xmlns:a16="http://schemas.microsoft.com/office/drawing/2014/main" id="{92855578-2C33-4793-A5AD-C843C406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9AEB8-A79E-4D0E-A52D-E58D990A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15838-FE9D-4387-A3A2-E944023B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E5E61-B944-4F65-B754-9011BB15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6646E-CEA1-4CC2-886A-352E9DC2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969A6-7B5C-46FB-A5B5-ACA2647C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8543F-43F5-47C6-ADF5-9641DDA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B3F0C-019E-47FB-BBF9-6073B0B3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6">
            <a:extLst xmlns:a="http://schemas.openxmlformats.org/drawingml/2006/main">
              <a:ext uri="{FF2B5EF4-FFF2-40B4-BE49-F238E27FC236}">
                <a16:creationId xmlns:a16="http://schemas.microsoft.com/office/drawing/2014/main" id="{B88AEFAA-E6C9-40B9-A9A3-96613CA5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B4D319-33FA-4A3F-B914-BB2773CF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Schedule recurring work, not judgment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E055E-7036-49C9-9DC3-729ABF70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CEE23-9E0C-4F2D-BB21-265F6D9D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GOOD CANDIDATES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E6AB9-1FB2-4B33-B7A2-61805634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523EF-EFF5-49BF-9227-82F52C71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Status checks, inbox triage, reminders, source monitoring, and draft preparation.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63A19-C7F0-4285-B25C-C3F75096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REQUIRE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817A4-2E3F-4B62-A54B-854B72A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59861-BEE7-4985-B8F2-81032D71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Grades, student feedback, research conclusions, external messages, and publication.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B16A4-08D0-4255-A2A9-675E82C2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RUNNER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BCF37-F7CB-46D7-83D2-DBFE9202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A573A-2D55-429D-BF78-7FC88184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Readiness checks, explicit start/stop, logs, wake handling, and task-level prompts.</a:t>
            </a:r>
          </a:p>
        </p:txBody>
      </p:sp>
    </p:spTree>
    <p:extLst>
      <p:ext uri="{BB962C8B-B14F-4D97-AF65-F5344CB8AC3E}">
        <p14:creationId xmlns:p14="http://schemas.microsoft.com/office/powerpoint/2010/main" val="187768355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tadata-rail-47">
            <a:extLst xmlns:a="http://schemas.openxmlformats.org/drawingml/2006/main">
              <a:ext uri="{FF2B5EF4-FFF2-40B4-BE49-F238E27FC236}">
                <a16:creationId xmlns:a16="http://schemas.microsoft.com/office/drawing/2014/main" id="{90F4B982-EB64-41AB-A01A-43120FB9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3B650-D1F7-4742-954F-E86E2BD2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F4DC6-31BB-4BF3-9833-F82DDD1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7F585-BC38-4946-894C-CA5ED08B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2E90A-FFC1-444E-B9F2-5DC3D3D4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47A81-AA88-417E-901A-6E62EE43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A6708-6A8F-4E86-86A5-C5928AB5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09521-A8EE-44C0-8AD9-3FEEB9A0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7">
            <a:extLst xmlns:a="http://schemas.openxmlformats.org/drawingml/2006/main">
              <a:ext uri="{FF2B5EF4-FFF2-40B4-BE49-F238E27FC236}">
                <a16:creationId xmlns:a16="http://schemas.microsoft.com/office/drawing/2014/main" id="{9EC90CC3-4E67-4314-AF5B-70E9DA83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9147AD-2674-4F36-BBCC-930A3165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Managed updates preserve project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30F08-C91E-4227-9CBA-84273FDF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1C8F7-C904-4070-9F24-213AF0DF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8FFF2-9369-41D4-8A05-8F23E4E3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A53BE-AB8E-46DA-BECA-3DFA21C9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C843D-5D35-4955-8EDB-9EC23394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0BC68-A3AD-4239-823F-4CECAA4E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Read intended managed files and current hashes.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D7A08-5114-45F2-A972-FC2DBC0B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0E7A3-9BB6-4F5A-8655-D8702FF5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72473-C09B-459A-9965-5517F48A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8B00B-8921-4F82-BE6C-3ABE7C06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Replace only unchanged installer-owned files.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98D58-FE82-40C5-A1DB-13178B96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D2EEA-4C6F-41C3-9AB6-B40AADE0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6CD93-40FE-4AFF-BC12-CE2541EA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Preserve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33185-FDC1-4B58-94F0-DC5D159F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Keep user-edited files and unknown local skills.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3D6C9-E1DF-4F48-B3F9-E2EFD0BF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26931-B0A5-4368-9113-26B0E06F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8A7C0-DE8A-4905-BBE3-76DB11DF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Sidecar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00BEE5-3C0E-4967-AC52-A637EE39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Write the new generated alternative beside conflicts.</a:t>
            </a:r>
          </a:p>
        </p:txBody>
      </p:sp>
    </p:spTree>
    <p:extLst>
      <p:ext uri="{BB962C8B-B14F-4D97-AF65-F5344CB8AC3E}">
        <p14:creationId xmlns:p14="http://schemas.microsoft.com/office/powerpoint/2010/main" val="181473914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48">
            <a:extLst xmlns:a="http://schemas.openxmlformats.org/drawingml/2006/main">
              <a:ext uri="{FF2B5EF4-FFF2-40B4-BE49-F238E27FC236}">
                <a16:creationId xmlns:a16="http://schemas.microsoft.com/office/drawing/2014/main" id="{54624665-FBAF-4D15-A73B-D960F6A4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ED663-0002-46EA-B6C9-5820E4C3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666CA-03B6-499D-90B1-3747E256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ADOPTION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D3569-1AFC-44BB-B4BF-B88973B0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DF792-F35F-4D3E-80F0-8BA5E770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76CD1-5CD9-44D2-8371-81C744F6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285D7-ACA6-464B-92D7-C8842347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789FC-11DE-4682-A66E-D830F4B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8">
            <a:extLst xmlns:a="http://schemas.openxmlformats.org/drawingml/2006/main">
              <a:ext uri="{FF2B5EF4-FFF2-40B4-BE49-F238E27FC236}">
                <a16:creationId xmlns:a16="http://schemas.microsoft.com/office/drawing/2014/main" id="{3CD83A53-9332-46D4-A114-3EE7AC2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51F91F-9C78-4414-AC11-B1018231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 30-day adoption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E9DAC-9E1E-40D2-9B67-0C19607B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7EA7C-5F5C-4F1B-9D2F-E445E225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WEEK 1 ·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C785E-4982-4010-B3BD-BF14929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86B17-40A9-454B-8FE8-F4CF314C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Choose one low-risk workflow and define evidence, owner, and success criteria.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12BF1-270F-4D7E-ADBF-C380FE5D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WEEK 2 · 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75A18-DB4A-40FA-AE50-DD0CA27B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68545-1902-4269-A154-3F95E7F8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Create the workspace, run manually, and record every failure.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CECFB-7F5B-4A3F-8148-2B75FA49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WEEK 3–4 · GOVERN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FFB8D-23DD-43D1-AB3D-C854A80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53CA6-5AA9-4032-8F6B-01B9AFF9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Add review gates, evaluate outputs, then automate only stable preparation steps.</a:t>
            </a:r>
          </a:p>
        </p:txBody>
      </p:sp>
    </p:spTree>
    <p:extLst>
      <p:ext uri="{BB962C8B-B14F-4D97-AF65-F5344CB8AC3E}">
        <p14:creationId xmlns:p14="http://schemas.microsoft.com/office/powerpoint/2010/main" val="62228334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metadata-rail-49">
            <a:extLst xmlns:a="http://schemas.openxmlformats.org/drawingml/2006/main">
              <a:ext uri="{FF2B5EF4-FFF2-40B4-BE49-F238E27FC236}">
                <a16:creationId xmlns:a16="http://schemas.microsoft.com/office/drawing/2014/main" id="{849F2888-AC5E-4270-A660-B192F877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7FB3C-43A5-4D17-8088-E3A4B755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32CC7-FB99-40B8-8FEE-F3F4BF06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A5F34-4735-4975-9CF3-61C3E7E8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A5273-2539-4823-9121-37192309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489C5-C5F2-4492-AE1A-515DE3DF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C4D3B-2987-4B97-A178-E61ECD7B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A2150-39FD-4C1F-B116-83382C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nchor-block-49">
            <a:extLst xmlns:a="http://schemas.openxmlformats.org/drawingml/2006/main">
              <a:ext uri="{FF2B5EF4-FFF2-40B4-BE49-F238E27FC236}">
                <a16:creationId xmlns:a16="http://schemas.microsoft.com/office/drawing/2014/main" id="{0047701B-3790-4D7D-AB9E-DEDBBAD5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A082E1-8881-4A0A-AF2B-39E46A77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Key 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486B6-DBE9-4226-B8D4-F75A73AC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3D3BF-E237-4950-A77A-4ED6004B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9056E-D481-41AF-9F34-F7FC5AC3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Indonesia · Law No. 12/2012 on Higher Education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28861-A7AD-4CC7-8037-9096022F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4C4D2-44C5-48BE-BF0B-89E68122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337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Yao et al. · ReAct (2023)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F52AB-294B-43D1-9F02-8A5BB76C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463FF-A7EE-40BA-A76B-1BB11353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10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Schick et al. · Toolformer (2023)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3F9DD-F5EC-4E1B-8518-0D720330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981EB-2A8F-4645-82DF-9CEAC6E5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Park et al. · Generative Agents (2023)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DD421-76A0-4C39-836F-77008591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A13FD-3593-4432-8F8A-EA1E70F4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Lewis et al. · Retrieval-Augmented Generation (2020)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D67B2-8807-4399-BC1E-B28C1A71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3295A-EB7B-4C96-A2B2-77C11BDC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337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UNESCO · Guidance for GenAI in Education and Research (2023)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044BA-C444-4D3A-B4EA-1C96D22D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F7827B-A007-4BEF-92A3-61033746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NIST · AI Risk Management Framework 1.0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560B54-1041-4673-9854-3CB7972A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93E483-A1C6-4628-9860-88E5006F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AFK Research · private MVP snapshot at 6c76a25</a:t>
            </a:r>
          </a:p>
        </p:txBody>
      </p:sp>
    </p:spTree>
    <p:extLst>
      <p:ext uri="{BB962C8B-B14F-4D97-AF65-F5344CB8AC3E}">
        <p14:creationId xmlns:p14="http://schemas.microsoft.com/office/powerpoint/2010/main" val="2335842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EFB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F6484-E601-4239-ACFC-AC6AB4C1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D6E25-99D0-4E82-B830-97FE65F9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52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7723C-BA07-4434-B356-F3B792C3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30E8F-C4CD-4B34-ACDE-6B1D51B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14A74"/>
                </a:solidFill>
              </a:defRPr>
            </a:pPr>
            <a:r>
              <a:rPr sz="4650" b="1" i="0">
                <a:solidFill>
                  <a:srgbClr val="014A74"/>
                </a:solidFill>
              </a:rPr>
              <a:t>The lecturer remains the accountable expert.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CD359-5A3E-4F13-B47F-04D664EF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558F9-193C-454C-AB03-EDB74827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14A74"/>
                </a:solidFill>
              </a:defRPr>
            </a:pPr>
            <a:r>
              <a:rPr sz="2100" b="1" i="0">
                <a:solidFill>
                  <a:srgbClr val="014A74"/>
                </a:solidFill>
              </a:rPr>
              <a:t>The agent carries context, prepares work, uses bounded tools, and makes the process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44E86-37CE-468F-8D18-31E6EE63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47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BUILD THE SYSTEM.</a:t>
            </a:r>
          </a:p>
          <a:p xmlns:a="http://schemas.openxmlformats.org/drawingml/2006/main">
            <a:pPr algn="ctr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KEEP THE JUDGMENT.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B18B1-C13F-4380-A6D8-66CA7C1C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27344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2026-07-27T16:10:17.0370000Z</dcterms:created>
  <dcterms:modified xsi:type="dcterms:W3CDTF">2026-07-27T16:10:17.0370000Z</dcterms:modified>
</coreProperties>
</file>