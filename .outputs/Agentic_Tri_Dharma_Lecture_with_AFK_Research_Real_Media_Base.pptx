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d39ceb518a4ed9" /><Relationship Type="http://schemas.openxmlformats.org/officeDocument/2006/relationships/extended-properties" Target="/docProps/app.xml" Id="R5623c290ac084e56" /><Relationship Type="http://schemas.openxmlformats.org/officeDocument/2006/relationships/officeDocument" Target="/ppt/presentation.xml" Id="R83cbd7e7fe3b43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372420af69467f"/>
  </p:sldMasterIdLst>
  <p:notesMasterIdLst>
    <p:notesMasterId xmlns:r="http://schemas.openxmlformats.org/officeDocument/2006/relationships" r:id="R84ce3aa55d834893"/>
  </p:notesMasterIdLst>
  <p:sldIdLst>
    <p:sldId xmlns:r="http://schemas.openxmlformats.org/officeDocument/2006/relationships" id="256" r:id="Ra58227338e19498b"/>
    <p:sldId xmlns:r="http://schemas.openxmlformats.org/officeDocument/2006/relationships" id="257" r:id="R579ae63863834a30"/>
    <p:sldId xmlns:r="http://schemas.openxmlformats.org/officeDocument/2006/relationships" id="258" r:id="R58f7ffb552414db6"/>
    <p:sldId xmlns:r="http://schemas.openxmlformats.org/officeDocument/2006/relationships" id="259" r:id="R30be2c78733942aa"/>
    <p:sldId xmlns:r="http://schemas.openxmlformats.org/officeDocument/2006/relationships" id="260" r:id="R8ad9ffa7a6184e15"/>
    <p:sldId xmlns:r="http://schemas.openxmlformats.org/officeDocument/2006/relationships" id="261" r:id="Raab61c69b4b64bb0"/>
    <p:sldId xmlns:r="http://schemas.openxmlformats.org/officeDocument/2006/relationships" id="262" r:id="R4b66a39dd6884ad7"/>
    <p:sldId xmlns:r="http://schemas.openxmlformats.org/officeDocument/2006/relationships" id="263" r:id="R8ddd0a20a6554706"/>
    <p:sldId xmlns:r="http://schemas.openxmlformats.org/officeDocument/2006/relationships" id="264" r:id="R660d890300f44bfe"/>
    <p:sldId xmlns:r="http://schemas.openxmlformats.org/officeDocument/2006/relationships" id="265" r:id="R9102dccf1f7148e6"/>
    <p:sldId xmlns:r="http://schemas.openxmlformats.org/officeDocument/2006/relationships" id="266" r:id="R65ee145f937a4fa0"/>
    <p:sldId xmlns:r="http://schemas.openxmlformats.org/officeDocument/2006/relationships" id="267" r:id="R4c6b078b1a574e3c"/>
    <p:sldId xmlns:r="http://schemas.openxmlformats.org/officeDocument/2006/relationships" id="268" r:id="R8b26c0f7b5e7468f"/>
    <p:sldId xmlns:r="http://schemas.openxmlformats.org/officeDocument/2006/relationships" id="269" r:id="R0ca2e29a6d634728"/>
    <p:sldId xmlns:r="http://schemas.openxmlformats.org/officeDocument/2006/relationships" id="270" r:id="R8c31b734d7554fde"/>
    <p:sldId xmlns:r="http://schemas.openxmlformats.org/officeDocument/2006/relationships" id="271" r:id="Racf4510223cc47e1"/>
    <p:sldId xmlns:r="http://schemas.openxmlformats.org/officeDocument/2006/relationships" id="272" r:id="Rfcff0859730d40d5"/>
    <p:sldId xmlns:r="http://schemas.openxmlformats.org/officeDocument/2006/relationships" id="273" r:id="R083c8d8203464b02"/>
    <p:sldId xmlns:r="http://schemas.openxmlformats.org/officeDocument/2006/relationships" id="274" r:id="R72e53fe783694d37"/>
    <p:sldId xmlns:r="http://schemas.openxmlformats.org/officeDocument/2006/relationships" id="275" r:id="R570f7ce8cc4b4141"/>
    <p:sldId xmlns:r="http://schemas.openxmlformats.org/officeDocument/2006/relationships" id="276" r:id="R5c209d12dfab42d6"/>
    <p:sldId xmlns:r="http://schemas.openxmlformats.org/officeDocument/2006/relationships" id="277" r:id="Rd9c9d79cceb64380"/>
    <p:sldId xmlns:r="http://schemas.openxmlformats.org/officeDocument/2006/relationships" id="278" r:id="Rf45e2ee1b9d9448d"/>
    <p:sldId xmlns:r="http://schemas.openxmlformats.org/officeDocument/2006/relationships" id="279" r:id="R79abe795cb544ff6"/>
    <p:sldId xmlns:r="http://schemas.openxmlformats.org/officeDocument/2006/relationships" id="280" r:id="R9aeb97b7ef004cb1"/>
    <p:sldId xmlns:r="http://schemas.openxmlformats.org/officeDocument/2006/relationships" id="281" r:id="R3151e0a82cb84bd7"/>
    <p:sldId xmlns:r="http://schemas.openxmlformats.org/officeDocument/2006/relationships" id="282" r:id="R7d32615f9d2f47b4"/>
    <p:sldId xmlns:r="http://schemas.openxmlformats.org/officeDocument/2006/relationships" id="283" r:id="R823590f666d5467e"/>
    <p:sldId xmlns:r="http://schemas.openxmlformats.org/officeDocument/2006/relationships" id="284" r:id="R194d10cc89444718"/>
    <p:sldId xmlns:r="http://schemas.openxmlformats.org/officeDocument/2006/relationships" id="285" r:id="Reb54b08529b74ab0"/>
    <p:sldId xmlns:r="http://schemas.openxmlformats.org/officeDocument/2006/relationships" id="286" r:id="R5ac171661615461f"/>
    <p:sldId xmlns:r="http://schemas.openxmlformats.org/officeDocument/2006/relationships" id="287" r:id="Rb7ce0e08dcfb4798"/>
    <p:sldId xmlns:r="http://schemas.openxmlformats.org/officeDocument/2006/relationships" id="288" r:id="R1b3e5799724242f2"/>
    <p:sldId xmlns:r="http://schemas.openxmlformats.org/officeDocument/2006/relationships" id="289" r:id="R36abb53aeb2b487d"/>
    <p:sldId xmlns:r="http://schemas.openxmlformats.org/officeDocument/2006/relationships" id="290" r:id="Rd229738e24194f53"/>
    <p:sldId xmlns:r="http://schemas.openxmlformats.org/officeDocument/2006/relationships" id="291" r:id="R4d36367a0edc489b"/>
    <p:sldId xmlns:r="http://schemas.openxmlformats.org/officeDocument/2006/relationships" id="292" r:id="Rff88c4b9ba824e3f"/>
    <p:sldId xmlns:r="http://schemas.openxmlformats.org/officeDocument/2006/relationships" id="293" r:id="R10981fe8b7b94a4f"/>
    <p:sldId xmlns:r="http://schemas.openxmlformats.org/officeDocument/2006/relationships" id="294" r:id="R39df1fe225ae4f5f"/>
    <p:sldId xmlns:r="http://schemas.openxmlformats.org/officeDocument/2006/relationships" id="295" r:id="R61d27b2a81944340"/>
    <p:sldId xmlns:r="http://schemas.openxmlformats.org/officeDocument/2006/relationships" id="296" r:id="R4c736886c63c486e"/>
    <p:sldId xmlns:r="http://schemas.openxmlformats.org/officeDocument/2006/relationships" id="297" r:id="Ra237ca5dcdf74f35"/>
    <p:sldId xmlns:r="http://schemas.openxmlformats.org/officeDocument/2006/relationships" id="298" r:id="R499b8e0b1da64015"/>
    <p:sldId xmlns:r="http://schemas.openxmlformats.org/officeDocument/2006/relationships" id="299" r:id="R882f61cc664b4183"/>
    <p:sldId xmlns:r="http://schemas.openxmlformats.org/officeDocument/2006/relationships" id="300" r:id="R84d6aef33942474f"/>
    <p:sldId xmlns:r="http://schemas.openxmlformats.org/officeDocument/2006/relationships" id="301" r:id="R670840a101894736"/>
    <p:sldId xmlns:r="http://schemas.openxmlformats.org/officeDocument/2006/relationships" id="302" r:id="R9fd4fb336af846ee"/>
    <p:sldId xmlns:r="http://schemas.openxmlformats.org/officeDocument/2006/relationships" id="303" r:id="Rc30ba46e8ad547cc"/>
    <p:sldId xmlns:r="http://schemas.openxmlformats.org/officeDocument/2006/relationships" id="304" r:id="R6000f57fab6a4d0d"/>
    <p:sldId xmlns:r="http://schemas.openxmlformats.org/officeDocument/2006/relationships" id="305" r:id="R56ed13867d2f40a4"/>
    <p:sldId xmlns:r="http://schemas.openxmlformats.org/officeDocument/2006/relationships" id="306" r:id="R87519826b88a4409"/>
    <p:sldId xmlns:r="http://schemas.openxmlformats.org/officeDocument/2006/relationships" id="307" r:id="Ree6145395c9d4c8d"/>
    <p:sldId xmlns:r="http://schemas.openxmlformats.org/officeDocument/2006/relationships" id="308" r:id="R294fd37c445f45cf"/>
    <p:sldId xmlns:r="http://schemas.openxmlformats.org/officeDocument/2006/relationships" id="309" r:id="R642e126c1b4444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f0a4f18e5b495b" /><Relationship Type="http://schemas.openxmlformats.org/officeDocument/2006/relationships/slideMaster" Target="/ppt/slideMasters/slideMaster1.xml" Id="Rcb372420af69467f" /><Relationship Type="http://schemas.openxmlformats.org/officeDocument/2006/relationships/notesMaster" Target="/ppt/notesMasters/notesMaster1.xml" Id="R84ce3aa55d834893" /><Relationship Type="http://schemas.openxmlformats.org/officeDocument/2006/relationships/presProps" Target="/ppt/presProps.xml" Id="R458939c6de794747" /><Relationship Type="http://schemas.openxmlformats.org/officeDocument/2006/relationships/tableStyles" Target="/ppt/tableStyles.xml" Id="Re2c9da0156e94b48" /><Relationship Type="http://schemas.openxmlformats.org/officeDocument/2006/relationships/slide" Target="/ppt/slides/slide1.xml" Id="Ra58227338e19498b" /><Relationship Type="http://schemas.openxmlformats.org/officeDocument/2006/relationships/slide" Target="/ppt/slides/slide2.xml" Id="R579ae63863834a30" /><Relationship Type="http://schemas.openxmlformats.org/officeDocument/2006/relationships/slide" Target="/ppt/slides/slide3.xml" Id="R58f7ffb552414db6" /><Relationship Type="http://schemas.openxmlformats.org/officeDocument/2006/relationships/slide" Target="/ppt/slides/slide4.xml" Id="R30be2c78733942aa" /><Relationship Type="http://schemas.openxmlformats.org/officeDocument/2006/relationships/slide" Target="/ppt/slides/slide5.xml" Id="R8ad9ffa7a6184e15" /><Relationship Type="http://schemas.openxmlformats.org/officeDocument/2006/relationships/slide" Target="/ppt/slides/slide6.xml" Id="Raab61c69b4b64bb0" /><Relationship Type="http://schemas.openxmlformats.org/officeDocument/2006/relationships/slide" Target="/ppt/slides/slide7.xml" Id="R4b66a39dd6884ad7" /><Relationship Type="http://schemas.openxmlformats.org/officeDocument/2006/relationships/slide" Target="/ppt/slides/slide8.xml" Id="R8ddd0a20a6554706" /><Relationship Type="http://schemas.openxmlformats.org/officeDocument/2006/relationships/slide" Target="/ppt/slides/slide9.xml" Id="R660d890300f44bfe" /><Relationship Type="http://schemas.openxmlformats.org/officeDocument/2006/relationships/slide" Target="/ppt/slides/slide10.xml" Id="R9102dccf1f7148e6" /><Relationship Type="http://schemas.openxmlformats.org/officeDocument/2006/relationships/slide" Target="/ppt/slides/slide11.xml" Id="R65ee145f937a4fa0" /><Relationship Type="http://schemas.openxmlformats.org/officeDocument/2006/relationships/slide" Target="/ppt/slides/slide12.xml" Id="R4c6b078b1a574e3c" /><Relationship Type="http://schemas.openxmlformats.org/officeDocument/2006/relationships/slide" Target="/ppt/slides/slide13.xml" Id="R8b26c0f7b5e7468f" /><Relationship Type="http://schemas.openxmlformats.org/officeDocument/2006/relationships/slide" Target="/ppt/slides/slide14.xml" Id="R0ca2e29a6d634728" /><Relationship Type="http://schemas.openxmlformats.org/officeDocument/2006/relationships/slide" Target="/ppt/slides/slide15.xml" Id="R8c31b734d7554fde" /><Relationship Type="http://schemas.openxmlformats.org/officeDocument/2006/relationships/slide" Target="/ppt/slides/slide16.xml" Id="Racf4510223cc47e1" /><Relationship Type="http://schemas.openxmlformats.org/officeDocument/2006/relationships/slide" Target="/ppt/slides/slide17.xml" Id="Rfcff0859730d40d5" /><Relationship Type="http://schemas.openxmlformats.org/officeDocument/2006/relationships/slide" Target="/ppt/slides/slide18.xml" Id="R083c8d8203464b02" /><Relationship Type="http://schemas.openxmlformats.org/officeDocument/2006/relationships/slide" Target="/ppt/slides/slide19.xml" Id="R72e53fe783694d37" /><Relationship Type="http://schemas.openxmlformats.org/officeDocument/2006/relationships/slide" Target="/ppt/slides/slide20.xml" Id="R570f7ce8cc4b4141" /><Relationship Type="http://schemas.openxmlformats.org/officeDocument/2006/relationships/slide" Target="/ppt/slides/slide21.xml" Id="R5c209d12dfab42d6" /><Relationship Type="http://schemas.openxmlformats.org/officeDocument/2006/relationships/slide" Target="/ppt/slides/slide22.xml" Id="Rd9c9d79cceb64380" /><Relationship Type="http://schemas.openxmlformats.org/officeDocument/2006/relationships/slide" Target="/ppt/slides/slide23.xml" Id="Rf45e2ee1b9d9448d" /><Relationship Type="http://schemas.openxmlformats.org/officeDocument/2006/relationships/slide" Target="/ppt/slides/slide24.xml" Id="R79abe795cb544ff6" /><Relationship Type="http://schemas.openxmlformats.org/officeDocument/2006/relationships/slide" Target="/ppt/slides/slide25.xml" Id="R9aeb97b7ef004cb1" /><Relationship Type="http://schemas.openxmlformats.org/officeDocument/2006/relationships/slide" Target="/ppt/slides/slide26.xml" Id="R3151e0a82cb84bd7" /><Relationship Type="http://schemas.openxmlformats.org/officeDocument/2006/relationships/slide" Target="/ppt/slides/slide27.xml" Id="R7d32615f9d2f47b4" /><Relationship Type="http://schemas.openxmlformats.org/officeDocument/2006/relationships/slide" Target="/ppt/slides/slide28.xml" Id="R823590f666d5467e" /><Relationship Type="http://schemas.openxmlformats.org/officeDocument/2006/relationships/slide" Target="/ppt/slides/slide29.xml" Id="R194d10cc89444718" /><Relationship Type="http://schemas.openxmlformats.org/officeDocument/2006/relationships/slide" Target="/ppt/slides/slide30.xml" Id="Reb54b08529b74ab0" /><Relationship Type="http://schemas.openxmlformats.org/officeDocument/2006/relationships/slide" Target="/ppt/slides/slide31.xml" Id="R5ac171661615461f" /><Relationship Type="http://schemas.openxmlformats.org/officeDocument/2006/relationships/slide" Target="/ppt/slides/slide32.xml" Id="Rb7ce0e08dcfb4798" /><Relationship Type="http://schemas.openxmlformats.org/officeDocument/2006/relationships/slide" Target="/ppt/slides/slide33.xml" Id="R1b3e5799724242f2" /><Relationship Type="http://schemas.openxmlformats.org/officeDocument/2006/relationships/slide" Target="/ppt/slides/slide34.xml" Id="R36abb53aeb2b487d" /><Relationship Type="http://schemas.openxmlformats.org/officeDocument/2006/relationships/slide" Target="/ppt/slides/slide35.xml" Id="Rd229738e24194f53" /><Relationship Type="http://schemas.openxmlformats.org/officeDocument/2006/relationships/slide" Target="/ppt/slides/slide36.xml" Id="R4d36367a0edc489b" /><Relationship Type="http://schemas.openxmlformats.org/officeDocument/2006/relationships/slide" Target="/ppt/slides/slide37.xml" Id="Rff88c4b9ba824e3f" /><Relationship Type="http://schemas.openxmlformats.org/officeDocument/2006/relationships/slide" Target="/ppt/slides/slide38.xml" Id="R10981fe8b7b94a4f" /><Relationship Type="http://schemas.openxmlformats.org/officeDocument/2006/relationships/slide" Target="/ppt/slides/slide39.xml" Id="R39df1fe225ae4f5f" /><Relationship Type="http://schemas.openxmlformats.org/officeDocument/2006/relationships/slide" Target="/ppt/slides/slide40.xml" Id="R61d27b2a81944340" /><Relationship Type="http://schemas.openxmlformats.org/officeDocument/2006/relationships/slide" Target="/ppt/slides/slide41.xml" Id="R4c736886c63c486e" /><Relationship Type="http://schemas.openxmlformats.org/officeDocument/2006/relationships/slide" Target="/ppt/slides/slide42.xml" Id="Ra237ca5dcdf74f35" /><Relationship Type="http://schemas.openxmlformats.org/officeDocument/2006/relationships/slide" Target="/ppt/slides/slide43.xml" Id="R499b8e0b1da64015" /><Relationship Type="http://schemas.openxmlformats.org/officeDocument/2006/relationships/slide" Target="/ppt/slides/slide44.xml" Id="R882f61cc664b4183" /><Relationship Type="http://schemas.openxmlformats.org/officeDocument/2006/relationships/slide" Target="/ppt/slides/slide45.xml" Id="R84d6aef33942474f" /><Relationship Type="http://schemas.openxmlformats.org/officeDocument/2006/relationships/slide" Target="/ppt/slides/slide46.xml" Id="R670840a101894736" /><Relationship Type="http://schemas.openxmlformats.org/officeDocument/2006/relationships/slide" Target="/ppt/slides/slide47.xml" Id="R9fd4fb336af846ee" /><Relationship Type="http://schemas.openxmlformats.org/officeDocument/2006/relationships/slide" Target="/ppt/slides/slide48.xml" Id="Rc30ba46e8ad547cc" /><Relationship Type="http://schemas.openxmlformats.org/officeDocument/2006/relationships/slide" Target="/ppt/slides/slide49.xml" Id="R6000f57fab6a4d0d" /><Relationship Type="http://schemas.openxmlformats.org/officeDocument/2006/relationships/slide" Target="/ppt/slides/slide50.xml" Id="R56ed13867d2f40a4" /><Relationship Type="http://schemas.openxmlformats.org/officeDocument/2006/relationships/slide" Target="/ppt/slides/slide51.xml" Id="R87519826b88a4409" /><Relationship Type="http://schemas.openxmlformats.org/officeDocument/2006/relationships/slide" Target="/ppt/slides/slide52.xml" Id="Ree6145395c9d4c8d" /><Relationship Type="http://schemas.openxmlformats.org/officeDocument/2006/relationships/slide" Target="/ppt/slides/slide53.xml" Id="R294fd37c445f45cf" /><Relationship Type="http://schemas.openxmlformats.org/officeDocument/2006/relationships/slide" Target="/ppt/slides/slide54.xml" Id="R642e126c1b4444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ad601bbdfa4d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b479a5610e4637" /><Relationship Type="http://schemas.openxmlformats.org/officeDocument/2006/relationships/notesMaster" Target="/ppt/notesMasters/notesMaster1.xml" Id="R4a26ce4d366d4f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9ff93053464db8" /><Relationship Type="http://schemas.openxmlformats.org/officeDocument/2006/relationships/notesMaster" Target="/ppt/notesMasters/notesMaster1.xml" Id="R47e64b40d0434b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d84dba03834bcd" /><Relationship Type="http://schemas.openxmlformats.org/officeDocument/2006/relationships/notesMaster" Target="/ppt/notesMasters/notesMaster1.xml" Id="Re5d969b8742845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dd5b3bda8a455f" /><Relationship Type="http://schemas.openxmlformats.org/officeDocument/2006/relationships/notesMaster" Target="/ppt/notesMasters/notesMaster1.xml" Id="R32e0fa3ef5314c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b9aba59f3b42fb" /><Relationship Type="http://schemas.openxmlformats.org/officeDocument/2006/relationships/notesMaster" Target="/ppt/notesMasters/notesMaster1.xml" Id="R093d9aef1c9f4f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f6f502b1954236" /><Relationship Type="http://schemas.openxmlformats.org/officeDocument/2006/relationships/notesMaster" Target="/ppt/notesMasters/notesMaster1.xml" Id="Ra0be447dc0c142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359621abd84cb8" /><Relationship Type="http://schemas.openxmlformats.org/officeDocument/2006/relationships/notesMaster" Target="/ppt/notesMasters/notesMaster1.xml" Id="Rd1cf6dfe5ade4d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96ab981575456a" /><Relationship Type="http://schemas.openxmlformats.org/officeDocument/2006/relationships/notesMaster" Target="/ppt/notesMasters/notesMaster1.xml" Id="R22971b723ee34a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e77416e98941ee" /><Relationship Type="http://schemas.openxmlformats.org/officeDocument/2006/relationships/notesMaster" Target="/ppt/notesMasters/notesMaster1.xml" Id="R07dcc7041cb348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d7853db8ed495b" /><Relationship Type="http://schemas.openxmlformats.org/officeDocument/2006/relationships/notesMaster" Target="/ppt/notesMasters/notesMaster1.xml" Id="R6e2142f844204cb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2b7589e36564e26" /><Relationship Type="http://schemas.openxmlformats.org/officeDocument/2006/relationships/notesMaster" Target="/ppt/notesMasters/notesMaster1.xml" Id="R6aab4baf8f6143a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e6240354a6449e" /><Relationship Type="http://schemas.openxmlformats.org/officeDocument/2006/relationships/notesMaster" Target="/ppt/notesMasters/notesMaster1.xml" Id="Rc7e3694859f5494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36b0bf7977437d" /><Relationship Type="http://schemas.openxmlformats.org/officeDocument/2006/relationships/notesMaster" Target="/ppt/notesMasters/notesMaster1.xml" Id="R78bd96801c3e4e6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960237952f3464f" /><Relationship Type="http://schemas.openxmlformats.org/officeDocument/2006/relationships/notesMaster" Target="/ppt/notesMasters/notesMaster1.xml" Id="R2aad3c1f5a0b459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c8dd229c0784031" /><Relationship Type="http://schemas.openxmlformats.org/officeDocument/2006/relationships/notesMaster" Target="/ppt/notesMasters/notesMaster1.xml" Id="Rc98acab0d6d4494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3e463e0bc4a43ae" /><Relationship Type="http://schemas.openxmlformats.org/officeDocument/2006/relationships/notesMaster" Target="/ppt/notesMasters/notesMaster1.xml" Id="R73f15ad65542420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6a0041986e44e0d" /><Relationship Type="http://schemas.openxmlformats.org/officeDocument/2006/relationships/notesMaster" Target="/ppt/notesMasters/notesMaster1.xml" Id="Re2f4e0cbc16743d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98a2fe80b2d48af" /><Relationship Type="http://schemas.openxmlformats.org/officeDocument/2006/relationships/notesMaster" Target="/ppt/notesMasters/notesMaster1.xml" Id="Rf8300aeb716244d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e1b4593be964080" /><Relationship Type="http://schemas.openxmlformats.org/officeDocument/2006/relationships/notesMaster" Target="/ppt/notesMasters/notesMaster1.xml" Id="Rb9e09315cc5341a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b559a2846ab4014" /><Relationship Type="http://schemas.openxmlformats.org/officeDocument/2006/relationships/notesMaster" Target="/ppt/notesMasters/notesMaster1.xml" Id="R177ed25cb040465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80df3105c8b4c8c" /><Relationship Type="http://schemas.openxmlformats.org/officeDocument/2006/relationships/notesMaster" Target="/ppt/notesMasters/notesMaster1.xml" Id="R8c62fc924c274f1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7b1b9498f3d48a2" /><Relationship Type="http://schemas.openxmlformats.org/officeDocument/2006/relationships/notesMaster" Target="/ppt/notesMasters/notesMaster1.xml" Id="Rbf176b7aa61349a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c1088364a1d46d2" /><Relationship Type="http://schemas.openxmlformats.org/officeDocument/2006/relationships/notesMaster" Target="/ppt/notesMasters/notesMaster1.xml" Id="R06716a4e7bb34e6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d0d51ad89c54224" /><Relationship Type="http://schemas.openxmlformats.org/officeDocument/2006/relationships/notesMaster" Target="/ppt/notesMasters/notesMaster1.xml" Id="Refc61b5c4d664b7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9fadc44c00b4e26" /><Relationship Type="http://schemas.openxmlformats.org/officeDocument/2006/relationships/notesMaster" Target="/ppt/notesMasters/notesMaster1.xml" Id="Rb6d8dac55ac648a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46507f458714d22" /><Relationship Type="http://schemas.openxmlformats.org/officeDocument/2006/relationships/notesMaster" Target="/ppt/notesMasters/notesMaster1.xml" Id="R92322159e2db4fc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3c768d7da9e4f4d" /><Relationship Type="http://schemas.openxmlformats.org/officeDocument/2006/relationships/notesMaster" Target="/ppt/notesMasters/notesMaster1.xml" Id="Rb7a28539779949e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b1ad243dd2b4a8f" /><Relationship Type="http://schemas.openxmlformats.org/officeDocument/2006/relationships/notesMaster" Target="/ppt/notesMasters/notesMaster1.xml" Id="R26506573b63c421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aa8df6bcf924111" /><Relationship Type="http://schemas.openxmlformats.org/officeDocument/2006/relationships/notesMaster" Target="/ppt/notesMasters/notesMaster1.xml" Id="R491c8472ac9e444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e941b4d570a4aa4" /><Relationship Type="http://schemas.openxmlformats.org/officeDocument/2006/relationships/notesMaster" Target="/ppt/notesMasters/notesMaster1.xml" Id="R0ef97fc1dce1409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b169c819cdc43a3" /><Relationship Type="http://schemas.openxmlformats.org/officeDocument/2006/relationships/notesMaster" Target="/ppt/notesMasters/notesMaster1.xml" Id="R57c1a67293b24f7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1e6f99b48824be4" /><Relationship Type="http://schemas.openxmlformats.org/officeDocument/2006/relationships/notesMaster" Target="/ppt/notesMasters/notesMaster1.xml" Id="R78a3b6459f5f43c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9668c4f93cf41d5" /><Relationship Type="http://schemas.openxmlformats.org/officeDocument/2006/relationships/notesMaster" Target="/ppt/notesMasters/notesMaster1.xml" Id="R2110a1560c3444a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b924d63cbc24b1d" /><Relationship Type="http://schemas.openxmlformats.org/officeDocument/2006/relationships/notesMaster" Target="/ppt/notesMasters/notesMaster1.xml" Id="Rcb34952a1297400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dda9735f79d4f52" /><Relationship Type="http://schemas.openxmlformats.org/officeDocument/2006/relationships/notesMaster" Target="/ppt/notesMasters/notesMaster1.xml" Id="R5748d6da297648a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b5bd03a518a4279" /><Relationship Type="http://schemas.openxmlformats.org/officeDocument/2006/relationships/notesMaster" Target="/ppt/notesMasters/notesMaster1.xml" Id="Rcb6ee48322f34c7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a994c44504548f0" /><Relationship Type="http://schemas.openxmlformats.org/officeDocument/2006/relationships/notesMaster" Target="/ppt/notesMasters/notesMaster1.xml" Id="R2d5025c1a3c544f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c563431917f4887" /><Relationship Type="http://schemas.openxmlformats.org/officeDocument/2006/relationships/notesMaster" Target="/ppt/notesMasters/notesMaster1.xml" Id="R5aa24e2d6549439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ddb0c7721134bdf" /><Relationship Type="http://schemas.openxmlformats.org/officeDocument/2006/relationships/notesMaster" Target="/ppt/notesMasters/notesMaster1.xml" Id="Rab375c5671ec4e0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b17cd64467c449a" /><Relationship Type="http://schemas.openxmlformats.org/officeDocument/2006/relationships/notesMaster" Target="/ppt/notesMasters/notesMaster1.xml" Id="R3a58fbce1e87430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7425fc75cdd24ddc" /><Relationship Type="http://schemas.openxmlformats.org/officeDocument/2006/relationships/notesMaster" Target="/ppt/notesMasters/notesMaster1.xml" Id="R3c00272da6944cd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033f8ee9a504ec6" /><Relationship Type="http://schemas.openxmlformats.org/officeDocument/2006/relationships/notesMaster" Target="/ppt/notesMasters/notesMaster1.xml" Id="Rda52540c5fdc4afd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9ad04a675eb0426f" /><Relationship Type="http://schemas.openxmlformats.org/officeDocument/2006/relationships/notesMaster" Target="/ppt/notesMasters/notesMaster1.xml" Id="R3321b9caeeb64231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ee8d5b78a51145f1" /><Relationship Type="http://schemas.openxmlformats.org/officeDocument/2006/relationships/notesMaster" Target="/ppt/notesMasters/notesMaster1.xml" Id="R46ff3b95d3b3444b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80809f1c418d481d" /><Relationship Type="http://schemas.openxmlformats.org/officeDocument/2006/relationships/notesMaster" Target="/ppt/notesMasters/notesMaster1.xml" Id="Rbcc9489e252c47f2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fbe6166a17eb4c09" /><Relationship Type="http://schemas.openxmlformats.org/officeDocument/2006/relationships/notesMaster" Target="/ppt/notesMasters/notesMaster1.xml" Id="Ra46e51c3534b4643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7261895a247141ab" /><Relationship Type="http://schemas.openxmlformats.org/officeDocument/2006/relationships/notesMaster" Target="/ppt/notesMasters/notesMaster1.xml" Id="Ra1d9341f242f413a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7024a8f10acc4209" /><Relationship Type="http://schemas.openxmlformats.org/officeDocument/2006/relationships/notesMaster" Target="/ppt/notesMasters/notesMaster1.xml" Id="R6758797fa03a4118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cb2fc0e4bb2645e9" /><Relationship Type="http://schemas.openxmlformats.org/officeDocument/2006/relationships/notesMaster" Target="/ppt/notesMasters/notesMaster1.xml" Id="Rc439a76800144c0e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e0c63138480e4fe7" /><Relationship Type="http://schemas.openxmlformats.org/officeDocument/2006/relationships/notesMaster" Target="/ppt/notesMasters/notesMaster1.xml" Id="R90951963849749f2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17edaa0426bb4482" /><Relationship Type="http://schemas.openxmlformats.org/officeDocument/2006/relationships/notesMaster" Target="/ppt/notesMasters/notesMaster1.xml" Id="R2e99f6c01f264a8c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df1e8638dab24ec3" /><Relationship Type="http://schemas.openxmlformats.org/officeDocument/2006/relationships/notesMaster" Target="/ppt/notesMasters/notesMaster1.xml" Id="R5c691a4077bd4ef3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21ffb9b309c24a33" /><Relationship Type="http://schemas.openxmlformats.org/officeDocument/2006/relationships/notesMaster" Target="/ppt/notesMasters/notesMaster1.xml" Id="R36b108f5412940d1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f207305c34c141e9" /><Relationship Type="http://schemas.openxmlformats.org/officeDocument/2006/relationships/notesMaster" Target="/ppt/notesMasters/notesMaster1.xml" Id="R7fb1314e1ee348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positioning the lecture as a bridge from foundations to implementation. The central claim is that useful academic agents are governed systems, not merely smarter chat interfaces.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https://peraturan.bpk.go.id/Details/%2039063/uu-no-12-tahun-2012</a:t>
            </a:r>
          </a:p>
          <a:p xmlns:a="http://schemas.openxmlformats.org/drawingml/2006/main">
            <a:r>
              <a:t>- [private-local-root]/dcse-summer-ppt/.brain/wiki/concepts/agentic-academic-workspace.md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Set expectations: this is not a product pitch. It is a conceptual and practical lecture that ends with a concrete implementation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lecture synthesis;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legal and institutional frame only to establish the three obligations. The rest of the lecture asks how one academic workspace can support them without collapsing their distinct responsibilities.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https://peraturan.bpk.go.id/Details/%2039063/uu-no-12-tahun-2012</a:t>
            </a:r>
          </a:p>
          <a:p xmlns:a="http://schemas.openxmlformats.org/drawingml/2006/main">
            <a:r>
              <a:t>- [private-local-root]/dcse-summer-ppt/.brain/wiki/concepts/tri-dharma-workspace-architecture.md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Files, sources, deadlines, design choices, feedback, and publication decisions are distributed across tools—and across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[private-local-root]/dcse-summer-ppt/.brain/wiki/concepts/agentic-academic-workspace.md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[private-local-root]/dcse-summer-ppt/.brain/wiki/concepts/agentic-academic-workspace.md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 agentic workspace gives work a durable home, bounded tools, repeatable workflows, and a visible review trail.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[private-local-root]/dcse-summer-ppt/.brain/wiki/concepts/agentic-academic-workspace.md</a:t>
            </a:r>
          </a:p>
          <a:p xmlns:a="http://schemas.openxmlformats.org/drawingml/2006/main">
            <a:r>
              <a:t>- https://airc.nist.gov/airmf-resources/airmf/5-sec-core/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divider to reset the room. What changes when a language model becomes part of a working system?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lecture synthesis;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distinctions functional. An LLM is a model. An agent is a system built around a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lecture synthesis;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fluent generation and factual grounding are separate design problems. This is why external tools and evidence matter.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https://arxiv.org/abs/2302.04761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stronger prompt improves a single interaction. Persistent project memory and workflows improve continuity across interactions.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lecture synthesis;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https://arxiv.org/abs/2210.03629</a:t>
            </a:r>
          </a:p>
          <a:p xmlns:a="http://schemas.openxmlformats.org/drawingml/2006/main">
            <a:r>
              <a:t>- https://arxiv.org/abs/2302.04761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loop is the central mental model for the lecture. Agent quality depends on every part of the loop, not only on the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https://arxiv.org/abs/2210.03629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Risk rises as tools move from reading to creating to changing external state. Permissions and approval gates must rise with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https://arxiv.org/abs/2302.04761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https://arxiv.org/abs/2304.03442</a:t>
            </a:r>
          </a:p>
          <a:p xmlns:a="http://schemas.openxmlformats.org/drawingml/2006/main">
            <a:r>
              <a:t>- [private-local-root]/dcse-summer-ppt/.brain/wiki/concepts/agentic-academic-workspace.md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https://airc.nist.gov/airmf-resources/airmf/5-sec-core/</a:t>
            </a:r>
          </a:p>
          <a:p xmlns:a="http://schemas.openxmlformats.org/drawingml/2006/main">
            <a:r>
              <a:t>- https://www.unesco.org/en/articles/guidance-generative-ai-education-and-research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[private-local-root]/dcse-summer-ppt/.brain/wiki/concepts/agentic-academic-workspace.md</a:t>
            </a:r>
          </a:p>
          <a:p xmlns:a="http://schemas.openxmlformats.org/drawingml/2006/main">
            <a:r>
              <a:t>- [private-local-root]/dcse-summer-ppt/.brain/wiki/sources/afk-research-mvp-repository.md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divider to reset the room. Planning, acting, remembering, reflecting, and governing the loop.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lecture synthesis;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ReAct paper shows the value of interleaving reasoning traces and actions. In deployed systems, internal reasoning need not be exposed; the important operational pattern is plan–act–observe–revise.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https://arxiv.org/abs/2210.03629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https://arxiv.org/abs/2210.03629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https://arxiv.org/abs/2302.04761</a:t>
            </a:r>
          </a:p>
          <a:p xmlns:a="http://schemas.openxmlformats.org/drawingml/2006/main">
            <a:r>
              <a:t>- https://airc.nist.gov/airmf-resources/airmf/5-sec-core/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right; emphasize that the loop repeats after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https://arxiv.org/abs/2304.03442</a:t>
            </a:r>
          </a:p>
          <a:p xmlns:a="http://schemas.openxmlformats.org/drawingml/2006/main">
            <a:r>
              <a:t>- https://arxiv.org/abs/2005.11401</a:t>
            </a:r>
          </a:p>
          <a:p xmlns:a="http://schemas.openxmlformats.org/drawingml/2006/main">
            <a:r>
              <a:t>- [private-local-root]/dcse-summer-ppt/.brain/wiki/concepts/agentic-academic-workspace.md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 improves access to explicit knowledge and provenance. It does not make every retrieved source correct, relevant, or current; retrieval quality remains part of the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https://arxiv.org/abs/2005.11401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https://arxiv.org/abs/2304.03442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More agents do not automatically mean better results. Start with the smallest orchestration that makes the workflow observable and testable.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https://arxiv.org/abs/2210.03629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right; emphasize that the loop repeats after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https://airc.nist.gov/airmf-resources/airmf/5-sec-core/</a:t>
            </a:r>
          </a:p>
          <a:p xmlns:a="http://schemas.openxmlformats.org/drawingml/2006/main">
            <a:r>
              <a:t>- https://www.unesco.org/en/articles/guidance-generative-ai-education-and-research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https://arxiv.org/abs/2302.04761</a:t>
            </a:r>
          </a:p>
          <a:p xmlns:a="http://schemas.openxmlformats.org/drawingml/2006/main">
            <a:r>
              <a:t>- https://airc.nist.gov/airmf-resources/airmf/5-sec-core/</a:t>
            </a:r>
          </a:p>
          <a:p xmlns:a="http://schemas.openxmlformats.org/drawingml/2006/main">
            <a:r>
              <a:t>- https://www.unesco.org/en/articles/guidance-generative-ai-education-and-research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division of labor is explicit: preparation may be delegated; accountability is not.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[private-local-root]/dcse-summer-ppt/.brain/wiki/concepts/human-in-the-loop-academic-agent.md</a:t>
            </a:r>
          </a:p>
          <a:p xmlns:a="http://schemas.openxmlformats.org/drawingml/2006/main">
            <a:r>
              <a:t>- https://www.unesco.org/en/articles/guidance-generative-ai-education-and-research</a:t>
            </a:r>
          </a:p>
          <a:p xmlns:a="http://schemas.openxmlformats.org/drawingml/2006/main">
            <a:r>
              <a:t>- https://airc.nist.gov/airmf-resources/airmf/5-sec-core/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model benchmark is not an evaluation of an academic workflow. Test the artifact, the process, and the governance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https://airc.nist.gov/airmf-resources/airmf/5-sec-core/</a:t>
            </a:r>
          </a:p>
          <a:p xmlns:a="http://schemas.openxmlformats.org/drawingml/2006/main">
            <a:r>
              <a:t>- https://www.oecd.org/en/publications/policies-supporting-responsible-and-systematic-genai-adoption-in-higher-education_c4e5621f-en.html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divider to reset the room. Map one agentic workspace to the distinct responsibilities of Tri Dharma.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[private-local-root]/dcse-summer-ppt/.brain/wiki/concepts/tri-dharma-workspace-architecture.md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[private-local-root]/dcse-summer-ppt/.brain/wiki/concepts/tri-dharma-workspace-architecture.md</a:t>
            </a:r>
          </a:p>
          <a:p xmlns:a="http://schemas.openxmlformats.org/drawingml/2006/main">
            <a:r>
              <a:t>- [private-local-root]/dcse-summer-ppt/.brain/wiki/sources/afk-research-mvp-repository.md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workflow hypothesis, not a proven one-click MVP capability. The important word is reviewed: reuse should preserve provenance and responsibility.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[private-local-root]/dcse-summer-ppt/.brain/wiki/concepts/tri-dharma-workspace-architecture.md</a:t>
            </a:r>
          </a:p>
          <a:p xmlns:a="http://schemas.openxmlformats.org/drawingml/2006/main">
            <a:r>
              <a:t>- [private-local-root]/dcse-summer-ppt/.brain/wiki/syntheses/afk-research-presentation-to-mvp-gap.md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[private-local-root]/dcse-summer-ppt/.brain/wiki/concepts/agentic-academic-workspace.md</a:t>
            </a:r>
          </a:p>
          <a:p xmlns:a="http://schemas.openxmlformats.org/drawingml/2006/main">
            <a:r>
              <a:t>- [private-local-root]/dcse-summer-ppt/.brain/wiki/sources/afk-research-mvp-repository.md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https://www.unesco.org/en/articles/guidance-generative-ai-education-and-research</a:t>
            </a:r>
          </a:p>
          <a:p xmlns:a="http://schemas.openxmlformats.org/drawingml/2006/main">
            <a:r>
              <a:t>- https://www.oecd.org/en/publications/policies-supporting-responsible-and-systematic-genai-adoption-in-higher-education_c4e5621f-en.html</a:t>
            </a:r>
          </a:p>
          <a:p xmlns:a="http://schemas.openxmlformats.org/drawingml/2006/main">
            <a:r>
              <a:t>- [private-local-root]/dcse-summer-ppt/.brain/wiki/concepts/tri-dharma-workspace-architecture.md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[private-local-root]/dcse-summer-ppt/.brain/wiki/concepts/tri-dharma-workspace-architecture.md</a:t>
            </a:r>
          </a:p>
          <a:p xmlns:a="http://schemas.openxmlformats.org/drawingml/2006/main">
            <a:r>
              <a:t>- [private-local-root]/dcse-summer-ppt/.brain/wiki/concepts/human-in-the-loop-academic-agent.md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[private-local-root]/dcse-summer-ppt/.brain/wiki/sources/afk-research-mvp-repository.md</a:t>
            </a:r>
          </a:p>
          <a:p xmlns:a="http://schemas.openxmlformats.org/drawingml/2006/main">
            <a:r>
              <a:t>- [private-local-root]/dcse-summer-ppt/.brain/wiki/concepts/agentic-academic-workspace.md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[private-local-root]/dcse-summer-ppt/.brain/wiki/concepts/human-in-the-loop-academic-agent.md</a:t>
            </a:r>
          </a:p>
          <a:p xmlns:a="http://schemas.openxmlformats.org/drawingml/2006/main">
            <a:r>
              <a:t>- [private-local-root]/dcse-summer-ppt/.brain/wiki/syntheses/afk-research-presentation-to-mvp-gap.md</a:t>
            </a:r>
          </a:p>
          <a:p xmlns:a="http://schemas.openxmlformats.org/drawingml/2006/main">
            <a:r>
              <a:t>- https://www.unesco.org/en/articles/guidance-generative-ai-education-and-research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divider to reset the room. Build the workspace carefully—and separate the MVP from the vision.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[private-local-root]/dcse-summer-ppt/.brain/wiki/sources/afk-research-mvp-repository.md</a:t>
            </a:r>
          </a:p>
          <a:p xmlns:a="http://schemas.openxmlformats.org/drawingml/2006/main">
            <a:r>
              <a:t>- [private-local-root]/dcse-summer-ppt/.brain/wiki/syntheses/afk-research-presentation-to-mvp-gap.md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Anchor this slide to snapshot commit 6c76a25. The deck distinguishes repository evidence from the broader product narrative.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[private-local-root]/dcse-summer-ppt/.brain/wiki/sources/afk-research-mvp-repository.md</a:t>
            </a:r>
          </a:p>
          <a:p xmlns:a="http://schemas.openxmlformats.org/drawingml/2006/main">
            <a:r>
              <a:t>- [private-local-root]/dcse-summer-ppt/.brain/wiki/syntheses/afk-research-presentation-to-mvp-gap.md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Play the embedded video to show how a difficult technical idea can become a paced, captioned explanation. The media is used directly from the supplied product materials. This remains a product example, not separate proof of a currently shipped first-class CLI feature.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[private-local-root]/.codex/worktrees/9424/afk-research/.outputs/gradient-descent-video/.outputs/manim/gradient-descent-explained/20260713T145442172Z/final.mp4</a:t>
            </a:r>
          </a:p>
          <a:p xmlns:a="http://schemas.openxmlformats.org/drawingml/2006/main">
            <a:r>
              <a:t>- [private-local-root]/Downloads/29 July.pptx (slide 9)</a:t>
            </a:r>
          </a:p>
          <a:p xmlns:a="http://schemas.openxmlformats.org/drawingml/2006/main">
            <a:r>
              <a:t>- [private-local-root]/dcse-summer-ppt/.brain/wiki/sources/29-july-presentation.md</a:t>
            </a:r>
          </a:p>
          <a:p xmlns:a="http://schemas.openxmlformats.org/drawingml/2006/main">
            <a:r>
              <a:t>- [private-local-root]/dcse-summer-ppt/.brain/wiki/syntheses/afk-research-presentation-to-mvp-gap.md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this as richer evidence for formative learning, not automatic grading. The media is used directly from the supplied product materials. This remains a product example, not separate proof of a currently shipped first-class CLI feature.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[private-local-root]/Downloads/29 July.pptx (slide 10)</a:t>
            </a:r>
          </a:p>
          <a:p xmlns:a="http://schemas.openxmlformats.org/drawingml/2006/main">
            <a:r>
              <a:t>- [private-local-root]/dcse-summer-ppt/.brain/wiki/sources/29-july-presentation.md</a:t>
            </a:r>
          </a:p>
          <a:p xmlns:a="http://schemas.openxmlformats.org/drawingml/2006/main">
            <a:r>
              <a:t>- [private-local-root]/dcse-summer-ppt/.brain/wiki/concepts/human-in-the-loop-academic-agent.md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website example to the private-source and reviewed-export boundary introduced earlier. The media is used directly from the supplied product materials. This remains a product example, not separate proof of a currently shipped first-class CLI feature.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[private-local-root]/Downloads/29 July.pptx (slide 11)</a:t>
            </a:r>
          </a:p>
          <a:p xmlns:a="http://schemas.openxmlformats.org/drawingml/2006/main">
            <a:r>
              <a:t>- [private-local-root]/dcse-summer-ppt/.brain/wiki/sources/29-july-presentation.md</a:t>
            </a:r>
          </a:p>
          <a:p xmlns:a="http://schemas.openxmlformats.org/drawingml/2006/main">
            <a:r>
              <a:t>- [private-local-root]/dcse-summer-ppt/.brain/wiki/concepts/human-in-the-loop-academic-agent.md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coherence and reuse: the Design System guides the family while each artifact remains editable. The media is used directly from the supplied product materials. This remains a product example, not separate proof of a currently shipped first-class CLI feature.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[private-local-root]/Downloads/29 July.pptx (slide 12)</a:t>
            </a:r>
          </a:p>
          <a:p xmlns:a="http://schemas.openxmlformats.org/drawingml/2006/main">
            <a:r>
              <a:t>- [private-local-root]/dcse-summer-ppt/.brain/wiki/sources/29-july-presentation.md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right; emphasize that the loop repeats after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[private-local-root]/dcse-summer-ppt/.brain/wiki/sources/afk-research-mvp-repository.md</a:t>
            </a:r>
          </a:p>
          <a:p xmlns:a="http://schemas.openxmlformats.org/drawingml/2006/main">
            <a:r>
              <a:t>- [private-local-root]/dcse-summer-ppt/.brain/raw/2026-07-27_afk-research-mvp/README.md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[private-local-root]/dcse-summer-ppt/.brain/raw/2026-07-27_afk-research-mvp/README.md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command as a safety workflow, not as a magic incantation. Preview, verify, choose features, then apply.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[private-local-root]/dcse-summer-ppt/.brain/raw/2026-07-27_afk-research-mvp/README.md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[private-local-root]/dcse-summer-ppt/.brain/wiki/sources/afk-research-mvp-repository.md</a:t>
            </a:r>
          </a:p>
          <a:p xmlns:a="http://schemas.openxmlformats.org/drawingml/2006/main">
            <a:r>
              <a:t>- [private-local-root]/dcse-summer-ppt/.brain/raw/2026-07-27_afk-research-mvp/README.md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right; emphasize that the loop repeats after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[private-local-root]/dcse-summer-ppt/.brain/wiki/concepts/agentic-academic-workspace.md</a:t>
            </a:r>
          </a:p>
          <a:p xmlns:a="http://schemas.openxmlformats.org/drawingml/2006/main">
            <a:r>
              <a:t>- [private-local-root]/dcse-summer-ppt/.brain/wiki/sources/afk-research-mvp-repository.md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right; emphasize that the loop repeats after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https://www.unesco.org/en/articles/guidance-generative-ai-education-and-research</a:t>
            </a:r>
          </a:p>
          <a:p xmlns:a="http://schemas.openxmlformats.org/drawingml/2006/main">
            <a:r>
              <a:t>- https://www.oecd.org/en/publications/policies-supporting-responsible-and-systematic-genai-adoption-in-higher-education_c4e5621f-en.html</a:t>
            </a:r>
          </a:p>
          <a:p xmlns:a="http://schemas.openxmlformats.org/drawingml/2006/main">
            <a:r>
              <a:t>- [private-local-root]/dcse-summer-ppt/.brain/wiki/concepts/tri-dharma-workspace-architecture.md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right; emphasize that the loop repeats after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[private-local-root]/dcse-summer-ppt/.brain/wiki/concepts/human-in-the-loop-academic-agent.md</a:t>
            </a:r>
          </a:p>
          <a:p xmlns:a="http://schemas.openxmlformats.org/drawingml/2006/main">
            <a:r>
              <a:t>- [private-local-root]/dcse-summer-ppt/.brain/wiki/concepts/tri-dharma-workspace-architecture.md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[private-local-root]/dcse-summer-ppt/.brain/wiki/sources/afk-research-mvp-repository.md</a:t>
            </a:r>
          </a:p>
          <a:p xmlns:a="http://schemas.openxmlformats.org/drawingml/2006/main">
            <a:r>
              <a:t>- [private-local-root]/dcse-summer-ppt/.brain/raw/2026-07-27_afk-research-mvp/README.md</a:t>
            </a:r>
          </a:p>
          <a:p xmlns:a="http://schemas.openxmlformats.org/drawingml/2006/main">
            <a:r>
              <a:t>- [private-local-root]/dcse-summer-ppt/.brain/wiki/concepts/human-in-the-loop-academic-agent.md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strongest concrete example of human ownership in the MVP: the setup does not silently overwrite project-authored edits.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[private-local-root]/dcse-summer-ppt/.brain/wiki/concepts/managed-file-reconciliation.md</a:t>
            </a:r>
          </a:p>
          <a:p xmlns:a="http://schemas.openxmlformats.org/drawingml/2006/main">
            <a:r>
              <a:t>- [private-local-root]/dcse-summer-ppt/.brain/wiki/sources/afk-research-mvp-repository.md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adoption principle is deliberately conservative: prove a bounded workflow before increasing autonomy or connecting external write 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https://airc.nist.gov/airmf-resources/airmf/5-sec-core/</a:t>
            </a:r>
          </a:p>
          <a:p xmlns:a="http://schemas.openxmlformats.org/drawingml/2006/main">
            <a:r>
              <a:t>- https://www.unesco.org/en/articles/guidance-generative-ai-education-and-research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participants to use the speaker-note source blocks throughout the deck for precise links. The AFK Research evidence is private and must not be published without explicit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https://peraturan.bpk.go.id/Details/%2039063/uu-no-12-tahun-2012</a:t>
            </a:r>
          </a:p>
          <a:p xmlns:a="http://schemas.openxmlformats.org/drawingml/2006/main">
            <a:r>
              <a:t>- https://arxiv.org/abs/2210.03629</a:t>
            </a:r>
          </a:p>
          <a:p xmlns:a="http://schemas.openxmlformats.org/drawingml/2006/main">
            <a:r>
              <a:t>- https://arxiv.org/abs/2302.04761</a:t>
            </a:r>
          </a:p>
          <a:p xmlns:a="http://schemas.openxmlformats.org/drawingml/2006/main">
            <a:r>
              <a:t>- https://arxiv.org/abs/2304.03442</a:t>
            </a:r>
          </a:p>
          <a:p xmlns:a="http://schemas.openxmlformats.org/drawingml/2006/main">
            <a:r>
              <a:t>- https://arxiv.org/abs/2005.11401</a:t>
            </a:r>
          </a:p>
          <a:p xmlns:a="http://schemas.openxmlformats.org/drawingml/2006/main">
            <a:r>
              <a:t>- https://www.unesco.org/en/articles/guidance-generative-ai-education-and-research</a:t>
            </a:r>
          </a:p>
          <a:p xmlns:a="http://schemas.openxmlformats.org/drawingml/2006/main">
            <a:r>
              <a:t>- https://airc.nist.gov/airmf-resources/airmf/5-sec-core/</a:t>
            </a:r>
          </a:p>
          <a:p xmlns:a="http://schemas.openxmlformats.org/drawingml/2006/main">
            <a:r>
              <a:t>- https://www.oecd.org/en/publications/policies-supporting-responsible-and-systematic-genai-adoption-in-higher-education_c4e5621f-en.html</a:t>
            </a:r>
          </a:p>
          <a:p xmlns:a="http://schemas.openxmlformats.org/drawingml/2006/main">
            <a:r>
              <a:t>- [private-local-root]/dcse-summer-ppt/.brain/wiki/sources/afk-research-mvp-repository.md</a:t>
            </a:r>
          </a:p>
          <a:p xmlns:a="http://schemas.openxmlformats.org/drawingml/2006/main">
            <a:r>
              <a:t>- [private-local-root]/dcse-summer-ppt/.brain/wiki/syntheses/afk-research-presentation-to-mvp-gap.md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resolving the opening tension. The goal is not autonomous academia. The goal is continuity, leverage, and visible evidence while the lecturer retains accountable judgment.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[private-local-root]/dcse-summer-ppt/.brain/wiki/concepts/human-in-the-loop-academic-agent.md</a:t>
            </a:r>
          </a:p>
          <a:p xmlns:a="http://schemas.openxmlformats.org/drawingml/2006/main">
            <a:r>
              <a:t>- https://www.unesco.org/en/articles/guidance-generative-ai-education-and-research</a:t>
            </a:r>
          </a:p>
          <a:p xmlns:a="http://schemas.openxmlformats.org/drawingml/2006/main">
            <a:r>
              <a:t>- https://airc.nist.gov/airmf-resources/airmf/5-sec-core/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f90417112745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ed4a94f75d438e" /><Relationship Type="http://schemas.openxmlformats.org/officeDocument/2006/relationships/slideLayout" Target="/ppt/slideLayouts/slideLayout1.xml" Id="R25a4fa16029247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a4fa16029247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f23be784046e3" /><Relationship Type="http://schemas.openxmlformats.org/officeDocument/2006/relationships/notesSlide" Target="/ppt/notesSlides/notesSlide1.xml" Id="R39385648f80b4b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a96f94b00488d" /><Relationship Type="http://schemas.openxmlformats.org/officeDocument/2006/relationships/notesSlide" Target="/ppt/notesSlides/notesSlide2.xml" Id="R0b33ad8dc7cc41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6978e0ce54042" /><Relationship Type="http://schemas.openxmlformats.org/officeDocument/2006/relationships/notesSlide" Target="/ppt/notesSlides/notesSlide3.xml" Id="Rdd74edc2c5d948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9725e7ba84125" /><Relationship Type="http://schemas.openxmlformats.org/officeDocument/2006/relationships/notesSlide" Target="/ppt/notesSlides/notesSlide4.xml" Id="R42531a31848e4e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450d8f3b146e9" /><Relationship Type="http://schemas.openxmlformats.org/officeDocument/2006/relationships/notesSlide" Target="/ppt/notesSlides/notesSlide5.xml" Id="R7f1e601c03a14c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e76c54f654a5e" /><Relationship Type="http://schemas.openxmlformats.org/officeDocument/2006/relationships/notesSlide" Target="/ppt/notesSlides/notesSlide6.xml" Id="R435ea78d7ac448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1532e120a24253" /><Relationship Type="http://schemas.openxmlformats.org/officeDocument/2006/relationships/notesSlide" Target="/ppt/notesSlides/notesSlide7.xml" Id="Ra19a3e2ea9c844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98cc4c6cd4307" /><Relationship Type="http://schemas.openxmlformats.org/officeDocument/2006/relationships/notesSlide" Target="/ppt/notesSlides/notesSlide8.xml" Id="R6ae92f6f1d2c4c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4505f4ebf46d8" /><Relationship Type="http://schemas.openxmlformats.org/officeDocument/2006/relationships/notesSlide" Target="/ppt/notesSlides/notesSlide9.xml" Id="R99325f56a22f4e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0b24327704b77" /><Relationship Type="http://schemas.openxmlformats.org/officeDocument/2006/relationships/notesSlide" Target="/ppt/notesSlides/notesSlide10.xml" Id="R3ce94751227648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b99aa455f4917" /><Relationship Type="http://schemas.openxmlformats.org/officeDocument/2006/relationships/notesSlide" Target="/ppt/notesSlides/notesSlide11.xml" Id="R71caedaf7bfb4ad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67d726018441a" /><Relationship Type="http://schemas.openxmlformats.org/officeDocument/2006/relationships/notesSlide" Target="/ppt/notesSlides/notesSlide12.xml" Id="R8cf2cd0f90404d2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a28b23eb6d4cdf" /><Relationship Type="http://schemas.openxmlformats.org/officeDocument/2006/relationships/notesSlide" Target="/ppt/notesSlides/notesSlide13.xml" Id="Rd3b67811dbaa4f2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01e0c61c3497e" /><Relationship Type="http://schemas.openxmlformats.org/officeDocument/2006/relationships/notesSlide" Target="/ppt/notesSlides/notesSlide14.xml" Id="R69410329a36e4de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1b35651b74d81" /><Relationship Type="http://schemas.openxmlformats.org/officeDocument/2006/relationships/notesSlide" Target="/ppt/notesSlides/notesSlide15.xml" Id="R264037ed9a23438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92e200bec4ef1" /><Relationship Type="http://schemas.openxmlformats.org/officeDocument/2006/relationships/notesSlide" Target="/ppt/notesSlides/notesSlide16.xml" Id="Rb2835b937df34d0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b973291c140ba" /><Relationship Type="http://schemas.openxmlformats.org/officeDocument/2006/relationships/notesSlide" Target="/ppt/notesSlides/notesSlide17.xml" Id="Ra757d4bfaefd43c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0199203f34dd0" /><Relationship Type="http://schemas.openxmlformats.org/officeDocument/2006/relationships/notesSlide" Target="/ppt/notesSlides/notesSlide18.xml" Id="Rfc2e8396ca2b4d1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1898ebe65c4e2a" /><Relationship Type="http://schemas.openxmlformats.org/officeDocument/2006/relationships/notesSlide" Target="/ppt/notesSlides/notesSlide19.xml" Id="Re6f82f6bdfef4dd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9f979b96244a3" /><Relationship Type="http://schemas.openxmlformats.org/officeDocument/2006/relationships/notesSlide" Target="/ppt/notesSlides/notesSlide20.xml" Id="R132252f3a50a4e6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249ec32d942db" /><Relationship Type="http://schemas.openxmlformats.org/officeDocument/2006/relationships/notesSlide" Target="/ppt/notesSlides/notesSlide21.xml" Id="Re399b3ff67cc4c5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68297045d4df7" /><Relationship Type="http://schemas.openxmlformats.org/officeDocument/2006/relationships/notesSlide" Target="/ppt/notesSlides/notesSlide22.xml" Id="R4d9038f005f94fe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b89a9d8e904193" /><Relationship Type="http://schemas.openxmlformats.org/officeDocument/2006/relationships/notesSlide" Target="/ppt/notesSlides/notesSlide23.xml" Id="Rded2c964b076476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3420ab5da41ff" /><Relationship Type="http://schemas.openxmlformats.org/officeDocument/2006/relationships/notesSlide" Target="/ppt/notesSlides/notesSlide24.xml" Id="Rd329dd47d95b429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fec38d134481d" /><Relationship Type="http://schemas.openxmlformats.org/officeDocument/2006/relationships/notesSlide" Target="/ppt/notesSlides/notesSlide25.xml" Id="R55e1b16c80f4444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99e3288c34002" /><Relationship Type="http://schemas.openxmlformats.org/officeDocument/2006/relationships/notesSlide" Target="/ppt/notesSlides/notesSlide26.xml" Id="Rcd58d758d663403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af211fa0a4a56" /><Relationship Type="http://schemas.openxmlformats.org/officeDocument/2006/relationships/notesSlide" Target="/ppt/notesSlides/notesSlide27.xml" Id="Re8ec5a4aed0f4ad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4e2fb9e314e91" /><Relationship Type="http://schemas.openxmlformats.org/officeDocument/2006/relationships/notesSlide" Target="/ppt/notesSlides/notesSlide28.xml" Id="R95994a591d5643a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fbe852c51407f" /><Relationship Type="http://schemas.openxmlformats.org/officeDocument/2006/relationships/notesSlide" Target="/ppt/notesSlides/notesSlide29.xml" Id="Ref1f241ecc7341e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b7f6d8837b4957" /><Relationship Type="http://schemas.openxmlformats.org/officeDocument/2006/relationships/notesSlide" Target="/ppt/notesSlides/notesSlide30.xml" Id="R46c0eff842d74e7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238de0e324692" /><Relationship Type="http://schemas.openxmlformats.org/officeDocument/2006/relationships/notesSlide" Target="/ppt/notesSlides/notesSlide31.xml" Id="R6f4c473c35af466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a534815b34c65" /><Relationship Type="http://schemas.openxmlformats.org/officeDocument/2006/relationships/notesSlide" Target="/ppt/notesSlides/notesSlide32.xml" Id="R1501dde484d14ee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4c89dc6a24afc" /><Relationship Type="http://schemas.openxmlformats.org/officeDocument/2006/relationships/notesSlide" Target="/ppt/notesSlides/notesSlide33.xml" Id="Re4767971106d47c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3b7267319425a" /><Relationship Type="http://schemas.openxmlformats.org/officeDocument/2006/relationships/notesSlide" Target="/ppt/notesSlides/notesSlide34.xml" Id="R6bee05d3e6ad485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534101a7244be" /><Relationship Type="http://schemas.openxmlformats.org/officeDocument/2006/relationships/notesSlide" Target="/ppt/notesSlides/notesSlide35.xml" Id="R4c54fc1dd484453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fbd48a9294a6b" /><Relationship Type="http://schemas.openxmlformats.org/officeDocument/2006/relationships/notesSlide" Target="/ppt/notesSlides/notesSlide36.xml" Id="R85c51a7b81a641a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ae41b115f47a2" /><Relationship Type="http://schemas.openxmlformats.org/officeDocument/2006/relationships/notesSlide" Target="/ppt/notesSlides/notesSlide37.xml" Id="R11770eec07a3453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9adf0f4134a92" /><Relationship Type="http://schemas.openxmlformats.org/officeDocument/2006/relationships/notesSlide" Target="/ppt/notesSlides/notesSlide38.xml" Id="Rd7ea60913ced485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0a5e66a6ca4b8f" /><Relationship Type="http://schemas.openxmlformats.org/officeDocument/2006/relationships/image" Target="/ppt/media/image.jpeg" Id="R8928aac09908432f" /><Relationship Type="http://schemas.openxmlformats.org/officeDocument/2006/relationships/notesSlide" Target="/ppt/notesSlides/notesSlide39.xml" Id="Rc8d5e5ff793f4ca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c0e6a74f94e2a" /><Relationship Type="http://schemas.openxmlformats.org/officeDocument/2006/relationships/image" Target="/ppt/media/image.png" Id="Rc458df6b660f4008" /><Relationship Type="http://schemas.openxmlformats.org/officeDocument/2006/relationships/image" Target="/ppt/media/image2.png" Id="R7455e528dbdc4f4f" /><Relationship Type="http://schemas.openxmlformats.org/officeDocument/2006/relationships/notesSlide" Target="/ppt/notesSlides/notesSlide40.xml" Id="Redd9cd4bdc2646d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b409d2163428a" /><Relationship Type="http://schemas.openxmlformats.org/officeDocument/2006/relationships/image" Target="/ppt/media/image3.png" Id="Rda21c0df4b964ea5" /><Relationship Type="http://schemas.openxmlformats.org/officeDocument/2006/relationships/image" Target="/ppt/media/image4.png" Id="R6bfb7296f16d4b9e" /><Relationship Type="http://schemas.openxmlformats.org/officeDocument/2006/relationships/notesSlide" Target="/ppt/notesSlides/notesSlide41.xml" Id="R0a6347cb141541a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db3eccac14e3b" /><Relationship Type="http://schemas.openxmlformats.org/officeDocument/2006/relationships/image" Target="/ppt/media/image5.png" Id="R9ab4021a5da4472c" /><Relationship Type="http://schemas.openxmlformats.org/officeDocument/2006/relationships/image" Target="/ppt/media/image6.png" Id="Rdbf566ed86ba4d69" /><Relationship Type="http://schemas.openxmlformats.org/officeDocument/2006/relationships/notesSlide" Target="/ppt/notesSlides/notesSlide42.xml" Id="R2d3839d95da543f8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dfa2f6c334312" /><Relationship Type="http://schemas.openxmlformats.org/officeDocument/2006/relationships/notesSlide" Target="/ppt/notesSlides/notesSlide43.xml" Id="R79dd63a41dca4502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8dfe0d2b8944ae" /><Relationship Type="http://schemas.openxmlformats.org/officeDocument/2006/relationships/notesSlide" Target="/ppt/notesSlides/notesSlide44.xml" Id="Rb6ffbcede6c8476f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3ccb2660841a6" /><Relationship Type="http://schemas.openxmlformats.org/officeDocument/2006/relationships/notesSlide" Target="/ppt/notesSlides/notesSlide45.xml" Id="R1a231bd8ae224656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494d78e0a43ad" /><Relationship Type="http://schemas.openxmlformats.org/officeDocument/2006/relationships/notesSlide" Target="/ppt/notesSlides/notesSlide46.xml" Id="R92850a94d62b471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15a2dc490043ef" /><Relationship Type="http://schemas.openxmlformats.org/officeDocument/2006/relationships/notesSlide" Target="/ppt/notesSlides/notesSlide47.xml" Id="R50c19ea144584ce5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980e1bad84987" /><Relationship Type="http://schemas.openxmlformats.org/officeDocument/2006/relationships/notesSlide" Target="/ppt/notesSlides/notesSlide48.xml" Id="Ra7865d7467e547ab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a0af33d57400a" /><Relationship Type="http://schemas.openxmlformats.org/officeDocument/2006/relationships/notesSlide" Target="/ppt/notesSlides/notesSlide49.xml" Id="R0265338697f04806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964c5d7da4fba" /><Relationship Type="http://schemas.openxmlformats.org/officeDocument/2006/relationships/notesSlide" Target="/ppt/notesSlides/notesSlide50.xml" Id="Rb881459698994f67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c3f30993f483f" /><Relationship Type="http://schemas.openxmlformats.org/officeDocument/2006/relationships/notesSlide" Target="/ppt/notesSlides/notesSlide51.xml" Id="Rba88b7b975c44f02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a418e0a6a474b" /><Relationship Type="http://schemas.openxmlformats.org/officeDocument/2006/relationships/notesSlide" Target="/ppt/notesSlides/notesSlide52.xml" Id="R79593c44fc06468e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74447fe4c4eba" /><Relationship Type="http://schemas.openxmlformats.org/officeDocument/2006/relationships/notesSlide" Target="/ppt/notesSlides/notesSlide53.xml" Id="Rbcde6c559af1469c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a97dee2a342a5" /><Relationship Type="http://schemas.openxmlformats.org/officeDocument/2006/relationships/notesSlide" Target="/ppt/notesSlides/notesSlide54.xml" Id="Rdbf350e4e52248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6F4B8E-DB72-447B-974F-2A8B324B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364C9-C103-490D-864B-995803FE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00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8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629953-A44B-4904-81DC-B221DDC5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76F24C-65BF-4028-9A94-617AB4F2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19200"/>
            <a:ext cx="7620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5175" b="1" i="0">
                <a:solidFill>
                  <a:srgbClr val="FFFFFF"/>
                </a:solidFill>
              </a:defRPr>
            </a:pPr>
            <a:r>
              <a:rPr sz="5175" b="1" i="0">
                <a:solidFill>
                  <a:srgbClr val="FFFFFF"/>
                </a:solidFill>
              </a:rPr>
              <a:t>EMPOWERING THE TRI DHARMA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ECE41-B4A2-4ADC-97F9-69864318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337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F4D2F-84B9-4E29-A8DD-98DE94E3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14750"/>
            <a:ext cx="695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C000"/>
                </a:solidFill>
              </a:defRPr>
            </a:pPr>
            <a:r>
              <a:rPr sz="2100" b="1" i="0">
                <a:solidFill>
                  <a:srgbClr val="FFC000"/>
                </a:solidFill>
              </a:rPr>
              <a:t>AI agents—from foundations and theory to a governed academic workspace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A66FC-4B86-49FC-91C3-F7231E6E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102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8D5DC"/>
                </a:solidFill>
              </a:defRPr>
            </a:pPr>
            <a:r>
              <a:rPr sz="1350" b="0" i="0">
                <a:solidFill>
                  <a:srgbClr val="C8D5DC"/>
                </a:solidFill>
              </a:rPr>
              <a:t>DCSE Summer Lecture ·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E263B4-FC04-4EF7-90D2-FCC566B6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61E038-D06A-4082-82E9-AEEA56A0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</p:spTree>
    <p:extLst>
      <p:ext uri="{BB962C8B-B14F-4D97-AF65-F5344CB8AC3E}">
        <p14:creationId xmlns:p14="http://schemas.microsoft.com/office/powerpoint/2010/main" val="14464413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2">
            <a:extLst xmlns:a="http://schemas.openxmlformats.org/drawingml/2006/main">
              <a:ext uri="{FF2B5EF4-FFF2-40B4-BE49-F238E27FC236}">
                <a16:creationId xmlns:a16="http://schemas.microsoft.com/office/drawing/2014/main" id="{3A9E638B-918A-49ED-9C92-B0D6BFC9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51175C-288A-4319-A27F-C1DA5102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D1E229-FD10-4C87-915B-C629846F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OPENING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5E6875-98D7-4124-85FD-E926CD40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5B47F-C51A-46D2-9971-2B4595F0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EEFB8-A682-43EB-BD51-26CF1152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13F036-68D2-4BB0-B545-3B680B26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2D69C-303F-4BDD-866C-C547CCA2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5BC7B0-876B-4DAB-BC79-1B32760E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2">
            <a:extLst xmlns:a="http://schemas.openxmlformats.org/drawingml/2006/main">
              <a:ext uri="{FF2B5EF4-FFF2-40B4-BE49-F238E27FC236}">
                <a16:creationId xmlns:a16="http://schemas.microsoft.com/office/drawing/2014/main" id="{C1862273-AA5C-4488-8BBF-61ABB7D0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B34748-B007-44CD-BDE2-4453EFB5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031D49-BA9F-4454-9985-76F22F9E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Three outcomes for this lecture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30692B-5DDE-4F77-898E-B5CFFCC7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F75DB9-E46B-4CFF-9391-B5ED1366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EXPLAIN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78E762-C82C-431C-BDC0-B865FE54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7A04F1-C0AF-477A-A163-47978642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Distinguish a language model, an assistant, and an agentic system.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23C597-4483-4692-BB89-436B787C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DESIGN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F153B1-9B2C-42E8-9D3F-748681F7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B7EE31-83FF-40B7-8745-C98D2586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Connect planning, tools, memory, evidence, and human review.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C845EA-004B-4483-A9C6-367A0A6D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IMPLEMENT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58930E-A9F5-4DCF-84A1-E555F7EE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DE5F3E-E4E9-4C6C-B189-E0DB6504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Prototype a repository-based workflow across Tri Dharma.</a:t>
            </a:r>
          </a:p>
        </p:txBody>
      </p:sp>
    </p:spTree>
    <p:extLst>
      <p:ext uri="{BB962C8B-B14F-4D97-AF65-F5344CB8AC3E}">
        <p14:creationId xmlns:p14="http://schemas.microsoft.com/office/powerpoint/2010/main" val="10519653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3">
            <a:extLst xmlns:a="http://schemas.openxmlformats.org/drawingml/2006/main">
              <a:ext uri="{FF2B5EF4-FFF2-40B4-BE49-F238E27FC236}">
                <a16:creationId xmlns:a16="http://schemas.microsoft.com/office/drawing/2014/main" id="{34E2EB24-5522-41E1-A6DE-9F86BDE5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77B028-2820-4D6A-9782-2660670F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1ECBE-7503-4DA1-9349-30BD75EB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OPENING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27252F-2D9A-4A5F-865E-E15AB92F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2673B-85B1-44F6-AF39-15D1B7CE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D60E14-16EF-4EE2-B871-611B5709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B95D4B-A9C7-42F5-9F86-3AC85076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D4B173-AE36-4418-9AB8-1E952580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46D1E1-AF29-4976-840E-62215427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3">
            <a:extLst xmlns:a="http://schemas.openxmlformats.org/drawingml/2006/main">
              <a:ext uri="{FF2B5EF4-FFF2-40B4-BE49-F238E27FC236}">
                <a16:creationId xmlns:a16="http://schemas.microsoft.com/office/drawing/2014/main" id="{5A31868D-D280-45D5-960C-DA7CDB97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283ACE-4A92-4745-9B15-A0D2B3EB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AD8202-BB7B-4BD9-85F6-2529B216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Tri Dharma is one connected mandate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D52220-CE48-43BC-9A4C-C4776FA3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B18A84-293A-4E6C-BE05-6B790AED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RESEARCH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44C736-8357-412F-9E2C-FBBE9D2B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289F37-8DF9-4762-AAAB-1C53E60C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Produce, validate, preserve, and communicate knowledge.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D75714-2F1C-4570-9029-2AC5EE19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EDUCATION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9ED2E3-FB72-44F0-BB2E-D5B945B0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E61C97-3421-4671-82FD-E4E18452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Design learning, assessment, feedback, and scholarly teaching.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BD78FE-4247-461C-9672-CBA69578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COMMUNITY SERVICE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FA4C5C-54DB-4E01-998F-39BAF110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E6752-93AE-4805-BE78-A0734E59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Translate expertise into public value with local accountability.</a:t>
            </a:r>
          </a:p>
        </p:txBody>
      </p:sp>
    </p:spTree>
    <p:extLst>
      <p:ext uri="{BB962C8B-B14F-4D97-AF65-F5344CB8AC3E}">
        <p14:creationId xmlns:p14="http://schemas.microsoft.com/office/powerpoint/2010/main" val="6164217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metadata-rail-4">
            <a:extLst xmlns:a="http://schemas.openxmlformats.org/drawingml/2006/main">
              <a:ext uri="{FF2B5EF4-FFF2-40B4-BE49-F238E27FC236}">
                <a16:creationId xmlns:a16="http://schemas.microsoft.com/office/drawing/2014/main" id="{913CBFBB-8003-46FA-A523-C7D43976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AA4AF-C7CA-4190-B415-F1CD1267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6A3D7-0619-4DAD-97E9-534AAFDE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OPENING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CD380-8DE4-4C77-B5CD-959CA7CB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35EEF-9425-476D-83A9-99E7AC4D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E708C-4F82-437B-8781-A7A2AC5B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9B5F6D-E459-4698-84DA-AB566E27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8B3DBD-8577-476A-9061-EC75C71C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A6D0D4-F273-4D9A-9EE8-2AE264E6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4">
            <a:extLst xmlns:a="http://schemas.openxmlformats.org/drawingml/2006/main">
              <a:ext uri="{FF2B5EF4-FFF2-40B4-BE49-F238E27FC236}">
                <a16:creationId xmlns:a16="http://schemas.microsoft.com/office/drawing/2014/main" id="{880E6BDE-7702-46B0-8401-8EEE2D40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442841-51F1-41B5-85A1-6F846F67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17393-D511-430F-9E12-FA473459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3825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C000"/>
                </a:solidFill>
              </a:defRPr>
            </a:pPr>
            <a:r>
              <a:rPr sz="4350" b="1" i="0">
                <a:solidFill>
                  <a:srgbClr val="FFC000"/>
                </a:solidFill>
              </a:rPr>
              <a:t>The constraint is not ideas.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267531-17F7-4CB4-95CB-3A16E292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990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4050" b="0" i="0">
                <a:solidFill>
                  <a:srgbClr val="FFFFFF"/>
                </a:solidFill>
              </a:defRPr>
            </a:pPr>
            <a:r>
              <a:rPr sz="4050" b="0" i="0">
                <a:solidFill>
                  <a:srgbClr val="FFFFFF"/>
                </a:solidFill>
              </a:rPr>
              <a:t>It is continuity across dozens of small academic workflows.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85717A-BF83-4426-912E-17FA1E9C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334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C8D5DC"/>
                </a:solidFill>
              </a:defRPr>
            </a:pPr>
            <a:r>
              <a:rPr sz="1875" b="0" i="0">
                <a:solidFill>
                  <a:srgbClr val="C8D5DC"/>
                </a:solidFill>
              </a:rPr>
              <a:t>Files, sources, deadlines, design choices, feedback, and publication decisions are distributed across tools—and across time.</a:t>
            </a:r>
          </a:p>
        </p:txBody>
      </p:sp>
    </p:spTree>
    <p:extLst>
      <p:ext uri="{BB962C8B-B14F-4D97-AF65-F5344CB8AC3E}">
        <p14:creationId xmlns:p14="http://schemas.microsoft.com/office/powerpoint/2010/main" val="18636838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5">
            <a:extLst xmlns:a="http://schemas.openxmlformats.org/drawingml/2006/main">
              <a:ext uri="{FF2B5EF4-FFF2-40B4-BE49-F238E27FC236}">
                <a16:creationId xmlns:a16="http://schemas.microsoft.com/office/drawing/2014/main" id="{56DD41F5-0408-43E2-B8B4-24C754ED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9342EE-CEB0-4D1F-8588-636695F0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B37F9-57AC-48AE-B4B4-5A8A2520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OPENING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D4896-2280-4063-A359-076F0A6B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C5A871-62B9-4B16-9B4B-10888708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6AC58-02BA-4384-967E-6960FF56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D90B8-5EC0-4EFD-B836-A8BD6C3B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D44D8A-B0C9-42B8-8224-29E95AC0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03DEBC-CE99-4456-BFB4-7072B279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5">
            <a:extLst xmlns:a="http://schemas.openxmlformats.org/drawingml/2006/main">
              <a:ext uri="{FF2B5EF4-FFF2-40B4-BE49-F238E27FC236}">
                <a16:creationId xmlns:a16="http://schemas.microsoft.com/office/drawing/2014/main" id="{B8A02C76-86A3-47B5-9F74-4C6C4BBE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9A1D59-9E2E-4EAA-8717-65F1205E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823645-51BB-4C5C-9A44-E0F1B8E0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Isolated prompts reset the 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BBD522-5DCF-4D18-AAD8-BF2B797B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A6873C-073D-46A7-AD61-37E2F3E6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11880F-FB40-44F2-A7ED-CEA091A2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616BAC-2C99-4D0F-B877-DF2BD03C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The model sees what is in the current conversation, not the whole project history.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F9BB54-343E-4E53-B56C-873F6A47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E74E86-B2CC-4389-94D3-8DD27FC1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0CC91C-1BE9-4EDA-B532-8AD95AC2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Sources and decisions become detached from the outputs they informed.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5C9F86-6D9D-4094-8D8B-F860CB73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FOLLOW-THROUGH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463693-4CB4-4244-8C6F-8C7FA926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D9A918-3B50-473A-8FF7-31D00DD8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A useful answer still leaves scheduling, files, review, and publication to the lecturer.</a:t>
            </a:r>
          </a:p>
        </p:txBody>
      </p:sp>
    </p:spTree>
    <p:extLst>
      <p:ext uri="{BB962C8B-B14F-4D97-AF65-F5344CB8AC3E}">
        <p14:creationId xmlns:p14="http://schemas.microsoft.com/office/powerpoint/2010/main" val="14914872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metadata-rail-6">
            <a:extLst xmlns:a="http://schemas.openxmlformats.org/drawingml/2006/main">
              <a:ext uri="{FF2B5EF4-FFF2-40B4-BE49-F238E27FC236}">
                <a16:creationId xmlns:a16="http://schemas.microsoft.com/office/drawing/2014/main" id="{3B725080-C0EB-488F-9347-5EFDD7E4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86AEFF-47E2-47B2-B5D9-EF29ECC2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4BC7F-589D-47B8-AC6D-FEA5D92D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OPENING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23339-CF7C-4AF8-AFC3-E1CF9AE5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C49B8-CC53-4225-A1B2-58B6ED11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88D89A-546C-4C24-B49F-5102769A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2377F-164C-4891-A451-1FCE51FC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3D11FA-4CCA-4D0D-8C78-C0BCBA55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06916-23E5-46BA-859C-909103ED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6">
            <a:extLst xmlns:a="http://schemas.openxmlformats.org/drawingml/2006/main">
              <a:ext uri="{FF2B5EF4-FFF2-40B4-BE49-F238E27FC236}">
                <a16:creationId xmlns:a16="http://schemas.microsoft.com/office/drawing/2014/main" id="{32D462A9-9C72-4CBD-8C50-1336367D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953AA2-E740-488D-B13F-75C428C1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AC19CE-F042-4710-A39B-49DD8FD9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3825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C000"/>
                </a:solidFill>
              </a:defRPr>
            </a:pPr>
            <a:r>
              <a:rPr sz="4350" b="1" i="0">
                <a:solidFill>
                  <a:srgbClr val="FFC000"/>
                </a:solidFill>
              </a:rPr>
              <a:t>The key shift: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36DFF9-873E-4F6B-B650-917DEB12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990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4050" b="0" i="0">
                <a:solidFill>
                  <a:srgbClr val="FFFFFF"/>
                </a:solidFill>
              </a:defRPr>
            </a:pPr>
            <a:r>
              <a:rPr sz="4050" b="0" i="0">
                <a:solidFill>
                  <a:srgbClr val="FFFFFF"/>
                </a:solidFill>
              </a:rPr>
              <a:t>from a clever chat to a governed workspace.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478D80-00C1-47F4-8389-1DF04DCB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334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C8D5DC"/>
                </a:solidFill>
              </a:defRPr>
            </a:pPr>
            <a:r>
              <a:rPr sz="1875" b="0" i="0">
                <a:solidFill>
                  <a:srgbClr val="C8D5DC"/>
                </a:solidFill>
              </a:rPr>
              <a:t>An agentic workspace gives work a durable home, bounded tools, repeatable workflows, and a visible review trail.</a:t>
            </a:r>
          </a:p>
        </p:txBody>
      </p:sp>
    </p:spTree>
    <p:extLst>
      <p:ext uri="{BB962C8B-B14F-4D97-AF65-F5344CB8AC3E}">
        <p14:creationId xmlns:p14="http://schemas.microsoft.com/office/powerpoint/2010/main" val="15414589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0F2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C46268-3188-4EC7-B58A-A77A1D35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714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8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95D28-A2B3-4FA4-8D8E-1C964E75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0"/>
            <a:ext cx="8096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4A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E6510F-5348-47F4-A60A-0EE83907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4564E-8FDE-46D8-85E1-60B44C32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300"/>
            <a:ext cx="238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8850" b="1" i="0">
                <a:solidFill>
                  <a:srgbClr val="014A74"/>
                </a:solidFill>
              </a:defRPr>
            </a:pPr>
            <a:r>
              <a:rPr sz="8850" b="1" i="0">
                <a:solidFill>
                  <a:srgbClr val="014A74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6C3CCE-79EA-42BC-9199-9A5CC745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666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4350" b="0" i="0">
                <a:solidFill>
                  <a:srgbClr val="FFFFFF"/>
                </a:solidFill>
              </a:defRPr>
            </a:pPr>
            <a:r>
              <a:rPr sz="4350" b="0" i="0">
                <a:solidFill>
                  <a:srgbClr val="FFFFFF"/>
                </a:solidFill>
              </a:rPr>
              <a:t>FOUNDATIONS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2A16C-39FE-43BE-B4B3-2344B923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6235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What changes when a language model becomes part of a working system?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C55D3-ABF6-4D9F-91FC-21098C5C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504D27-510F-4EFD-B88D-62ECEA4D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14A74"/>
                </a:solidFill>
              </a:defRPr>
            </a:pPr>
            <a:r>
              <a:rPr sz="975" b="1" i="0">
                <a:solidFill>
                  <a:srgbClr val="014A74"/>
                </a:solidFill>
              </a:rPr>
              <a:t>CREATED WITH AFK RESEARCH</a:t>
            </a:r>
          </a:p>
        </p:txBody>
      </p:sp>
    </p:spTree>
    <p:extLst>
      <p:ext uri="{BB962C8B-B14F-4D97-AF65-F5344CB8AC3E}">
        <p14:creationId xmlns:p14="http://schemas.microsoft.com/office/powerpoint/2010/main" val="15341034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metadata-rail-8">
            <a:extLst xmlns:a="http://schemas.openxmlformats.org/drawingml/2006/main">
              <a:ext uri="{FF2B5EF4-FFF2-40B4-BE49-F238E27FC236}">
                <a16:creationId xmlns:a16="http://schemas.microsoft.com/office/drawing/2014/main" id="{85B1BA84-9600-4391-8080-77DDABAB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00E49B-9D04-423D-B778-7EB8B4FE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9D970-FEAF-4B85-93EE-4297116C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FOUNDATIONS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A9013E-287B-4ED8-9795-1BAFC517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8C98E-30D2-4359-A951-A1AE91B8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44A9B-DEE4-47EA-A867-B9262577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FA0CF8-184C-477F-9BAA-7328AC0B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20142C-E097-4289-9DD9-2DCDF412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BA80A1-1641-4D14-BEAC-682C108C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8">
            <a:extLst xmlns:a="http://schemas.openxmlformats.org/drawingml/2006/main">
              <a:ext uri="{FF2B5EF4-FFF2-40B4-BE49-F238E27FC236}">
                <a16:creationId xmlns:a16="http://schemas.microsoft.com/office/drawing/2014/main" id="{62B82DD9-E3B7-488B-BBAD-B1D34E8B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4457E1-8A7D-43C2-B600-661D651E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BEFDF1-64FE-42C6-9182-856F9953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AI is a stack, not one thing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AC4BA5-A397-430D-9C06-EF534717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9BAB8B-B6B6-4C36-9C23-FE20AA33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6C25D4-8DD8-473B-BF80-8A649B5D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117AA4-D088-49E0-B6D0-DC4D4499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05806E-2576-4408-BA4D-54FADE8D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E392AA-DC6F-43DA-9BE8-07787569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Systems performing tasks associated with intelligence.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41EBAF-71BA-486B-ACEC-0D5E1D1D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ADF16E-B57D-4091-8114-71534266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3407A6-5905-476B-AA23-14A9F51B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Machine learning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D9B27D-3AD7-4025-AB7E-BCE5E837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Systems learning patterns from data.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11C9E9-CAC2-40CA-9943-D1C2C7DD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5577C8-9380-4590-AE82-D636AC3A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2E97EC-C3F4-4007-9CB4-01B24A53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Generative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191251-F15B-40C6-AEA5-3BF4B0E1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Models producing new content from learned patterns.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7C635B-DEF3-4CC4-8550-3701F8E8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A5B9AD-92ED-4446-8F11-8660C71E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481B23-C46C-4590-8A75-48AF5749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LLM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515685-65D9-4122-8FC8-6998650F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A generative model specialized in language sequences.</a:t>
            </a:r>
          </a:p>
        </p:txBody>
      </p:sp>
    </p:spTree>
    <p:extLst>
      <p:ext uri="{BB962C8B-B14F-4D97-AF65-F5344CB8AC3E}">
        <p14:creationId xmlns:p14="http://schemas.microsoft.com/office/powerpoint/2010/main" val="9122374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9">
            <a:extLst xmlns:a="http://schemas.openxmlformats.org/drawingml/2006/main">
              <a:ext uri="{FF2B5EF4-FFF2-40B4-BE49-F238E27FC236}">
                <a16:creationId xmlns:a16="http://schemas.microsoft.com/office/drawing/2014/main" id="{41BE5AAE-4410-49E7-AA85-A80C5B77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75E64-2E69-4D9B-BF4A-B578CD01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BD2F5B-CFCA-4D9B-AECA-4D71B1F8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FOUNDATIONS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46B3EB-B2BE-4AC8-B5C8-93D0583D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2300C-2844-4272-BD61-43BC5B95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C03FD-0512-42F2-A612-AD738B66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B97EE-1F60-4663-B682-90981CA2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7F35C4-D6DE-44A9-83DC-80072CDC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8D7706-0548-44C2-98E1-3A76AAE5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9">
            <a:extLst xmlns:a="http://schemas.openxmlformats.org/drawingml/2006/main">
              <a:ext uri="{FF2B5EF4-FFF2-40B4-BE49-F238E27FC236}">
                <a16:creationId xmlns:a16="http://schemas.microsoft.com/office/drawing/2014/main" id="{85DEAE9D-4E2C-4032-9810-AC063102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C83D10-2AD1-4D47-BC13-699DBF4A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2ABF1F-6885-4D15-852F-440CA62E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An LLM predicts a useful continuation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6E8327-4ABD-4083-B64A-A3BFDD64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B24295-749B-475D-AF03-D9450C0B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INPUT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431E10-9469-49AE-AA86-75501558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12C8D2-EFA3-4E8A-A77F-E05EAB29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Instructions, examples, retrieved evidence, and conversation context.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CCFC88-275B-4555-AEC6-C144C83D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085D15-E3B0-445D-97DF-04F52992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DCEBD0-DB3E-48C1-8B75-3D5B5554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A learned probability distribution over possible token sequences.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5C5B72-1006-494C-BEED-68128F01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426A6D-7081-4139-881A-84E21DB4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A822A9-B261-468D-A057-F5958E05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A generated continuation—not a database lookup and not a guaranteed fact.</a:t>
            </a:r>
          </a:p>
        </p:txBody>
      </p:sp>
    </p:spTree>
    <p:extLst>
      <p:ext uri="{BB962C8B-B14F-4D97-AF65-F5344CB8AC3E}">
        <p14:creationId xmlns:p14="http://schemas.microsoft.com/office/powerpoint/2010/main" val="14305176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10">
            <a:extLst xmlns:a="http://schemas.openxmlformats.org/drawingml/2006/main">
              <a:ext uri="{FF2B5EF4-FFF2-40B4-BE49-F238E27FC236}">
                <a16:creationId xmlns:a16="http://schemas.microsoft.com/office/drawing/2014/main" id="{54B310A5-0043-4ACF-ABC3-CE8C2779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39F38-B642-4486-8CBA-511A0D88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21D9F-0FD6-4D32-82A5-880CDACC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FOUNDATIONS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C5809-8567-4218-9D58-14C1C999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8A8358-718D-41B0-9506-7BAFFF66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B8A1A0-FD15-475B-A282-B5153A4C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7335B-814D-40A8-9794-A631756B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22F2F9-E5F7-4C70-A7CF-F36FCB72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F54383-B1E2-47F8-ACC8-59BBF766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10">
            <a:extLst xmlns:a="http://schemas.openxmlformats.org/drawingml/2006/main">
              <a:ext uri="{FF2B5EF4-FFF2-40B4-BE49-F238E27FC236}">
                <a16:creationId xmlns:a16="http://schemas.microsoft.com/office/drawing/2014/main" id="{8B6823E6-3E89-4331-AC53-92BE630C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81A0F3-836C-4C18-9656-96514BD8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759226F-722C-4C74-A233-32062A89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A prompt is temporary working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63F184-D380-44FA-B413-6A5BE548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927561-0AA1-47E5-A401-DDEF4DBF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INSTRUCTION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2A9808-4A29-4B24-A40E-04029E7D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963DF9-9D37-444C-839F-29605F2D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What should be done, for whom, and under which constraints?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0D190E-F38D-4E82-BCB4-807FE8D2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C09FEA-48FF-48D7-9CFF-F940360D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1B5FE3-B2AF-4A40-8182-CF28475A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What evidence, examples, state, and prior decisions are available now?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49263E-90F8-43BC-B9AC-1D77DE10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OUTPUT CONTRACT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FABEC2-8144-4546-BF90-4221C333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B90E01-008B-45CF-B4A1-8D1EC139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What form, quality bar, and review conditions define success?</a:t>
            </a:r>
          </a:p>
        </p:txBody>
      </p:sp>
    </p:spTree>
    <p:extLst>
      <p:ext uri="{BB962C8B-B14F-4D97-AF65-F5344CB8AC3E}">
        <p14:creationId xmlns:p14="http://schemas.microsoft.com/office/powerpoint/2010/main" val="6298789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metadata-rail-11">
            <a:extLst xmlns:a="http://schemas.openxmlformats.org/drawingml/2006/main">
              <a:ext uri="{FF2B5EF4-FFF2-40B4-BE49-F238E27FC236}">
                <a16:creationId xmlns:a16="http://schemas.microsoft.com/office/drawing/2014/main" id="{8CE01640-2B46-4D42-9F6D-E4E367C3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A9DD55-19B9-4CF8-8EFC-90AB4D86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42AEA-6B78-4A9B-8560-028BCF7A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FOUNDATIONS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DF93D-F165-4E4D-8719-EDA98D16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047A4E-A845-4422-B688-67FED414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334B8-2928-4339-8068-51487BC3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8F17C9-F45A-493F-967E-09304113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5CC21-6AB0-453F-8825-E115B0C2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A2F936-A662-494A-8938-01428713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11">
            <a:extLst xmlns:a="http://schemas.openxmlformats.org/drawingml/2006/main">
              <a:ext uri="{FF2B5EF4-FFF2-40B4-BE49-F238E27FC236}">
                <a16:creationId xmlns:a16="http://schemas.microsoft.com/office/drawing/2014/main" id="{FFCF8222-CE06-470B-86D5-65D1A8E2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273312-0B87-4908-99A0-9A7FA8EC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DAF3AE-293E-4069-9738-3357F09B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Systems turn models into agents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19ADD0-4F46-4584-B436-BF502A2A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A38810-C6B7-4A40-987A-3D1EC52A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2A40BD-D5DF-479D-B9D2-385C9108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184DA9-11B4-472E-8A37-324424D9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Generates a response from supplied context.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4145E0-0F20-49EE-86B8-A071AE62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0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8D5DC"/>
                </a:solidFill>
              </a:defRPr>
            </a:pPr>
            <a:r>
              <a:rPr sz="1275" b="1" i="0">
                <a:solidFill>
                  <a:srgbClr val="C8D5DC"/>
                </a:solidFill>
              </a:rPr>
              <a:t>No independent action loop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3AF67C-4424-42B6-A11B-D1CC9F35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ASSISTANT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8020BB-C897-42AD-A37C-3E24FECF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AA52DE-B977-4D24-80DB-77FEA761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Adds interface, instructions, and selected tools.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03A8B7-9471-42E6-97E4-EB0DC1B8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524500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8D5DC"/>
                </a:solidFill>
              </a:defRPr>
            </a:pPr>
            <a:r>
              <a:rPr sz="1275" b="1" i="0">
                <a:solidFill>
                  <a:srgbClr val="C8D5DC"/>
                </a:solidFill>
              </a:rPr>
              <a:t>Usually user-steered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69D1BD-58D4-4D32-AF78-5054ABA7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AGENTIC SYSTEM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58EB1F-B265-4FB8-A966-5B0C04B2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B57B3A-9DC9-4805-9B05-832C4CF4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Pursues a goal through observation, planning, tool use, and feedback.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6EBF29-A437-479D-A492-557D1938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24500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8D5DC"/>
                </a:solidFill>
              </a:defRPr>
            </a:pPr>
            <a:r>
              <a:rPr sz="1275" b="1" i="0">
                <a:solidFill>
                  <a:srgbClr val="C8D5DC"/>
                </a:solidFill>
              </a:rPr>
              <a:t>Bounded autonomy</a:t>
            </a:r>
          </a:p>
        </p:txBody>
      </p:sp>
    </p:spTree>
    <p:extLst>
      <p:ext uri="{BB962C8B-B14F-4D97-AF65-F5344CB8AC3E}">
        <p14:creationId xmlns:p14="http://schemas.microsoft.com/office/powerpoint/2010/main" val="8637986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metadata-rail-12">
            <a:extLst xmlns:a="http://schemas.openxmlformats.org/drawingml/2006/main">
              <a:ext uri="{FF2B5EF4-FFF2-40B4-BE49-F238E27FC236}">
                <a16:creationId xmlns:a16="http://schemas.microsoft.com/office/drawing/2014/main" id="{625E14D2-047E-431E-81C2-105D5BA9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A630E-6069-44E8-B3EA-060E5AC1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5123CC-B1DA-4B92-81B6-0A08BDB8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FOUNDATIONS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63352-B277-45C4-A1F4-B5AE55CB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D47C6-45E1-4E9E-9C8F-843580D2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FAD43-9BAC-40E5-BF09-9C9ECB20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C026B5-856B-42B2-926F-109B11A5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79858-58E7-4CA5-A7A7-680E6307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288A87-F0D0-4F44-9B63-9F433CD9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12">
            <a:extLst xmlns:a="http://schemas.openxmlformats.org/drawingml/2006/main">
              <a:ext uri="{FF2B5EF4-FFF2-40B4-BE49-F238E27FC236}">
                <a16:creationId xmlns:a16="http://schemas.microsoft.com/office/drawing/2014/main" id="{FE21A5A3-A6BB-44CD-8A32-A5AE1B34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A4E483-CB12-473C-B13B-490DAD07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106BDE-D32A-444A-ADD2-90204766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The minimal agent loop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C5E98E-BAA1-4870-9A75-0F9BB727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05884B-128C-419D-B00C-57EAAFBE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61AF5B-4B93-440C-9688-617ED5B9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AD0E33-42F6-4157-ABE9-42AAF9FC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D92D11-3FFF-46C4-86DE-2EC334E1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Observe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D8C945-BE39-446F-8CA1-C3BA2578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Read the request and current environment.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27EF9F-D2E3-45C1-A228-AE28A98E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1BE0CB-3368-4019-81AB-52FAA4D8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5FAC09-E7EB-4FAF-A03C-B0BBEEAD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Plan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D40DE0-B5EB-44C0-91C8-F207D031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Choose a next step or decompose the task.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809D64-4B59-40FA-BB76-C982B7D2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2342BD-9C8F-4157-8AE9-F6F9612C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EB5F94-CB7A-41CF-946C-E0C8A83F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Act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D9BE1F-1892-4E84-9C9D-3E02D5F4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Use a tool or produce an artifact.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2CF668-C019-46BB-BC16-8A52B9F8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DED34E-4F11-43B8-9AC5-B634D6E7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28EDED-8BC1-4DBF-A496-4CC58C12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Evaluate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10C207-8B43-4E80-8067-D98EF7D8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Check the result, update state, and continue.</a:t>
            </a:r>
          </a:p>
        </p:txBody>
      </p:sp>
    </p:spTree>
    <p:extLst>
      <p:ext uri="{BB962C8B-B14F-4D97-AF65-F5344CB8AC3E}">
        <p14:creationId xmlns:p14="http://schemas.microsoft.com/office/powerpoint/2010/main" val="14542598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13">
            <a:extLst xmlns:a="http://schemas.openxmlformats.org/drawingml/2006/main">
              <a:ext uri="{FF2B5EF4-FFF2-40B4-BE49-F238E27FC236}">
                <a16:creationId xmlns:a16="http://schemas.microsoft.com/office/drawing/2014/main" id="{A3D9B542-D577-4FF3-9BAE-EC6DC60D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C6276-F122-47B4-9F9F-1740529B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9EEB5-993C-4C48-8D04-0DC6AC64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FOUNDATIONS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4F644-4740-49E0-A1EB-FF0AA2E9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10F14-CCE3-4CA4-B8B7-6289D520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17CDD4-FF52-4F3F-8245-E117CBAD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49EF04-B1EF-4F4D-9BC0-D6671513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C01DCB-62DE-45B2-8771-D7D64A75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AA7DCF-BCFE-4A6D-90B8-E3591039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13">
            <a:extLst xmlns:a="http://schemas.openxmlformats.org/drawingml/2006/main">
              <a:ext uri="{FF2B5EF4-FFF2-40B4-BE49-F238E27FC236}">
                <a16:creationId xmlns:a16="http://schemas.microsoft.com/office/drawing/2014/main" id="{BFBDC6CC-AFCE-4837-A154-B372FE20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B0ECB4-1B0E-49AE-8EA4-D908F1EA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816889-70AA-4B94-8D17-BEA01E68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Tools convert language into consequences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1533D9-B810-43FC-B070-C7C7FCAA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7F1636-157A-426D-BE87-9A22B2C4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READ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48A4ED-339C-40BF-80DE-346F1732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76DE71-4CE0-480F-8DDA-537AB99C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Search, inspect files, retrieve sources, read calendars, or query data.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174777-E9CA-40F5-990A-EB2B180E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CREATE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D7D18E-2843-47B5-93FB-3FF7D566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14BF3E-6883-4B59-94CD-28A9CD0D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Draft documents, generate presentations, transform datasets, or write code.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43FC0F-7C51-4197-ADBD-935045F9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CHANGE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211B0D-1928-49EF-A67B-95EFFFB5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3D216E-65FA-47B3-92EA-7B466467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Send messages, update records, publish content, or run external processes.</a:t>
            </a:r>
          </a:p>
        </p:txBody>
      </p:sp>
    </p:spTree>
    <p:extLst>
      <p:ext uri="{BB962C8B-B14F-4D97-AF65-F5344CB8AC3E}">
        <p14:creationId xmlns:p14="http://schemas.microsoft.com/office/powerpoint/2010/main" val="16762086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14">
            <a:extLst xmlns:a="http://schemas.openxmlformats.org/drawingml/2006/main">
              <a:ext uri="{FF2B5EF4-FFF2-40B4-BE49-F238E27FC236}">
                <a16:creationId xmlns:a16="http://schemas.microsoft.com/office/drawing/2014/main" id="{41A5CCAB-17B0-4C43-85FB-2AA83586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D5AEC5-DA8D-4BC3-B5E8-94AC343F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784C37-3835-4EF5-97CB-928F7CBF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FOUNDATIONS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C38765-5647-445F-B76B-4439380E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3E2C3-82F1-4062-8B25-F301041A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AB743-AAF0-4325-B6B8-F1191CED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54B6F-FB9F-4D19-A9EB-8BE6F43F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AACA18-2311-48CC-8F63-016BE69F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CE690C-165A-40A2-9EF0-33AAAEEC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14">
            <a:extLst xmlns:a="http://schemas.openxmlformats.org/drawingml/2006/main">
              <a:ext uri="{FF2B5EF4-FFF2-40B4-BE49-F238E27FC236}">
                <a16:creationId xmlns:a16="http://schemas.microsoft.com/office/drawing/2014/main" id="{C1A7FD97-2C93-4D1E-B3BD-C7120FD7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D3DBE7-74BE-4FF8-BF56-2EB28F66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34D6CC-4BED-4D99-AB01-F5665F72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Memory gives an agent continuity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F95A8D-9EFE-4658-BA93-48485B9F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E04D48-77D3-4381-A88E-06461785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WORKING 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FDE0AF-AD21-44A6-8879-6BFEAE02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81A197-DF97-4085-8F6C-2C7DA014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The immediate context needed for the current step.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A64A7D-4AC4-4205-8285-CFE8CD5C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PROJECT MEMORY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EA24DD-5FBF-490B-8225-950B98C7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F00429-21C8-4B4E-A32C-1389C092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Durable sources, decisions, terminology, and outputs.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323D2C-4B9E-4E95-8A28-6A0D6C5B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EVENT HISTORY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F83A90-DB39-4913-9380-34704E27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6FA8BC-3463-4989-947D-38165A9C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What happened, when, through which tool, with what result.</a:t>
            </a:r>
          </a:p>
        </p:txBody>
      </p:sp>
    </p:spTree>
    <p:extLst>
      <p:ext uri="{BB962C8B-B14F-4D97-AF65-F5344CB8AC3E}">
        <p14:creationId xmlns:p14="http://schemas.microsoft.com/office/powerpoint/2010/main" val="16134056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15">
            <a:extLst xmlns:a="http://schemas.openxmlformats.org/drawingml/2006/main">
              <a:ext uri="{FF2B5EF4-FFF2-40B4-BE49-F238E27FC236}">
                <a16:creationId xmlns:a16="http://schemas.microsoft.com/office/drawing/2014/main" id="{9CC86193-7588-4118-A2E6-5817C4B6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B3DDA3-138B-48C7-AC4F-2C46882B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43D7B-96A9-47ED-903B-1B3E51D0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FOUNDATIONS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05EF2-9664-45DC-8A63-A17E0D66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27598B-5478-47D7-829A-50738439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81950-1DC3-42D5-9606-E21C52BE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57456C-6959-4E33-8FA4-ED9C1B58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543F96-2C4F-49E2-AD9F-DC5DAF36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432DA-1C0C-492C-9138-B0588F3C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15">
            <a:extLst xmlns:a="http://schemas.openxmlformats.org/drawingml/2006/main">
              <a:ext uri="{FF2B5EF4-FFF2-40B4-BE49-F238E27FC236}">
                <a16:creationId xmlns:a16="http://schemas.microsoft.com/office/drawing/2014/main" id="{D5AEE530-520D-441D-AF47-965863B6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9CE70C-A4D3-498C-9A64-013FCE51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D48A01-C7C9-462C-B51B-08FD48FB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The environment defines what is possible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5C5BA-836E-4231-A222-54C1FBB5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C7C9D7-1ED9-48CF-983D-8E9CA887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AVAILABLE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BD41E0-340A-4357-9C48-43052A07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0A7F06-54E2-41A1-9CFB-1E62EBD6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Files, repositories, applications, databases, and connected services.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DE7390-D0AB-48A7-BFC1-1E1667ED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PERMISSIONS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7F083C-448E-4EDF-AC0B-0714B608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81A7E9-4216-4301-88AD-B3F6FBD1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What the agent may read, modify, send, schedule, or publish.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11B1BC-81A4-4AC8-8ECE-2BB0D1B9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BOUNDARIES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6D45F5-6726-4068-BB58-F26B4651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055590-FB23-453A-B121-1B53C108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Which actions require a person, a policy check, or a separate release path.</a:t>
            </a:r>
          </a:p>
        </p:txBody>
      </p:sp>
    </p:spTree>
    <p:extLst>
      <p:ext uri="{BB962C8B-B14F-4D97-AF65-F5344CB8AC3E}">
        <p14:creationId xmlns:p14="http://schemas.microsoft.com/office/powerpoint/2010/main" val="81349898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16">
            <a:extLst xmlns:a="http://schemas.openxmlformats.org/drawingml/2006/main">
              <a:ext uri="{FF2B5EF4-FFF2-40B4-BE49-F238E27FC236}">
                <a16:creationId xmlns:a16="http://schemas.microsoft.com/office/drawing/2014/main" id="{B754D9FF-0FBD-41A7-B52D-6266D3DA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91666-017E-4AB4-935B-B5472179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2088FC-A013-4408-B309-3B68EFCE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FOUNDATIONS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1DB32-5F98-40E9-9073-1E0B901C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D785B-199A-4D13-8438-B03B158B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D4D8E5-444A-4F68-99CE-CA718168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164CC5-D023-4609-8CDA-98DF9799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2C2BFB-FE87-4DE1-ABEC-684FA926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E84943-B566-40DD-9AA3-9F459163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16">
            <a:extLst xmlns:a="http://schemas.openxmlformats.org/drawingml/2006/main">
              <a:ext uri="{FF2B5EF4-FFF2-40B4-BE49-F238E27FC236}">
                <a16:creationId xmlns:a16="http://schemas.microsoft.com/office/drawing/2014/main" id="{B2EB9967-ABAD-40E0-B5D0-F6191F02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C036E7-AE88-44DC-AF71-8D9D9B9D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FCD18F-7FE8-4655-8940-45FEB58B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Artifacts make agent work reviewable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7D8C0A-1F3C-4707-A98E-183BD801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8666CB-2951-4868-824E-FC76807E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FILES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1818D6-2FDA-46FA-AB5A-E830DBA5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2FBF7F-DA31-4013-AB5E-E5E7745A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Drafts, plans, data, slides, and outputs can be inspected directly.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9A50E-8E21-4977-8ED9-A31C55BD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HISTORY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27D3CB-0282-4E7C-9201-8AE6030C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CF4A04-D2E7-4AAE-91D8-7E59E36E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Commits and issue activity show when and why work changed.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E55026-3468-4E98-BD90-A2301683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PROVENANCE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71A7F0-8606-4C7D-A5A0-7C539B8E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3BF86E-1341-4475-A4D7-86CDBFA3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Sources in notes and metadata connect claims to evidence.</a:t>
            </a:r>
          </a:p>
        </p:txBody>
      </p:sp>
    </p:spTree>
    <p:extLst>
      <p:ext uri="{BB962C8B-B14F-4D97-AF65-F5344CB8AC3E}">
        <p14:creationId xmlns:p14="http://schemas.microsoft.com/office/powerpoint/2010/main" val="47299033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0F2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7D516-D2B2-41F5-9143-B0B287CC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714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8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1B768-9A7F-42C2-A80D-24BA8203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0"/>
            <a:ext cx="8096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4A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9EA9B-BD99-4A0E-961C-0C1A508F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CD64F3-C6AE-4D61-BE93-677135BB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300"/>
            <a:ext cx="238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8850" b="1" i="0">
                <a:solidFill>
                  <a:srgbClr val="014A74"/>
                </a:solidFill>
              </a:defRPr>
            </a:pPr>
            <a:r>
              <a:rPr sz="8850" b="1" i="0">
                <a:solidFill>
                  <a:srgbClr val="014A74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BDA1C5-64FF-4898-8788-EDD607F7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666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4350" b="0" i="0">
                <a:solidFill>
                  <a:srgbClr val="FFFFFF"/>
                </a:solidFill>
              </a:defRPr>
            </a:pPr>
            <a:r>
              <a:rPr sz="4350" b="0" i="0">
                <a:solidFill>
                  <a:srgbClr val="FFFFFF"/>
                </a:solidFill>
              </a:rPr>
              <a:t>THEORY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77868-F55A-474F-B35A-38A70A39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6235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Planning, acting, remembering, reflecting, and governing the loop.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4A2301-6C24-4270-82CE-3B8313BA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22630-EEEF-4022-8E4F-5B3758A3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14A74"/>
                </a:solidFill>
              </a:defRPr>
            </a:pPr>
            <a:r>
              <a:rPr sz="975" b="1" i="0">
                <a:solidFill>
                  <a:srgbClr val="014A74"/>
                </a:solidFill>
              </a:rPr>
              <a:t>CREATED WITH AFK RESEARCH</a:t>
            </a:r>
          </a:p>
        </p:txBody>
      </p:sp>
    </p:spTree>
    <p:extLst>
      <p:ext uri="{BB962C8B-B14F-4D97-AF65-F5344CB8AC3E}">
        <p14:creationId xmlns:p14="http://schemas.microsoft.com/office/powerpoint/2010/main" val="65324990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metadata-rail-18">
            <a:extLst xmlns:a="http://schemas.openxmlformats.org/drawingml/2006/main">
              <a:ext uri="{FF2B5EF4-FFF2-40B4-BE49-F238E27FC236}">
                <a16:creationId xmlns:a16="http://schemas.microsoft.com/office/drawing/2014/main" id="{13E4383D-7A5A-4D30-95DF-717918AB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F3EFA5-38FB-4BD9-B936-E9B41536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0C406-3E73-4635-8F2D-F4494AE5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THEORY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46E1DA-406E-4C89-80E5-08D0D5FB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C98A62-2D12-422E-BA2F-E0045EE9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7EBDCB-3D21-481C-A620-3D546CD3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19310-BBB2-4325-BC82-8FCE316A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344C2-692A-44DB-AB9E-B0C7E0CB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A79BA7-0C31-4D7A-8597-EBF8510E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18">
            <a:extLst xmlns:a="http://schemas.openxmlformats.org/drawingml/2006/main">
              <a:ext uri="{FF2B5EF4-FFF2-40B4-BE49-F238E27FC236}">
                <a16:creationId xmlns:a16="http://schemas.microsoft.com/office/drawing/2014/main" id="{A09A5ABC-B607-4961-A433-4999CCED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DC8DEE-6634-480E-827E-1FC1214F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74BF5B3-5909-477C-8511-BA67F9AA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ReAct interleaves reasoning and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32651B-13AB-482D-B284-71969AF5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F7EC47-7DF9-4419-8894-34002E7C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1FA0A5-FB91-4C24-8FFF-A7AEAFDF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056572-80A2-4120-BE1D-FDB21C11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90816A-085D-43B2-9A89-D627174E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Reason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F6A264-C160-4BC0-A315-CB30417D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Form a hypothesis or decide what is missing.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D51801-F48A-4F16-B80D-B27523FA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D060FD-CDF4-4D20-94EF-1DDFBA78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274B27-F075-4987-AF5A-F77D2A58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BECFC5-907D-4CA9-A12D-26291113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Call a tool or interact with the environment.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CDD5AB-08B1-4810-AB8A-5D595919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A21605-EF8E-4A75-9351-5C875FBF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FC5B1A-CC3A-4857-AE05-9255CE63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Observe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BAF750-D944-4B57-8888-1BBA3FBF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Receive new evidence or a tool result.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26C730-3656-489B-98FE-863AE5F4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46FE32-57CF-4D1B-9EBE-94C20DF3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A62373-CA74-47E3-BDFB-220EC9AF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Revise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F18B68-F8E4-4422-8311-9A4E49A6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Update the plan and repeat as needed.</a:t>
            </a:r>
          </a:p>
        </p:txBody>
      </p:sp>
    </p:spTree>
    <p:extLst>
      <p:ext uri="{BB962C8B-B14F-4D97-AF65-F5344CB8AC3E}">
        <p14:creationId xmlns:p14="http://schemas.microsoft.com/office/powerpoint/2010/main" val="73394205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19">
            <a:extLst xmlns:a="http://schemas.openxmlformats.org/drawingml/2006/main">
              <a:ext uri="{FF2B5EF4-FFF2-40B4-BE49-F238E27FC236}">
                <a16:creationId xmlns:a16="http://schemas.microsoft.com/office/drawing/2014/main" id="{C5A3805B-2A13-4E75-A7D7-4DF23352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C97E3-91EE-4D03-B315-BF8B4159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EF240-03C9-41A6-BDBD-DDDD9765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THEORY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5818E-FC6D-4D02-8537-ACC506DE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2BB9C3-90A7-452F-82A3-68501B3E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B3B50E-74EE-4DB6-A95E-28320906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D7D0DD-78DE-4FB0-866A-CBCA5391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FA3B30-0DBC-4809-BFFE-9D56EB12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3A6574-C64E-4BCA-AD28-070C3D20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19">
            <a:extLst xmlns:a="http://schemas.openxmlformats.org/drawingml/2006/main">
              <a:ext uri="{FF2B5EF4-FFF2-40B4-BE49-F238E27FC236}">
                <a16:creationId xmlns:a16="http://schemas.microsoft.com/office/drawing/2014/main" id="{4860E5B3-E0DC-45E2-BAF7-68B0BB0D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06E0D8-2A9B-494C-9F1F-D8258B01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821921-D18C-4CDD-A5D1-8DB5FC12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Planning turns goals into tractable steps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530591-FE1B-400E-9F18-424B32B8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A7760D-E205-416B-A980-DA616C0B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DECOMPOSE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C60E38-D54E-4EAE-A844-894CE97C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DEC032-737D-49F7-906A-BB6E985A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Break a broad objective into smaller deliverables or checks.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91A411-87A2-4F5E-ADFD-597D4E0C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ORDER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55C14A-F1D8-41F9-8229-7D8ABC96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C32A9F-C949-4871-8EBC-A4C6415A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Place dependencies, approvals, and evidence gathering in a safe sequence.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DAEAB0-AA42-4080-B8FE-B6B86448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REPLAN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799D1C-9DB9-4D8B-8EDB-8881510B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EFB635-330A-49FE-89D0-FF46FDC4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Change course when tools fail, evidence conflicts, or constraints appear.</a:t>
            </a:r>
          </a:p>
        </p:txBody>
      </p:sp>
    </p:spTree>
    <p:extLst>
      <p:ext uri="{BB962C8B-B14F-4D97-AF65-F5344CB8AC3E}">
        <p14:creationId xmlns:p14="http://schemas.microsoft.com/office/powerpoint/2010/main" val="23161216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20">
            <a:extLst xmlns:a="http://schemas.openxmlformats.org/drawingml/2006/main">
              <a:ext uri="{FF2B5EF4-FFF2-40B4-BE49-F238E27FC236}">
                <a16:creationId xmlns:a16="http://schemas.microsoft.com/office/drawing/2014/main" id="{DDC01D1E-149F-4C5D-A193-6C06B2A1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6770E-85B8-4EC2-ACB2-D69D1DE5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D879B2-6307-4D94-8EDB-F1139A9B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THEORY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065BA-89E3-40E7-ABB7-803A604D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4D078-D61D-428A-B936-FEE6E7A7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94747A-6832-49A2-95AC-6BABC4DF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D75789-E299-411D-AB7B-3A77754C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EA28AC-4389-4D5C-A2B3-75AD008B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BD1378-E5BE-4A56-A4DA-96B7B058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20">
            <a:extLst xmlns:a="http://schemas.openxmlformats.org/drawingml/2006/main">
              <a:ext uri="{FF2B5EF4-FFF2-40B4-BE49-F238E27FC236}">
                <a16:creationId xmlns:a16="http://schemas.microsoft.com/office/drawing/2014/main" id="{A83D3453-A498-4EE2-8A09-E74EC9CD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880DC4-6283-4392-9ABD-E68FC27F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4BFE3F-67FC-4686-8B2F-8F105518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Tool selection is a policy 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928D98-5486-4682-9DBC-323017DE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72603B-13E5-4601-89E1-07683763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WHEN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A826E5-58F5-4C18-8470-ACA06C8A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CF08A0-4DD1-4D63-AAD3-B4020D44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Use a tool when the model lacks current state, precision, or the ability to act.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9F977D-461C-45CD-AA08-7FD7ACCB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WHICH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EE6A89-110F-4255-8A52-95A44073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176C28-2442-4126-867F-57625B55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Choose the narrowest tool whose capability and permissions match the step.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44BDC1-E9ED-428D-BEB4-021BECB6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HOW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EF8D25-377F-483E-A908-C6D122C4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B5ACED-9182-48BC-B324-D361A94E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Validate arguments, inspect results, and stop loops that do not converge.</a:t>
            </a:r>
          </a:p>
        </p:txBody>
      </p:sp>
    </p:spTree>
    <p:extLst>
      <p:ext uri="{BB962C8B-B14F-4D97-AF65-F5344CB8AC3E}">
        <p14:creationId xmlns:p14="http://schemas.microsoft.com/office/powerpoint/2010/main" val="9855751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metadata-rail-21">
            <a:extLst xmlns:a="http://schemas.openxmlformats.org/drawingml/2006/main">
              <a:ext uri="{FF2B5EF4-FFF2-40B4-BE49-F238E27FC236}">
                <a16:creationId xmlns:a16="http://schemas.microsoft.com/office/drawing/2014/main" id="{C24F220B-79DC-4905-B100-53DEE1CC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6B93E-13D5-4A78-9653-06DCF723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7DF1F3-46E8-4357-9A1B-C7848613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THEORY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5637E-E41D-4BDA-9B6B-B5619125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4AB4D-7018-45FB-89EC-E77CBFE8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03DCB3-838E-4830-BC30-C5D4579A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E9555B-469D-4C9E-A4BE-9C661BF4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813D19-7529-40A0-8067-2E7BB7AB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DB4A3C-51F1-4F38-8677-E45A0F2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21">
            <a:extLst xmlns:a="http://schemas.openxmlformats.org/drawingml/2006/main">
              <a:ext uri="{FF2B5EF4-FFF2-40B4-BE49-F238E27FC236}">
                <a16:creationId xmlns:a16="http://schemas.microsoft.com/office/drawing/2014/main" id="{23EAF1DD-C589-468B-BA54-5D36B98A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02AC8E-2142-4C1A-9C6D-4068B898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D70B38-7BD5-48A5-900D-310E7FE4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Memory is a lifecycle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406C54-9621-4B85-AA6B-63D9B652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148352-A1C6-4A1D-B107-8C9EB021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13FC82-05A4-4749-8138-3023DCE7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D2924D-C981-42DB-A475-21518B6F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A5BAAA-6C04-4869-8DD1-83995D66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Capture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ACEA98-8276-48DC-A05E-4DC558AB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Record sources, events, decisions, and artifacts.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8DFDBC-ED03-4436-BF66-ADC58ED1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F2459-5280-4CFC-9EAB-D693E1E4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6568FD-3124-4D0B-88F6-37AEDCCB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Organize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FDB1A4-64BA-463C-931F-CB11CC3D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Structure knowledge for future retrieval.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7BF193-1F40-485A-954D-B2BC6508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270C99-F99B-406E-A8FA-CE0C21FE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1D24D5-7F5F-466C-91AE-14CBBA4E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Retrieve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AF07DA-1E54-4DD1-893C-73211064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Bring only relevant evidence into working context.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6FD3FD-8E64-40DB-9A5C-E7E130FC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45FCFC-69B3-4448-9BFA-96E3D082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6CA3FA-1929-4FDF-A2C3-29BEC5D1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Update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5E1D15-FF94-4901-9E37-A2CFB354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Correct, supersede, or archive knowledge as the project changes.</a:t>
            </a:r>
          </a:p>
        </p:txBody>
      </p:sp>
    </p:spTree>
    <p:extLst>
      <p:ext uri="{BB962C8B-B14F-4D97-AF65-F5344CB8AC3E}">
        <p14:creationId xmlns:p14="http://schemas.microsoft.com/office/powerpoint/2010/main" val="167510319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22">
            <a:extLst xmlns:a="http://schemas.openxmlformats.org/drawingml/2006/main">
              <a:ext uri="{FF2B5EF4-FFF2-40B4-BE49-F238E27FC236}">
                <a16:creationId xmlns:a16="http://schemas.microsoft.com/office/drawing/2014/main" id="{CB2ACCEB-9216-4B37-ACD0-1A400BBF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02A071-CA85-4AAA-8960-D9D885D8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893A9A-DC13-4D5D-B303-9F837566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THEORY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BE38C-6531-4FB7-A690-F3C118D5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335EF2-C98A-44AC-98D1-63B9D78C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666923-5FA4-4E2E-9374-9EDC04EE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5D0BAD-C61C-487C-A19E-F8FA5AD0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C8FD90-1A20-4E68-AF35-59091100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76019B-5EEE-41F0-8865-2AB8A3B6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22">
            <a:extLst xmlns:a="http://schemas.openxmlformats.org/drawingml/2006/main">
              <a:ext uri="{FF2B5EF4-FFF2-40B4-BE49-F238E27FC236}">
                <a16:creationId xmlns:a16="http://schemas.microsoft.com/office/drawing/2014/main" id="{3C1CAF96-57CE-403E-ACFB-00445779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2BEF2E-DA79-431D-8ADE-11C48643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5C8215-CBEB-413B-BA17-BD226728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RAG grounds generation in retrieved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887409-2D6A-43B8-98CB-FD767763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B713F9-6969-45EE-9A07-232CA88D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RETRIEVE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0F5904-7B45-4A1F-BEA0-D39844ED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1ED7B7-7550-4F7E-8F02-FAB5F196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Find relevant passages from an external, updateable knowledge source.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E64229-62DE-4F5A-818A-D30C12CC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AUGMENT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AB8A27-FF70-4E13-B803-6583A2F2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EA3068-B0B8-4C43-B6C4-9E2DA3EA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Place those passages and provenance in the model’s context.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5302F7-26BF-482E-886A-F1D99EB7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GENERATE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A72AFB-B518-4A84-9B57-77ECA3BF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D75E51-819A-41CB-A064-BF46EFF6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Produce an answer conditioned on both model knowledge and retrieved evidence.</a:t>
            </a:r>
          </a:p>
        </p:txBody>
      </p:sp>
    </p:spTree>
    <p:extLst>
      <p:ext uri="{BB962C8B-B14F-4D97-AF65-F5344CB8AC3E}">
        <p14:creationId xmlns:p14="http://schemas.microsoft.com/office/powerpoint/2010/main" val="7422176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23">
            <a:extLst xmlns:a="http://schemas.openxmlformats.org/drawingml/2006/main">
              <a:ext uri="{FF2B5EF4-FFF2-40B4-BE49-F238E27FC236}">
                <a16:creationId xmlns:a16="http://schemas.microsoft.com/office/drawing/2014/main" id="{DA3E1226-4FC2-433C-B57F-21E9634E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26DA1-1FC3-44BE-8FEB-284B58EA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F69764-288E-4B78-B4F0-3A874ECB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THEORY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A3905-3766-4FD9-8A87-D0544A8E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DFB37-187D-47BD-B175-F933677B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FC70DB-7FC8-4F1E-850B-3C8F5FC1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1D79D-7AAC-49B9-A59D-0D55685E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4126C1-7C5B-401A-BBC4-8DF91505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B1468A-DC50-415E-B109-CA860A75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23">
            <a:extLst xmlns:a="http://schemas.openxmlformats.org/drawingml/2006/main">
              <a:ext uri="{FF2B5EF4-FFF2-40B4-BE49-F238E27FC236}">
                <a16:creationId xmlns:a16="http://schemas.microsoft.com/office/drawing/2014/main" id="{99F88CF1-71D9-4C7B-BFC0-27731041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CA3013-4903-4B0B-A2D6-0DE0409B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4E6BC2-B2B5-4637-90B1-430C5272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Reflection converts outcomes into guidance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FD64D-C7AA-4821-833C-B542CA44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6B17FF-6E22-4F53-9361-5D761CCC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COMPARE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4C1E57-239C-46A1-A6E4-9DFDB977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120B05-8F67-4E27-8A54-D478C8FF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Did the result satisfy the objective, constraints, and evidence standard?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4B9F0A-2DF0-4295-A9BD-DA5A3A9C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DIAGNOSE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CE3853-7365-4F15-8A06-813EA355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E1DF6D-F05C-4664-A6D1-B3DE29A2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Was the failure caused by the plan, tool, data, permissions, or model?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4F61C7-3726-4018-9E75-3377BDAC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ADAPT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E50526-F6AC-4F6C-80A9-3633EB0E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0E8148-7422-4468-8058-0D3976CC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Revise the next step or store a durable lesson for future work.</a:t>
            </a:r>
          </a:p>
        </p:txBody>
      </p:sp>
    </p:spTree>
    <p:extLst>
      <p:ext uri="{BB962C8B-B14F-4D97-AF65-F5344CB8AC3E}">
        <p14:creationId xmlns:p14="http://schemas.microsoft.com/office/powerpoint/2010/main" val="168660659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24">
            <a:extLst xmlns:a="http://schemas.openxmlformats.org/drawingml/2006/main">
              <a:ext uri="{FF2B5EF4-FFF2-40B4-BE49-F238E27FC236}">
                <a16:creationId xmlns:a16="http://schemas.microsoft.com/office/drawing/2014/main" id="{D5B8FC98-964A-418C-9224-6B24130B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D5113-2D61-46B1-8F58-B883CB74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02021-89A8-4FC0-8645-1E4434AE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THEORY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7EA36-7383-4CA8-92F6-DF58FDC7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C27BFE-22C4-4EDF-A060-AC53404A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60444C-B013-44ED-903E-7D4C60CF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1A0384-C7E9-4D78-83D4-A0067CE0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478DF-1FBB-4361-B40A-C3DEAFB6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A071A2-8CEE-48B8-9494-30F06D7E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24">
            <a:extLst xmlns:a="http://schemas.openxmlformats.org/drawingml/2006/main">
              <a:ext uri="{FF2B5EF4-FFF2-40B4-BE49-F238E27FC236}">
                <a16:creationId xmlns:a16="http://schemas.microsoft.com/office/drawing/2014/main" id="{89A2295B-1D47-48F3-BF43-04D095B0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EF4547-5A84-46C6-9020-1C1B3911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7040F7-7DBA-4BD0-BFC3-7507A30D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Orchestration can stay simple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16F610-F848-4FD6-998C-8F3FB1E7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5BE8EA-6AD7-4194-B9DA-0F9974D9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SEQUENTIAL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1C47EE-192D-443C-AEDF-70A0FB1F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CF2D7C-C994-4BE2-931F-0DF44D6E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One step feeds the next. Best when dependencies are clear.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7FD64B-F9FE-4615-904A-46762698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PARALLEL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8AC201-5570-48CF-BBCC-A4DDCE90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DD7937-3D39-4DBA-A8CD-AE41DF77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Independent subtasks run together. Best when evidence can be reconciled.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C5C3FA-ED30-4AD0-ADC0-EBD1F4DB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ROUTED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88F0FA-7CE4-48A1-B3A1-0727E2FF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5CAF6E-D335-4B95-8148-C16DEFCD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A coordinator selects a specialized workflow. Best for recurring task families.</a:t>
            </a:r>
          </a:p>
        </p:txBody>
      </p:sp>
    </p:spTree>
    <p:extLst>
      <p:ext uri="{BB962C8B-B14F-4D97-AF65-F5344CB8AC3E}">
        <p14:creationId xmlns:p14="http://schemas.microsoft.com/office/powerpoint/2010/main" val="12825390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metadata-rail-25">
            <a:extLst xmlns:a="http://schemas.openxmlformats.org/drawingml/2006/main">
              <a:ext uri="{FF2B5EF4-FFF2-40B4-BE49-F238E27FC236}">
                <a16:creationId xmlns:a16="http://schemas.microsoft.com/office/drawing/2014/main" id="{573C9749-BCE1-40F6-9CCE-5B28FD58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68143C-5BC4-455F-A775-3EACE6E7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4557D-72CB-40E8-AF7D-D06CB004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THEORY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BFA739-72B0-4C73-9D20-8DFA20EC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C8B66-0802-46DF-9F1E-FD95B196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CAC22-BC83-45EC-A319-EE38E7BA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3F3EF-1A26-4291-98AF-FE455B83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F0DAC8-8A0D-404E-9441-68089E49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632542-DE4F-45D9-8086-7EFBBDDC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25">
            <a:extLst xmlns:a="http://schemas.openxmlformats.org/drawingml/2006/main">
              <a:ext uri="{FF2B5EF4-FFF2-40B4-BE49-F238E27FC236}">
                <a16:creationId xmlns:a16="http://schemas.microsoft.com/office/drawing/2014/main" id="{A3617FAF-C38D-4000-BD09-E750DAE2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D1A389-D4A0-42EC-B62C-A94B3A66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5B8483-2397-4B1E-851D-A81CE43A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Autonomy should rise with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E46F61-7F9D-4520-A44A-0E93AB0C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CB482D-271D-46AA-90D0-5A0A0571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368019-064D-47ED-BDBB-C9B97048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6D15F6-8085-4DA4-BED0-BF467C65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6728EA-3892-47D2-8DC9-AF035872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Suggest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ABAFDE-E79C-499F-974E-678CBDA9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Draft options; a person chooses.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16CBE7-B2ED-4269-BCAE-8DDA6BC3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3AE514-1E87-4768-8C36-AE0B91ED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CA01FE-2774-4B2C-A5BE-B52EDC12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Prepare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48D04D-E2CE-42D4-A1CD-A95C7E24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Create artifacts; a person reviews.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BF446B-FAB0-48FD-B063-844FE720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AF6332-F701-40F1-AD26-62F6B90E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1F58F5-2478-4409-8017-21541185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Execute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07B5C5-FBAB-4DCC-A718-279E415F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Act within narrow, reversible limits.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BA2808-ECCD-4A3A-8564-368F8E78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F7CA27-BA55-436C-84B4-76B11685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8ECFA0-9720-4956-972A-2501D220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Monitor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0EDFFA-6EAB-4C65-B067-B51CC055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Run repeatedly with logs, thresholds, and stop conditions.</a:t>
            </a:r>
          </a:p>
        </p:txBody>
      </p:sp>
    </p:spTree>
    <p:extLst>
      <p:ext uri="{BB962C8B-B14F-4D97-AF65-F5344CB8AC3E}">
        <p14:creationId xmlns:p14="http://schemas.microsoft.com/office/powerpoint/2010/main" val="193197750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26">
            <a:extLst xmlns:a="http://schemas.openxmlformats.org/drawingml/2006/main">
              <a:ext uri="{FF2B5EF4-FFF2-40B4-BE49-F238E27FC236}">
                <a16:creationId xmlns:a16="http://schemas.microsoft.com/office/drawing/2014/main" id="{D1D0A2A9-A9CB-466F-861D-0FF26312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45496-BC2F-4D28-B82F-7FB2C41B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B8D19-CD2D-4903-97EB-4033D029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THEORY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7DA14-2C05-495F-987C-60C605B6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AD4E1-E800-4320-84A5-6201B33A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77A58A-BF98-4E3A-B9E8-396CC608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6D5C4-9BE6-4A7D-987D-9CE12B71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97F634-D198-4814-AB09-328A5C86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F86004-9C26-4E04-891B-EDB769D7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26">
            <a:extLst xmlns:a="http://schemas.openxmlformats.org/drawingml/2006/main">
              <a:ext uri="{FF2B5EF4-FFF2-40B4-BE49-F238E27FC236}">
                <a16:creationId xmlns:a16="http://schemas.microsoft.com/office/drawing/2014/main" id="{C5660B7A-F09E-459C-B6E1-DBB979EC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513E62-078F-42BA-8E85-88D7FE42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4D564F-A6D5-4436-8370-185F0170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Failure is usually systemic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47A66E-33BD-4906-B4A2-59F597B4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1EB0B2-A4F3-4471-A3A5-E5195599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KNOWLEDGE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FB9933-3771-454B-BDC4-30F77E20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CC8E6E-878C-40A6-BC74-80C8A081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Hallucinated facts, stale evidence, weak retrieval, missing context.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11638D-FF27-478F-8F61-F4DAC445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AAD8B4-A45B-4018-BC73-C326D2DF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07EA63-B79C-4F42-A782-5B74004A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Wrong tool, malformed arguments, unintended writes, repeated loops.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B828F7-3C65-4BD2-9984-4E5D59EE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GOVERNANCE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5F7BCE-740D-41CF-808B-BB67825B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B1CFD2-684C-4947-9441-2234EB45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Unclear ownership, hidden provenance, privacy leakage, premature publication.</a:t>
            </a:r>
          </a:p>
        </p:txBody>
      </p:sp>
    </p:spTree>
    <p:extLst>
      <p:ext uri="{BB962C8B-B14F-4D97-AF65-F5344CB8AC3E}">
        <p14:creationId xmlns:p14="http://schemas.microsoft.com/office/powerpoint/2010/main" val="186223518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metadata-rail-27">
            <a:extLst xmlns:a="http://schemas.openxmlformats.org/drawingml/2006/main">
              <a:ext uri="{FF2B5EF4-FFF2-40B4-BE49-F238E27FC236}">
                <a16:creationId xmlns:a16="http://schemas.microsoft.com/office/drawing/2014/main" id="{19CE56CA-45C3-46AD-9185-A6380DA5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34B7C8-1F19-412B-9530-F816F5DB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B56D5-F09D-44EA-A5FB-16096E83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THEORY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3694AF-245D-45E0-9806-8E7E821B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24D948-0912-48E0-94AB-F9035E88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E1E3E-4724-4C2E-B521-36C912EE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667C18-A6ED-40DA-8CE8-A0F5E6BB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531E3D-170C-470F-A603-9B2D3631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CC1355-3477-4C22-B385-112D8090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27">
            <a:extLst xmlns:a="http://schemas.openxmlformats.org/drawingml/2006/main">
              <a:ext uri="{FF2B5EF4-FFF2-40B4-BE49-F238E27FC236}">
                <a16:creationId xmlns:a16="http://schemas.microsoft.com/office/drawing/2014/main" id="{8730CBFB-427E-4FBA-9357-98A12F3B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474188-E1FD-4621-BAFC-433E7ED3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1376DC-B9FF-4813-A8C1-219C4563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Keep the human at the decision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BC4CA7-5439-4FF9-9545-C32A20DF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7E6E53-4E0C-4231-8ACA-5FF2B705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C000"/>
                </a:solidFill>
              </a:defRPr>
            </a:pPr>
            <a:r>
              <a:rPr sz="1275" b="1" i="0">
                <a:solidFill>
                  <a:srgbClr val="FFC000"/>
                </a:solidFill>
              </a:rPr>
              <a:t>AREA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830897-0359-4B11-8A83-60C5DD99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C000"/>
                </a:solidFill>
              </a:defRPr>
            </a:pPr>
            <a:r>
              <a:rPr sz="1275" b="1" i="0">
                <a:solidFill>
                  <a:srgbClr val="FFC000"/>
                </a:solidFill>
              </a:rPr>
              <a:t>AGENT PREPARES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D80BBE-E157-4071-9B07-B35E20AD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C000"/>
                </a:solidFill>
              </a:defRPr>
            </a:pPr>
            <a:r>
              <a:rPr sz="1275" b="1" i="0">
                <a:solidFill>
                  <a:srgbClr val="FFC000"/>
                </a:solidFill>
              </a:rPr>
              <a:t>HUMAN DECIDES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9EE0A8-DE63-47C9-B006-194BBECE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D37286-A5E9-40D1-B027-E525B8BF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C000"/>
                </a:solidFill>
              </a:defRPr>
            </a:pPr>
            <a:r>
              <a:rPr sz="1650" b="1" i="0">
                <a:solidFill>
                  <a:srgbClr val="FFC000"/>
                </a:solidFill>
              </a:rPr>
              <a:t>Research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DABAE7-D56F-4F59-B690-61058F10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479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Search, organize, draft, compare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B53167-262B-4144-A3A3-75C7396A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Validate sources, interpretation, and claims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9DCFFE-82CA-451F-81ED-4CD596E0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A48F60-9008-4B63-BFD9-BAA10D2B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C000"/>
                </a:solidFill>
              </a:defRPr>
            </a:pPr>
            <a:r>
              <a:rPr sz="1650" b="1" i="0">
                <a:solidFill>
                  <a:srgbClr val="FFC000"/>
                </a:solidFill>
              </a:rPr>
              <a:t>Education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2EF22D-7450-4A37-814D-3CAE61BA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4330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Prepare materials, examples, feedback drafts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2BC6A1-058A-4E3D-BD73-E169F711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Approve objectives, assessment, grades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A2C752-096A-4884-841A-F727521E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191E26-5E37-4149-815A-1F1D9C77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C000"/>
                </a:solidFill>
              </a:defRPr>
            </a:pPr>
            <a:r>
              <a:rPr sz="1650" b="1" i="0">
                <a:solidFill>
                  <a:srgbClr val="FFC000"/>
                </a:solidFill>
              </a:rPr>
              <a:t>Community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A93D24-B242-4C2A-B467-2C71300A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386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Adapt formats and draft public assets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E8400B-AB33-44B6-A379-15AB6F17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38650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Confirm consent, context, accessibility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478095-6A80-4EDF-89E6-0B2F9F9A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F93446-D1BC-4648-9C6F-D872FCFF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C000"/>
                </a:solidFill>
              </a:defRPr>
            </a:pPr>
            <a:r>
              <a:rPr sz="1650" b="1" i="0">
                <a:solidFill>
                  <a:srgbClr val="FFC000"/>
                </a:solidFill>
              </a:rPr>
              <a:t>Publication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61D91B-5253-4BE4-AAEB-98B7B035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3400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Assemble a reviewed export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3D29EB-18DD-4EBA-97C3-B9ADB059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34000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Approve the exact release</a:t>
            </a:r>
          </a:p>
        </p:txBody>
      </p:sp>
    </p:spTree>
    <p:extLst>
      <p:ext uri="{BB962C8B-B14F-4D97-AF65-F5344CB8AC3E}">
        <p14:creationId xmlns:p14="http://schemas.microsoft.com/office/powerpoint/2010/main" val="88140270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28">
            <a:extLst xmlns:a="http://schemas.openxmlformats.org/drawingml/2006/main">
              <a:ext uri="{FF2B5EF4-FFF2-40B4-BE49-F238E27FC236}">
                <a16:creationId xmlns:a16="http://schemas.microsoft.com/office/drawing/2014/main" id="{3FB3A483-AF55-4529-ACB5-5AC3C5B4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B5A6D8-5088-42EB-8F06-0D7AB554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72272-91C9-4BE9-855D-EE356EC1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THEORY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47763-632F-4235-B097-85C41FE9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8777A-F7D7-43AA-AC0D-BDDD17FC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AD51AE-DAB6-4059-8776-E633AF18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033C73-685D-4017-973D-DEBE564E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F9A922-CE26-4949-9D10-D8D2745A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1CC0D8-635C-4B65-8273-FA194F8F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28">
            <a:extLst xmlns:a="http://schemas.openxmlformats.org/drawingml/2006/main">
              <a:ext uri="{FF2B5EF4-FFF2-40B4-BE49-F238E27FC236}">
                <a16:creationId xmlns:a16="http://schemas.microsoft.com/office/drawing/2014/main" id="{50E65659-49DD-4A8F-B64B-F8C22993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CB3E2F-1383-4631-B0FD-F564D637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44D32E-CAD2-4567-B45A-4DC1D6A8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Evaluate the whole agent 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D6850E-B08E-4EDB-904A-EBBB0AC1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1ACC54-D942-4746-A0B5-D62FCB6F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QUALITY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4927AD-7159-4A44-9700-EA4DC25F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BA7C4C-21D8-46BF-8391-D47746E2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Correctness, relevance, clarity, and traceable evidence.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2459F1-819C-44F1-AE43-5DE74AE5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PROCESS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F8F143-93FE-4716-AE60-9C5B5BD1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33E274-1EDF-4162-A677-DDEB3576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Task completion, tool reliability, recovery, cost, and time.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CDCEB4-9F00-49D4-967A-752C1247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RISK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E5F4E0-A267-4359-95F1-A2411CF7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CAADDD-0062-4D4E-856E-3DC5F270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Privacy, bias, security, reversibility, and human oversight.</a:t>
            </a:r>
          </a:p>
        </p:txBody>
      </p:sp>
    </p:spTree>
    <p:extLst>
      <p:ext uri="{BB962C8B-B14F-4D97-AF65-F5344CB8AC3E}">
        <p14:creationId xmlns:p14="http://schemas.microsoft.com/office/powerpoint/2010/main" val="141996086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0F2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B4E772-C067-4366-B0A6-5306B5DA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714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8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D74943-2E83-4F94-A2D1-CF46B749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0"/>
            <a:ext cx="8096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4A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3A1B9-5D0D-4B1A-B97B-4EEA4957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63C0AC-EDB0-40EE-8812-23C1AF49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300"/>
            <a:ext cx="238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8850" b="1" i="0">
                <a:solidFill>
                  <a:srgbClr val="014A74"/>
                </a:solidFill>
              </a:defRPr>
            </a:pPr>
            <a:r>
              <a:rPr sz="8850" b="1" i="0">
                <a:solidFill>
                  <a:srgbClr val="014A74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8D9BEC-34AC-46C3-876E-8778000B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666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4350" b="0" i="0">
                <a:solidFill>
                  <a:srgbClr val="FFFFFF"/>
                </a:solidFill>
              </a:defRPr>
            </a:pPr>
            <a:r>
              <a:rPr sz="4350" b="0" i="0">
                <a:solidFill>
                  <a:srgbClr val="FFFFFF"/>
                </a:solidFill>
              </a:rPr>
              <a:t>ACADEMIC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555E7-27C1-4394-8DAC-4E35B567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6235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Map one agentic workspace to the distinct responsibilities of Tri Dharma.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AB35DA-C561-4622-BEFF-E9795670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E8A5D6-5BDF-455B-80EC-2C72A61B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14A74"/>
                </a:solidFill>
              </a:defRPr>
            </a:pPr>
            <a:r>
              <a:rPr sz="975" b="1" i="0">
                <a:solidFill>
                  <a:srgbClr val="014A74"/>
                </a:solidFill>
              </a:rPr>
              <a:t>CREATED WITH AFK RESEARCH</a:t>
            </a:r>
          </a:p>
        </p:txBody>
      </p:sp>
    </p:spTree>
    <p:extLst>
      <p:ext uri="{BB962C8B-B14F-4D97-AF65-F5344CB8AC3E}">
        <p14:creationId xmlns:p14="http://schemas.microsoft.com/office/powerpoint/2010/main" val="166835712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metadata-rail-30">
            <a:extLst xmlns:a="http://schemas.openxmlformats.org/drawingml/2006/main">
              <a:ext uri="{FF2B5EF4-FFF2-40B4-BE49-F238E27FC236}">
                <a16:creationId xmlns:a16="http://schemas.microsoft.com/office/drawing/2014/main" id="{AF5709A0-5510-4071-A8E8-D8151751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1846A-5A92-43FE-85A9-98AD3375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6DB61-9FE3-4207-A18F-CA4D90BC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ACADEMIC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39076-A431-49C2-A731-70B98935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1CE2C-7D54-4591-A7EE-65A3D943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11099-BF09-426D-83DF-AF072A44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56AEF4-46B5-494C-9C53-872B16B6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14435F-E38A-42C2-B807-F169688B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088A61-F6F2-449A-93FC-1D78B05E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30">
            <a:extLst xmlns:a="http://schemas.openxmlformats.org/drawingml/2006/main">
              <a:ext uri="{FF2B5EF4-FFF2-40B4-BE49-F238E27FC236}">
                <a16:creationId xmlns:a16="http://schemas.microsoft.com/office/drawing/2014/main" id="{0C7A992B-C4B1-4721-A80A-8395D27A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4EC0A0-EB31-4A8A-BC41-744BF187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9B1EE2-63A7-41A0-9E1D-609D35D2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Three obligations need three operational homes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3F84AF-179B-416F-977B-31B3DA06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35F27B-F391-466E-88F3-32D6621C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.BRAIN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543B41-D14A-4219-B5EF-7C4DFA46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C1B464-5397-49FB-B1AE-3321C20A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Sources, knowledge, questions, syntheses, and research outputs.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615D1A-DC4A-43A4-9733-BE5B55A8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0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8D5DC"/>
                </a:solidFill>
              </a:defRPr>
            </a:pPr>
            <a:r>
              <a:rPr sz="1275" b="1" i="0">
                <a:solidFill>
                  <a:srgbClr val="C8D5DC"/>
                </a:solidFill>
              </a:rPr>
              <a:t>Research continuity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BF6552-4DA2-4F8A-BDDD-0A93F600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.SCHEDULE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25A02A-FF4A-4288-A839-322EB06A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BE4104-DB24-4E38-94D4-4A468A94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Recurring prompts, teaching rhythms, checks, and planned follow-ups.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D097AA-AAA1-43DB-AFC3-08D6D785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524500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8D5DC"/>
                </a:solidFill>
              </a:defRPr>
            </a:pPr>
            <a:r>
              <a:rPr sz="1275" b="1" i="0">
                <a:solidFill>
                  <a:srgbClr val="C8D5DC"/>
                </a:solidFill>
              </a:rPr>
              <a:t>Operational continuity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737404-4716-4D97-A687-BAAE506E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.DESIGN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1FF73D-8380-488A-B8C0-983FE7E2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EF75F0-5427-40F6-AFD2-0AD65BAA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Visual rules, templates, examples, and consistent audience-facing artifacts.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4CA908-5EE8-4D11-BAE3-A3BF5A17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24500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8D5DC"/>
                </a:solidFill>
              </a:defRPr>
            </a:pPr>
            <a:r>
              <a:rPr sz="1275" b="1" i="0">
                <a:solidFill>
                  <a:srgbClr val="C8D5DC"/>
                </a:solidFill>
              </a:rPr>
              <a:t>Communication continuity</a:t>
            </a:r>
          </a:p>
        </p:txBody>
      </p:sp>
    </p:spTree>
    <p:extLst>
      <p:ext uri="{BB962C8B-B14F-4D97-AF65-F5344CB8AC3E}">
        <p14:creationId xmlns:p14="http://schemas.microsoft.com/office/powerpoint/2010/main" val="118566345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metadata-rail-31">
            <a:extLst xmlns:a="http://schemas.openxmlformats.org/drawingml/2006/main">
              <a:ext uri="{FF2B5EF4-FFF2-40B4-BE49-F238E27FC236}">
                <a16:creationId xmlns:a16="http://schemas.microsoft.com/office/drawing/2014/main" id="{B6462E67-E974-4FAA-AFBE-95816685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EADBF1-5E3C-4910-8113-538866D5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9B731-1674-47C7-940C-952002EB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ACADEMIC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A32F11-CA8C-4CCC-B802-E72A5287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FC92A-776F-4FB0-8B17-0497DE0A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C9FEF-3B78-4F5B-A105-874BB576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159FD-278C-4C41-9804-974D8F7D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8217F9-6720-4E7B-A83B-2F393018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C0A630-E3C8-441F-8493-78D59FEB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31">
            <a:extLst xmlns:a="http://schemas.openxmlformats.org/drawingml/2006/main">
              <a:ext uri="{FF2B5EF4-FFF2-40B4-BE49-F238E27FC236}">
                <a16:creationId xmlns:a16="http://schemas.microsoft.com/office/drawing/2014/main" id="{82999D26-4CA1-43FA-B28B-B4AA17B1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1162AC-8805-443A-BCFC-4352C66C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847E91-8665-47D7-9DB7-EC008B30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One source, three reviewed outcomes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2B1B9B-EB18-4FE5-82DC-C0FACEB8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4612E4-96DF-4CCA-9140-612FD30A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79FE16-0172-44C0-966B-AB440851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E4E634-1014-4AF6-9C8E-DB11D364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96A27B-E862-430D-8251-67C021E7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Ingest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74CA70-6FC7-4A8F-B4A8-E822D9DA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Capture the source and its provenance.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0EF30E-6C9A-477A-89F2-E9373B1B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A9389D-3BBE-418D-A6AB-020E9EE9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EC0BBA-B35D-44F9-9990-D65FE837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Synthesize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A43721-B4BF-49EB-AD47-45092610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Extract concepts, claims, and open questions.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402278-E071-416C-B592-9E8DE2D6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F7CEDD-BC43-42FA-8ED0-78E3CCBE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218EF9-BFB8-4669-BD38-53B66B7C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CF0856-3DE2-44D6-B54F-166E7472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Adapt for research, teaching, or community use.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493F43-8CD5-4FF5-94A6-E9CEE166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15426B-9E41-4302-91E5-74DB5557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5CC775-9240-48BD-99F8-688680FE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1CA19A-2F30-406B-B558-5E56C71E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Apply domain, privacy, and release checks.</a:t>
            </a:r>
          </a:p>
        </p:txBody>
      </p:sp>
    </p:spTree>
    <p:extLst>
      <p:ext uri="{BB962C8B-B14F-4D97-AF65-F5344CB8AC3E}">
        <p14:creationId xmlns:p14="http://schemas.microsoft.com/office/powerpoint/2010/main" val="11709472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32">
            <a:extLst xmlns:a="http://schemas.openxmlformats.org/drawingml/2006/main">
              <a:ext uri="{FF2B5EF4-FFF2-40B4-BE49-F238E27FC236}">
                <a16:creationId xmlns:a16="http://schemas.microsoft.com/office/drawing/2014/main" id="{3C745CDE-9A80-4D2D-A61C-D551B816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1C0A9-7178-4741-8DEA-D54DCDB7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7AB00-E861-4688-AA18-9F5706B0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ACADEMIC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99148-8B66-41D2-8504-CFB3A136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892184-B98C-439A-A8FB-154628CB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89DA6-EF76-4DB5-B43C-F6C56637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1F89F3-9D0A-458D-9C08-46937AE7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0593BD-7AC8-45DF-9F83-DB72FCE3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DAED52-C2E3-4373-A544-2374DED0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32">
            <a:extLst xmlns:a="http://schemas.openxmlformats.org/drawingml/2006/main">
              <a:ext uri="{FF2B5EF4-FFF2-40B4-BE49-F238E27FC236}">
                <a16:creationId xmlns:a16="http://schemas.microsoft.com/office/drawing/2014/main" id="{C9EE2077-9C56-4D94-81D2-11DE906C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157618-EB4E-40C3-9F7D-2BAD3536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03DCE7-7A40-44E3-AE53-7E98EE30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Research workspace: evidence before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D4EF68-2B8D-4406-B4CD-F526442C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90BBCF-2CE3-4E88-B1A2-29B0BE8B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RAW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269D8A-32CE-4065-82B5-06147689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0AD457-C312-4368-BAE4-39A4C007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Immutable captures and provenance records.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CFAD3A-C034-4045-8DD2-BE206366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WIKI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87C34A-7348-4E48-8A00-8F64D658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89CAFC-D5C0-4397-8A4C-82C656E6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Maintained concepts, claims, questions, and syntheses.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A4FF0C-0024-4AD9-9D28-ED35E858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604466-86CD-4A24-A9F0-1E537E91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D7662F-CD50-4DBD-AF38-6F9E992A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Drafts and artifacts that link back to evidence.</a:t>
            </a:r>
          </a:p>
        </p:txBody>
      </p:sp>
    </p:spTree>
    <p:extLst>
      <p:ext uri="{BB962C8B-B14F-4D97-AF65-F5344CB8AC3E}">
        <p14:creationId xmlns:p14="http://schemas.microsoft.com/office/powerpoint/2010/main" val="22078837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33">
            <a:extLst xmlns:a="http://schemas.openxmlformats.org/drawingml/2006/main">
              <a:ext uri="{FF2B5EF4-FFF2-40B4-BE49-F238E27FC236}">
                <a16:creationId xmlns:a16="http://schemas.microsoft.com/office/drawing/2014/main" id="{A63984AB-0973-4B2C-BCE8-B0974993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C11E18-1ACD-4729-802A-26AA93F0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C5F05C-0509-47A8-BC43-33C9B059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ACADEMIC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1AE9D-7454-4768-A1D5-CBDFD532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04780-3E15-4393-9C26-DDED299D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C82EB-946C-497B-A03E-90904D32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9B3667-BACC-402D-8EBD-6F8FDADD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0BC50-E951-47B2-9B40-DAD5C4D5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3B199-8E00-446E-BE70-22D5C1EB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33">
            <a:extLst xmlns:a="http://schemas.openxmlformats.org/drawingml/2006/main">
              <a:ext uri="{FF2B5EF4-FFF2-40B4-BE49-F238E27FC236}">
                <a16:creationId xmlns:a16="http://schemas.microsoft.com/office/drawing/2014/main" id="{2E1F391A-B64C-4A97-9887-BC39C100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08DC8B-B325-4452-B985-C7F1029F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7D6A87D-5DA1-4DC6-A2C4-289AD4AD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Education workspace: repeatable preparation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169B2-BE01-48F0-9A03-1314A214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918591-311E-4121-875B-B9B97551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DESIGN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380665-887B-4663-B0C9-F56E7BE1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3116A7-1413-4836-B3C9-8B2EA93A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Start from learning outcomes, misconceptions, and authentic tasks.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006CB4-8223-4A61-8EE6-033913A7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PRODUCE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1A3F91-62C6-4541-9303-0B372708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DC0F81-A608-4DA4-9784-427B8C7F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Generate examples, slides, activities, rubrics, and feedback drafts.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CC799C-B554-4484-BE96-54140D82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5F2F85-F019-46F9-B44E-2F1C1BE6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165DBC-915B-4392-8405-63005F07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Check pedagogy, accessibility, integrity, and student data handling.</a:t>
            </a:r>
          </a:p>
        </p:txBody>
      </p:sp>
    </p:spTree>
    <p:extLst>
      <p:ext uri="{BB962C8B-B14F-4D97-AF65-F5344CB8AC3E}">
        <p14:creationId xmlns:p14="http://schemas.microsoft.com/office/powerpoint/2010/main" val="10573442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34">
            <a:extLst xmlns:a="http://schemas.openxmlformats.org/drawingml/2006/main">
              <a:ext uri="{FF2B5EF4-FFF2-40B4-BE49-F238E27FC236}">
                <a16:creationId xmlns:a16="http://schemas.microsoft.com/office/drawing/2014/main" id="{BFE86F9F-26D5-4860-B2AD-3D6B31CB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5E569-B2C9-46EF-9641-BF2B1DEA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386DE-7E84-4650-A56D-FCA8799C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ACADEMIC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0B2B9-A32B-4BA3-A16A-5FB50367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E609D9-88FD-4F57-A4DC-7AAB722C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00AD66-CA84-4A48-ADD7-BC4A106A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7F94F6-691C-42B8-8885-FE810C32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38B60E-EDBE-425B-A558-9A3F8361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CAF0B-BF76-4C5F-B2AC-81B5E441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34">
            <a:extLst xmlns:a="http://schemas.openxmlformats.org/drawingml/2006/main">
              <a:ext uri="{FF2B5EF4-FFF2-40B4-BE49-F238E27FC236}">
                <a16:creationId xmlns:a16="http://schemas.microsoft.com/office/drawing/2014/main" id="{42291E7C-0832-435C-81EC-89BC16BB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F58B57-A99A-4469-9714-C42C1071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219BB9-D5AE-4187-AA55-9B3381DE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Community workspace: translate with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B2BDDB-6D3A-4444-B0B9-9010D812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10A02F-F6C9-4B6A-8D9B-A5BE16BF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D83219-14B6-4111-89C2-95039370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ED86B8-3352-468E-956B-C01B2998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Identify community goals, language, constraints, and consent.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89D813-57F9-48CA-AE40-70B30B23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FORMAT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AFC711-CA65-458C-9F46-87260B7A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7C1149-4F52-430F-AAC3-5A2D22B6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Choose accessible media, visual conventions, and distribution channels.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24870B-C206-46BE-92DC-39ED021E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FEEDBACK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58C9C3-93CE-4094-8924-BE71F28B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93A9A1-15D0-4458-87BC-C73E79A3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Record questions and outcomes as new evidence for the project.</a:t>
            </a:r>
          </a:p>
        </p:txBody>
      </p:sp>
    </p:spTree>
    <p:extLst>
      <p:ext uri="{BB962C8B-B14F-4D97-AF65-F5344CB8AC3E}">
        <p14:creationId xmlns:p14="http://schemas.microsoft.com/office/powerpoint/2010/main" val="127804199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35">
            <a:extLst xmlns:a="http://schemas.openxmlformats.org/drawingml/2006/main">
              <a:ext uri="{FF2B5EF4-FFF2-40B4-BE49-F238E27FC236}">
                <a16:creationId xmlns:a16="http://schemas.microsoft.com/office/drawing/2014/main" id="{DA0E6C2D-DFD9-4836-AB94-2652DFE3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D482B-03C4-461B-B1C5-10E06E99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35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F86258-C817-4521-BCFD-73A968C3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ACADEMIC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63503A-18FF-4CBA-9572-E4F4CF45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911A1D-04FC-4514-B539-05DDCBA4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71DEA-311A-4AE8-896C-751DAA33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034957-BC54-45DF-9834-31DFE056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CE9C62-D066-45F5-A913-CB741008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5E9FAE-64C0-47C7-8E32-E0056C2C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35">
            <a:extLst xmlns:a="http://schemas.openxmlformats.org/drawingml/2006/main">
              <a:ext uri="{FF2B5EF4-FFF2-40B4-BE49-F238E27FC236}">
                <a16:creationId xmlns:a16="http://schemas.microsoft.com/office/drawing/2014/main" id="{38DB1C0F-C59D-4D2F-99C2-45A3F11C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A09E74-0D87-44D8-B136-06990A1B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CBB5D9-E859-49DF-9BCF-D06C8851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GitHub becomes the coordination backbone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1CDD8A-9122-4E4D-AEF0-CA96826A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796F6B-1085-4100-B015-308D9C80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ISSUES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EE3D7E-050A-4827-BAD9-999EE4E2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17078C-A282-4CBD-84B2-DBF9A53C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Turn goals and open questions into visible, assignable work.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CF5C03-9A59-4F9E-9A26-7229FF36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COMMITS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EC84C0-B38D-4178-A882-0C9AEC8F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F48EEF-0C0D-4342-BF20-B86D0B4C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Preserve incremental changes and the reasoning attached to them.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D359FC-A960-4F35-8FE6-61129220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REVIEWS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47D219-D7CA-46E2-8749-74F8733C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A8BCE5-347A-4DD9-8F36-9AFE9B9C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Create explicit checkpoints before sensitive changes or releases.</a:t>
            </a:r>
          </a:p>
        </p:txBody>
      </p:sp>
    </p:spTree>
    <p:extLst>
      <p:ext uri="{BB962C8B-B14F-4D97-AF65-F5344CB8AC3E}">
        <p14:creationId xmlns:p14="http://schemas.microsoft.com/office/powerpoint/2010/main" val="194665561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36">
            <a:extLst xmlns:a="http://schemas.openxmlformats.org/drawingml/2006/main">
              <a:ext uri="{FF2B5EF4-FFF2-40B4-BE49-F238E27FC236}">
                <a16:creationId xmlns:a16="http://schemas.microsoft.com/office/drawing/2014/main" id="{5E361670-28DE-473D-82BD-DCDAB917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327008-4E6F-42A2-8483-27F0783E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1F9EE-7E78-4476-8423-0BC411A1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ACADEMIC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9AB34A-F30B-445A-B465-1DB6EF35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16830C-B5D2-4F6E-92DA-8983F2FF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DD777-8D9D-4E13-A00F-31356DD0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CD9E5-6C4B-4DC8-A754-2995B99F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ED9C81-8666-49EF-93BA-FF851411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591432-B477-4F6A-81A7-FF0FC743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36">
            <a:extLst xmlns:a="http://schemas.openxmlformats.org/drawingml/2006/main">
              <a:ext uri="{FF2B5EF4-FFF2-40B4-BE49-F238E27FC236}">
                <a16:creationId xmlns:a16="http://schemas.microsoft.com/office/drawing/2014/main" id="{A5CF602D-66A2-4405-9C9D-A5137067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B25032-5633-46A0-8D49-93B46560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D4C1F9-0B0B-4A84-B7B8-411B28D9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Separate private work from public release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C9DA10-6973-42B5-A109-E982D576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8445BC-33E9-4B36-925A-2FC3601C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PRIVATE SOURCE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440D3C-AEE6-44B8-B4CB-A8AF3282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550DE5-895C-4775-A63E-8F84CE79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Raw data, student information, internal notes, unpublished research, and full history.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3AB8B4-7AA6-4554-B81C-FC43BA05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REVIEWED EXPORT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B85572-83EA-4142-84A7-A41992FB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98A30C-B021-4059-9557-0CA3960E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Only selected files, checked for rights, privacy, accuracy, and context.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C3B9D8-7214-47A5-9404-1731C2F7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PUBLIC RELEASE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31C6DB-6E46-4490-A9AF-4AA6D5FD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7B5650-22A7-4860-B195-9EA16B70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Separate history and explicit human approval for each publication.</a:t>
            </a:r>
          </a:p>
        </p:txBody>
      </p:sp>
    </p:spTree>
    <p:extLst>
      <p:ext uri="{BB962C8B-B14F-4D97-AF65-F5344CB8AC3E}">
        <p14:creationId xmlns:p14="http://schemas.microsoft.com/office/powerpoint/2010/main" val="26318244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0F2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83E02-24CB-4D32-A096-EA9B58E5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714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8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EA2A7-FFC1-42CB-85F5-B0F4FCF6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0"/>
            <a:ext cx="8096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4A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34E3F-E645-4448-9F4B-051733AD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39F04-DC7B-4323-9A05-7CE91631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300"/>
            <a:ext cx="238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8850" b="1" i="0">
                <a:solidFill>
                  <a:srgbClr val="014A74"/>
                </a:solidFill>
              </a:defRPr>
            </a:pPr>
            <a:r>
              <a:rPr sz="8850" b="1" i="0">
                <a:solidFill>
                  <a:srgbClr val="014A74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E5230-A5EA-4C5F-8690-3DE6E4FC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666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4350" b="0" i="0">
                <a:solidFill>
                  <a:srgbClr val="FFFFFF"/>
                </a:solidFill>
              </a:defRPr>
            </a:pPr>
            <a:r>
              <a:rPr sz="4350" b="0" i="0">
                <a:solidFill>
                  <a:srgbClr val="FFFFFF"/>
                </a:solidFill>
              </a:rPr>
              <a:t>IMPLEMENTATION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A9E092-5E78-46F7-97D8-CB966488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6235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Build the workspace carefully—and separate the MVP from the vision.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3787CA-58F2-4B94-A04B-DB6D1B57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2F906-EA1D-48AD-9D64-47592321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14A74"/>
                </a:solidFill>
              </a:defRPr>
            </a:pPr>
            <a:r>
              <a:rPr sz="975" b="1" i="0">
                <a:solidFill>
                  <a:srgbClr val="014A74"/>
                </a:solidFill>
              </a:rPr>
              <a:t>CREATED WITH AFK RESEARCH</a:t>
            </a:r>
          </a:p>
        </p:txBody>
      </p:sp>
    </p:spTree>
    <p:extLst>
      <p:ext uri="{BB962C8B-B14F-4D97-AF65-F5344CB8AC3E}">
        <p14:creationId xmlns:p14="http://schemas.microsoft.com/office/powerpoint/2010/main" val="85230913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38">
            <a:extLst xmlns:a="http://schemas.openxmlformats.org/drawingml/2006/main">
              <a:ext uri="{FF2B5EF4-FFF2-40B4-BE49-F238E27FC236}">
                <a16:creationId xmlns:a16="http://schemas.microsoft.com/office/drawing/2014/main" id="{A12B1FDC-54FC-43BE-B710-E28BBC38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3685B1-1406-40FD-8E20-24DC9116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38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9EEE60-7912-4A76-B2B0-1E298DB2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40E6E7-75D5-48D3-BE73-647A8D19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B9CC4-38AF-40BF-AC52-ABEAC035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8408A-F63F-4ABF-BC28-4ECFE76C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6C745F-380A-428F-8449-44FB39B6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AD429-ACBF-4A33-B043-4A5D3EA6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A453CB-51F8-4E7B-BB5B-BD2CDB7C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38">
            <a:extLst xmlns:a="http://schemas.openxmlformats.org/drawingml/2006/main">
              <a:ext uri="{FF2B5EF4-FFF2-40B4-BE49-F238E27FC236}">
                <a16:creationId xmlns:a16="http://schemas.microsoft.com/office/drawing/2014/main" id="{10E8A11B-CCD3-4952-8F45-AFEFEC77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D23937-2818-4EEA-958C-549E2D73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F5064F-ACA5-49B8-B95B-2945B0B8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AFK Research: what exists today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A9E80C-B216-42DA-89CE-2072EE29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416EA5-FF7C-4209-8631-0C7F215A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IMPLEMENTED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7DAB1E-5661-4B69-9F11-9F9168A1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4E98AE-6E76-4294-B4D5-95C49C55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A private GitHub-hosted setup CLI, workspace scaffolding, bundled skills, managed updates, and Schedule Runner infrastructure.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843CCA-B51B-4C4D-89A9-B3333A81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COMPOSED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4F514A-5CD0-43E1-92C3-04413DCA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12E7F9-68ED-4F97-AED9-CDF714E4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Research ingestion, presentations, design, and scheduled prompts can be assembled through installed skills and tools.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B09430-8C3B-4068-ABC2-41FFCA4A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VISION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104ED9-E55D-43AB-97F2-D5E06EE9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677BF7-C404-4B8B-92A8-2C548D46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One-command Tri Dharma transformation, automatic grading, and automatic public portfolio updates remain unverified.</a:t>
            </a:r>
          </a:p>
        </p:txBody>
      </p:sp>
    </p:spTree>
    <p:extLst>
      <p:ext uri="{BB962C8B-B14F-4D97-AF65-F5344CB8AC3E}">
        <p14:creationId xmlns:p14="http://schemas.microsoft.com/office/powerpoint/2010/main" val="88743477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metadata-rail-39">
            <a:extLst xmlns:a="http://schemas.openxmlformats.org/drawingml/2006/main">
              <a:ext uri="{FF2B5EF4-FFF2-40B4-BE49-F238E27FC236}">
                <a16:creationId xmlns:a16="http://schemas.microsoft.com/office/drawing/2014/main" id="{4C81DAA6-0692-4076-8B9E-7F2A1382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2F2C9-143E-43EB-B49B-89402069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1FE8F-FAE4-44F5-B2A1-5F4EF97F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10629-6F40-43ED-9338-6E5CE088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C7A4E-1C0A-421F-AAD8-5FA370C8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294ADF-110D-41EA-8768-C0616EBA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43DB0D-47A5-4232-97CE-1CEA9F82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E888C1-831D-4048-A51B-3E76021A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F39B24-7D11-45C2-BF58-F86C622E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39">
            <a:extLst xmlns:a="http://schemas.openxmlformats.org/drawingml/2006/main">
              <a:ext uri="{FF2B5EF4-FFF2-40B4-BE49-F238E27FC236}">
                <a16:creationId xmlns:a16="http://schemas.microsoft.com/office/drawing/2014/main" id="{456ECED5-88B5-4DB5-9F62-1F423FD0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B61575-7644-45F4-8347-97952CEE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77152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28aac09908432f"/>
          <a:stretch xmlns:a="http://schemas.openxmlformats.org/drawingml/2006/main"/>
        </p:blipFill>
        <p:spPr>
          <a:xfrm xmlns:a="http://schemas.openxmlformats.org/drawingml/2006/main">
            <a:off x="1029758" y="2066925"/>
            <a:ext cx="7484533" cy="42100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AC42A9-A01F-4705-814E-8C7249E2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33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C000"/>
                </a:solidFill>
              </a:defRPr>
            </a:pPr>
            <a:r>
              <a:rPr sz="1125" b="1" i="0">
                <a:solidFill>
                  <a:srgbClr val="FFC000"/>
                </a:solidFill>
              </a:rPr>
              <a:t>PLAYABLE VIDEO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F27C1A-FDFF-4056-8FF2-86AA2A19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09850"/>
            <a:ext cx="23241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Gradient descent, narrated step by step.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42EFEE-DB23-4EF9-ABAF-66AD7A9F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2324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C8D5DC"/>
                </a:solidFill>
              </a:defRPr>
            </a:pPr>
            <a:r>
              <a:rPr sz="1500" b="0" i="0">
                <a:solidFill>
                  <a:srgbClr val="C8D5DC"/>
                </a:solidFill>
              </a:rPr>
              <a:t>A reusable teaching asset combines visual reasoning, voice, and captions in one sequence.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38F809-5FE9-49DC-B4EA-98A8AA4E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334000"/>
            <a:ext cx="1104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4FE7FE-3C37-4BB8-BE8D-5692303B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5245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C000"/>
                </a:solidFill>
              </a:defRPr>
            </a:pPr>
            <a:r>
              <a:rPr sz="1200" b="1" i="0">
                <a:solidFill>
                  <a:srgbClr val="FFC000"/>
                </a:solidFill>
              </a:rPr>
              <a:t>CLICK TO PLAY</a:t>
            </a:r>
          </a:p>
          <a:p xmlns:a="http://schemas.openxmlformats.org/drawingml/2006/main">
            <a:pPr algn="l">
              <a:defRPr sz="1200" b="1" i="0">
                <a:solidFill>
                  <a:srgbClr val="FFC000"/>
                </a:solidFill>
              </a:defRPr>
            </a:pPr>
            <a:r>
              <a:rPr sz="1200" b="1" i="0">
                <a:solidFill>
                  <a:srgbClr val="FFC000"/>
                </a:solidFill>
              </a:rPr>
              <a:t>IN SLIDE SHOW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876265-6061-4999-8378-FE110247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865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C000"/>
                </a:solidFill>
              </a:defRPr>
            </a:pPr>
            <a:r>
              <a:rPr sz="1125" b="1" i="0">
                <a:solidFill>
                  <a:srgbClr val="FFC000"/>
                </a:solidFill>
              </a:rPr>
              <a:t>AFK RESEARCH · PRODUCT MEDIA</a:t>
            </a:r>
          </a:p>
        </p:txBody>
      </p:sp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5A7142-6937-4DFE-B6B1-0569F00F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A STEM concept becomes a playable explanation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06FAB6-A317-42C9-BCEA-8636F2A0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952154-E2E0-4AB7-8568-0E3E0373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</p:spTree>
    <p:extLst>
      <p:ext uri="{BB962C8B-B14F-4D97-AF65-F5344CB8AC3E}">
        <p14:creationId xmlns:p14="http://schemas.microsoft.com/office/powerpoint/2010/main" val="93289993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40">
            <a:extLst xmlns:a="http://schemas.openxmlformats.org/drawingml/2006/main">
              <a:ext uri="{FF2B5EF4-FFF2-40B4-BE49-F238E27FC236}">
                <a16:creationId xmlns:a16="http://schemas.microsoft.com/office/drawing/2014/main" id="{A69CAF29-D8E9-49E7-AE32-76AE6212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73477-318D-4C13-9980-94A9C2D8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267107-CAFC-4E77-B224-5767EF60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995ABE-38D6-48D3-9E2F-19D19F6B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8F59E-3FDD-4170-83C8-C64C4E69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F596B1-7A91-4052-8DB4-282B1B84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9F6C97-E736-457E-A91A-14ACC3B2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C99DF7-70EC-40A8-8CFD-DC12E3F0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805F7A-0D80-407A-B09E-FE2C6408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40">
            <a:extLst xmlns:a="http://schemas.openxmlformats.org/drawingml/2006/main">
              <a:ext uri="{FF2B5EF4-FFF2-40B4-BE49-F238E27FC236}">
                <a16:creationId xmlns:a16="http://schemas.microsoft.com/office/drawing/2014/main" id="{A096482A-869D-458C-A49C-D7DCF727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E6B8E1-3D2F-428F-BEB0-578F7039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C000"/>
                </a:solidFill>
              </a:defRPr>
            </a:pPr>
            <a:r>
              <a:rPr sz="1125" b="1" i="0">
                <a:solidFill>
                  <a:srgbClr val="FFC000"/>
                </a:solidFill>
              </a:rPr>
              <a:t>STUDENT–AI DIALOGUE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25D625-0932-4107-9DEC-4C6D8AEF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47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C000"/>
                </a:solidFill>
              </a:defRPr>
            </a:pPr>
            <a:r>
              <a:rPr sz="1125" b="1" i="0">
                <a:solidFill>
                  <a:srgbClr val="FFC000"/>
                </a:solidFill>
              </a:rPr>
              <a:t>LECTURER ANALYSIS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882A7-0D3C-45B6-A436-442D2714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4953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58df6b660f4008"/>
          <a:stretch xmlns:a="http://schemas.openxmlformats.org/drawingml/2006/main"/>
        </p:blipFill>
        <p:spPr>
          <a:xfrm xmlns:a="http://schemas.openxmlformats.org/drawingml/2006/main">
            <a:off x="971550" y="2238044"/>
            <a:ext cx="4838700" cy="2839111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0F57D3-2B30-4A24-B202-BBEABB58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4953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55e528dbdc4f4f"/>
          <a:stretch xmlns:a="http://schemas.openxmlformats.org/drawingml/2006/main"/>
        </p:blipFill>
        <p:spPr>
          <a:xfrm xmlns:a="http://schemas.openxmlformats.org/drawingml/2006/main">
            <a:off x="6229350" y="2218487"/>
            <a:ext cx="4838700" cy="2878226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BD24F5-4561-439C-84C6-8B7C930C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C000"/>
                </a:solidFill>
              </a:defRPr>
            </a:pPr>
            <a:r>
              <a:rPr sz="1125" b="1" i="0">
                <a:solidFill>
                  <a:srgbClr val="FFC000"/>
                </a:solidFill>
              </a:rPr>
              <a:t>WHY IT MATTERS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A900C8-D51C-4F96-9E85-EE1A0221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1013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A product concept connects the learning interaction to a reviewable view—without delegating the assessment decision.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AB3712-E9B0-426F-84A9-981A52BA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865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C000"/>
                </a:solidFill>
              </a:defRPr>
            </a:pPr>
            <a:r>
              <a:rPr sz="1125" b="1" i="0">
                <a:solidFill>
                  <a:srgbClr val="FFC000"/>
                </a:solidFill>
              </a:rPr>
              <a:t>AFK RESEARCH · PRODUCT MEDIA</a:t>
            </a:r>
          </a:p>
        </p:txBody>
      </p:sp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D8D795-8859-4DD4-AFE4-8518CD58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Student dialogue becomes evidence for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84B104-49BD-4026-8403-613689F5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5399F7-8898-483C-A94B-573B7B1E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</p:spTree>
    <p:extLst>
      <p:ext uri="{BB962C8B-B14F-4D97-AF65-F5344CB8AC3E}">
        <p14:creationId xmlns:p14="http://schemas.microsoft.com/office/powerpoint/2010/main" val="103325068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metadata-rail-41">
            <a:extLst xmlns:a="http://schemas.openxmlformats.org/drawingml/2006/main">
              <a:ext uri="{FF2B5EF4-FFF2-40B4-BE49-F238E27FC236}">
                <a16:creationId xmlns:a16="http://schemas.microsoft.com/office/drawing/2014/main" id="{BD8F58D3-7639-49A7-BC6B-430B976F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57DE73-B386-4974-BA63-676DB243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41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04301-3FBB-4C05-83F5-50480799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AA270-ACDF-4E5F-A507-C06413E4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B379B0-6B5D-4AE2-AA64-DE13BFB0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41248-7B95-4E3C-8E7D-6C3017E2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9CA08D-D48D-47E9-999E-2D678884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4C0932-EB9C-4921-8269-B56398B0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96C259-182F-4575-AD2E-67371858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41">
            <a:extLst xmlns:a="http://schemas.openxmlformats.org/drawingml/2006/main">
              <a:ext uri="{FF2B5EF4-FFF2-40B4-BE49-F238E27FC236}">
                <a16:creationId xmlns:a16="http://schemas.microsoft.com/office/drawing/2014/main" id="{4F86D94F-8EF5-43B9-AE21-161D015B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D9ED2-8B3B-403E-8492-72BDA548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C000"/>
                </a:solidFill>
              </a:defRPr>
            </a:pPr>
            <a:r>
              <a:rPr sz="1125" b="1" i="0">
                <a:solidFill>
                  <a:srgbClr val="FFC000"/>
                </a:solidFill>
              </a:rPr>
              <a:t>PUBLISHED ACADEMIC PROFILE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D8DED1-49E1-4EA7-8124-3148F7C3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478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C000"/>
                </a:solidFill>
              </a:defRPr>
            </a:pPr>
            <a:r>
              <a:rPr sz="1125" b="1" i="0">
                <a:solidFill>
                  <a:srgbClr val="FFC000"/>
                </a:solidFill>
              </a:rPr>
              <a:t>AGENT CHANGE LOG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31C1E9-0503-47E7-B5DF-CF56A6D0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619125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21c0df4b964ea5"/>
          <a:stretch xmlns:a="http://schemas.openxmlformats.org/drawingml/2006/main"/>
        </p:blipFill>
        <p:spPr>
          <a:xfrm xmlns:a="http://schemas.openxmlformats.org/drawingml/2006/main">
            <a:off x="1244318" y="2190750"/>
            <a:ext cx="5531415" cy="355282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6B9C5F-C20F-4EF7-8E07-B1498664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33600"/>
            <a:ext cx="371475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fb7296f16d4b9e"/>
          <a:stretch xmlns:a="http://schemas.openxmlformats.org/drawingml/2006/main"/>
        </p:blipFill>
        <p:spPr>
          <a:xfrm xmlns:a="http://schemas.openxmlformats.org/drawingml/2006/main">
            <a:off x="7486650" y="2444653"/>
            <a:ext cx="3600450" cy="304502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82C37A-72EE-43C0-BD82-52479FC6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62650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The agent prepares and validates updates; the lecturer retains the release decision.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5530F2-5CFA-452B-AAC5-AD78C56B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865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C000"/>
                </a:solidFill>
              </a:defRPr>
            </a:pPr>
            <a:r>
              <a:rPr sz="1125" b="1" i="0">
                <a:solidFill>
                  <a:srgbClr val="FFC000"/>
                </a:solidFill>
              </a:rPr>
              <a:t>AFK RESEARCH · PRODUCT MEDIA</a:t>
            </a:r>
          </a:p>
        </p:txBody>
      </p:sp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7782AC-45D3-4985-9186-45C9A0A9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Agents can maintain an academic website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98308C-CF6E-435F-9657-B09439D0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7128C8-5C15-42A3-A845-1F7A4369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</p:spTree>
    <p:extLst>
      <p:ext uri="{BB962C8B-B14F-4D97-AF65-F5344CB8AC3E}">
        <p14:creationId xmlns:p14="http://schemas.microsoft.com/office/powerpoint/2010/main" val="57950164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42">
            <a:extLst xmlns:a="http://schemas.openxmlformats.org/drawingml/2006/main">
              <a:ext uri="{FF2B5EF4-FFF2-40B4-BE49-F238E27FC236}">
                <a16:creationId xmlns:a16="http://schemas.microsoft.com/office/drawing/2014/main" id="{17345CD9-29BC-493A-8EF2-67EDD3EB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CA29B-68A5-41FC-A6E4-8EBD6B32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42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0BAD6-B43C-4828-8519-A60B3D23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14E372-660C-45D1-A487-CF187592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8A0A8-8320-44A8-B297-D84D6EE9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EBCDD-E0ED-4528-A78F-CF7E52A9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9270CC-21A6-44D0-9734-7095883B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EB9E1-B2EA-426A-A9E7-57428371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EA51DD-717D-4578-8A56-2110E5AA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42">
            <a:extLst xmlns:a="http://schemas.openxmlformats.org/drawingml/2006/main">
              <a:ext uri="{FF2B5EF4-FFF2-40B4-BE49-F238E27FC236}">
                <a16:creationId xmlns:a16="http://schemas.microsoft.com/office/drawing/2014/main" id="{28975769-B63A-4D9C-BC0F-0732606E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8262B7-E073-4E21-8649-4FD65904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C000"/>
                </a:solidFill>
              </a:defRPr>
            </a:pPr>
            <a:r>
              <a:rPr sz="1125" b="1" i="0">
                <a:solidFill>
                  <a:srgbClr val="FFC000"/>
                </a:solidFill>
              </a:rPr>
              <a:t>CONSISTENT ACADEMIC 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97282A-C76A-4701-B194-08E10360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47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C000"/>
                </a:solidFill>
              </a:defRPr>
            </a:pPr>
            <a:r>
              <a:rPr sz="1125" b="1" i="0">
                <a:solidFill>
                  <a:srgbClr val="FFC000"/>
                </a:solidFill>
              </a:rPr>
              <a:t>RICH TECHNICAL CONTENT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C7A884-EEC8-4B3A-85BE-E64BE4BB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4953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b4021a5da4472c"/>
          <a:stretch xmlns:a="http://schemas.openxmlformats.org/drawingml/2006/main"/>
        </p:blipFill>
        <p:spPr>
          <a:xfrm xmlns:a="http://schemas.openxmlformats.org/drawingml/2006/main">
            <a:off x="971550" y="2229511"/>
            <a:ext cx="4838700" cy="2856177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DEAAE6-F40E-406A-BED7-5F280CEB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4953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566ed86ba4d69"/>
          <a:stretch xmlns:a="http://schemas.openxmlformats.org/drawingml/2006/main"/>
        </p:blipFill>
        <p:spPr>
          <a:xfrm xmlns:a="http://schemas.openxmlformats.org/drawingml/2006/main">
            <a:off x="6265346" y="2190750"/>
            <a:ext cx="4766708" cy="29337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7CDC38-2410-4604-BB64-5F33C5F8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C000"/>
                </a:solidFill>
              </a:defRPr>
            </a:pPr>
            <a:r>
              <a:rPr sz="1125" b="1" i="0">
                <a:solidFill>
                  <a:srgbClr val="FFC000"/>
                </a:solidFill>
              </a:rPr>
              <a:t>WHY IT MATTERS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E676F3-3712-436D-94C5-CF313689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1013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Shared visual rules keep the family coherent while each course or research topic preserves its own evidence.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357640-FD17-4592-BA4F-28E6E124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865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C000"/>
                </a:solidFill>
              </a:defRPr>
            </a:pPr>
            <a:r>
              <a:rPr sz="1125" b="1" i="0">
                <a:solidFill>
                  <a:srgbClr val="FFC000"/>
                </a:solidFill>
              </a:rPr>
              <a:t>AFK RESEARCH · PRODUCT MEDIA</a:t>
            </a:r>
          </a:p>
        </p:txBody>
      </p:sp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E1339D-01D0-482A-B1F2-5B730C92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A Design System keeps materials coherent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9C3DCE-4C53-4496-AD19-F11B97D4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12B3E4-D39B-4089-A845-0BE72874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</p:spTree>
    <p:extLst>
      <p:ext uri="{BB962C8B-B14F-4D97-AF65-F5344CB8AC3E}">
        <p14:creationId xmlns:p14="http://schemas.microsoft.com/office/powerpoint/2010/main" val="42419994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metadata-rail-43">
            <a:extLst xmlns:a="http://schemas.openxmlformats.org/drawingml/2006/main">
              <a:ext uri="{FF2B5EF4-FFF2-40B4-BE49-F238E27FC236}">
                <a16:creationId xmlns:a16="http://schemas.microsoft.com/office/drawing/2014/main" id="{5DE5E44B-95A3-4328-BECC-EC3F2C46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AB2F3-D56C-4029-8329-F7A32AC0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43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73875-8E70-46B6-A3BB-1CFA419D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5A4851-E551-45CF-9CC2-063661D0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304204-71E6-4267-8008-F3632805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1AFEA-D8FB-4F72-98CD-F600DCFF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BDC8F-FDD7-4E95-A4C5-044447D9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5DE63-7AC8-49BB-BB3A-598DF115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D74361-6011-425B-A126-D01B2C9B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43">
            <a:extLst xmlns:a="http://schemas.openxmlformats.org/drawingml/2006/main">
              <a:ext uri="{FF2B5EF4-FFF2-40B4-BE49-F238E27FC236}">
                <a16:creationId xmlns:a16="http://schemas.microsoft.com/office/drawing/2014/main" id="{7A14B0BB-B03E-40FE-BDD3-EA368B84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D86F63-83EA-4343-A417-4267FD7D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B20512-84EE-4F9F-AC04-B3DACCAB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The implemented architecture is layered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42FF74-5571-4CBC-899C-0B8D773E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18D46-387B-4A58-9DDB-545B06A3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EAE589-FF5A-425E-84E6-4E6489C4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CCD5B5-7362-4616-8290-8EB22453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AD4BE8-E5AA-4EF7-B22D-A99D1A9A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Project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1F5442-9E5F-4465-B7CF-8FF120ED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1676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An existing GitHub-backed worktree.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BDF6AC-0F1A-4EE0-A37D-42243B68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75700E-73E6-40C4-911B-459C25B3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3C9F95-C2C4-49D6-A90D-D9A0BC4C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290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Installer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9F7E03-3CDF-4F80-8AF5-FCC58A35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19550"/>
            <a:ext cx="1676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CLI verifies, plans, applies, and checks setup.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5FC650-AB54-458A-B6EF-ED470412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C72711-4CF6-401C-9DD5-96A12509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3F53BC-DB75-488E-BEF3-86A0F31E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4290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Workspaces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57C634-3F0E-4490-B135-02EBB0E2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19550"/>
            <a:ext cx="1676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.brain plus optional .design and .schedule.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EBA204-B7C1-4604-8910-F4174DEC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B08715-0013-4461-96F3-2422096C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F945A6-4724-4E55-B7B1-7467DCC0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290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Skills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AB4CC7-F280-4932-9E49-7260BC95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19550"/>
            <a:ext cx="1676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Reusable workflows for agents to follow.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76A26E-6413-4A2F-88AF-F4D15262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4175BE-9E22-4C0B-9618-3BCC8CFF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4AE7AC-D031-4244-8E9F-5FA07CD4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290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History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BB6975-E530-4274-8C9C-C7DB36E0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19550"/>
            <a:ext cx="1676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Issues, commits, manifests, and logs.</a:t>
            </a:r>
          </a:p>
        </p:txBody>
      </p:sp>
    </p:spTree>
    <p:extLst>
      <p:ext uri="{BB962C8B-B14F-4D97-AF65-F5344CB8AC3E}">
        <p14:creationId xmlns:p14="http://schemas.microsoft.com/office/powerpoint/2010/main" val="85538075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44">
            <a:extLst xmlns:a="http://schemas.openxmlformats.org/drawingml/2006/main">
              <a:ext uri="{FF2B5EF4-FFF2-40B4-BE49-F238E27FC236}">
                <a16:creationId xmlns:a16="http://schemas.microsoft.com/office/drawing/2014/main" id="{CA374A90-E815-4F01-9F15-9001ED1B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5D5AD6-BCFA-49F3-84A2-36A12E4D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44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920B44-F0CF-40DE-B2C3-3407C0BE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F057B-F320-4C12-8207-C81120B1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EA4EDC-4F35-4B95-ADA0-336FEAD0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81A4BB-FC84-4765-AE01-119E8CF0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B264E-F174-43B9-B3EF-A28EE109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D5AE3-6747-4E78-91FC-A1E69E2F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1A1439-A52C-4DBB-919F-8FA99B4D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44">
            <a:extLst xmlns:a="http://schemas.openxmlformats.org/drawingml/2006/main">
              <a:ext uri="{FF2B5EF4-FFF2-40B4-BE49-F238E27FC236}">
                <a16:creationId xmlns:a16="http://schemas.microsoft.com/office/drawing/2014/main" id="{0E9CC3DE-A1F8-424D-95A7-4CC7A5AA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08B646-BAAA-4004-9965-F3F84926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442054-C47E-4C82-8A6B-1A960210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Start with verifiable prerequisites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BDAE5A-E44A-4949-8F7E-5D716C48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6650E8-8E84-49C5-9427-31BC538B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RUNTIME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12E408-AC41-4909-A2FC-6AF70E69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E0DA07-0B33-4086-B137-7775CC0B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Node.js 18.18 or newer and npm.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828F74-C9AB-4AE7-9593-71C63EF9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REPOSITORY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8B895E-CE9A-4422-B037-57804B8A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BA6630-B210-4319-95D0-14C41A8B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An existing Git worktree with a reachable GitHub origin.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D3B2A6-CAB1-48E3-8D2F-96DBCBCD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CHOICES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AD0866-E4A9-4658-8959-8BB754FE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44125B-BFC8-490C-A370-2082DB3D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Decide whether the project needs Design, Schedule, Claude Code, or Sandcastle support.</a:t>
            </a:r>
          </a:p>
        </p:txBody>
      </p:sp>
    </p:spTree>
    <p:extLst>
      <p:ext uri="{BB962C8B-B14F-4D97-AF65-F5344CB8AC3E}">
        <p14:creationId xmlns:p14="http://schemas.microsoft.com/office/powerpoint/2010/main" val="2029049765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metadata-rail-45">
            <a:extLst xmlns:a="http://schemas.openxmlformats.org/drawingml/2006/main">
              <a:ext uri="{FF2B5EF4-FFF2-40B4-BE49-F238E27FC236}">
                <a16:creationId xmlns:a16="http://schemas.microsoft.com/office/drawing/2014/main" id="{EF583C17-14AC-4E35-9185-06F998E1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38B15-D49C-4CD3-97E1-F485D734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45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C696E-B440-4CC9-919B-75F95768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6E93EB-6AB1-4985-BBFB-806D7EB2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3084F0-3682-4C20-9086-209988D7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AAAC90-BAA3-48C8-9FB7-FBA3F6FC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58054-3D00-4D7B-972A-0DB96221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50230-C29B-4AD7-8F3D-E98B9DAD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00E36D-61CA-4A46-9FB6-D2D8141F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45">
            <a:extLst xmlns:a="http://schemas.openxmlformats.org/drawingml/2006/main">
              <a:ext uri="{FF2B5EF4-FFF2-40B4-BE49-F238E27FC236}">
                <a16:creationId xmlns:a16="http://schemas.microsoft.com/office/drawing/2014/main" id="{B1B014AB-F86A-425C-8C8A-FE9E95D5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F90920-3E54-40A7-8C69-2FF604C4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8AEDB6-863C-4BF6-8386-5C06ECA3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Preview before applying setup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C217FF-57A2-43BE-9A96-91B9AC85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6072D8-0C23-412E-8D9F-3F5618CE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65341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711E27-D373-478D-B555-D062121F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43150"/>
            <a:ext cx="59626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1354F"/>
                </a:solidFill>
              </a:defRPr>
            </a:pPr>
            <a:r>
              <a:rPr sz="1350" b="0" i="0">
                <a:solidFill>
                  <a:srgbClr val="01354F"/>
                </a:solidFill>
              </a:rPr>
              <a:t># 1. Preview</a:t>
            </a:r>
          </a:p>
          <a:p xmlns:a="http://schemas.openxmlformats.org/drawingml/2006/main">
            <a:pPr algn="l">
              <a:defRPr sz="1350" b="0" i="0">
                <a:solidFill>
                  <a:srgbClr val="01354F"/>
                </a:solidFill>
              </a:defRPr>
            </a:pPr>
            <a:r>
              <a:rPr sz="1350" b="0" i="0">
                <a:solidFill>
                  <a:srgbClr val="01354F"/>
                </a:solidFill>
              </a:rPr>
              <a:t>npx --yes --package github:ORG/AFK-RESEARCH-REPO \</a:t>
            </a:r>
          </a:p>
          <a:p xmlns:a="http://schemas.openxmlformats.org/drawingml/2006/main">
            <a:pPr algn="l">
              <a:defRPr sz="1350" b="0" i="0">
                <a:solidFill>
                  <a:srgbClr val="01354F"/>
                </a:solidFill>
              </a:defRPr>
            </a:pPr>
            <a:r>
              <a:rPr sz="1350" b="0" i="0">
                <a:solidFill>
                  <a:srgbClr val="01354F"/>
                </a:solidFill>
              </a:rPr>
              <a:t>  afk-research init --dry-run --yes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01354F"/>
                </a:solidFill>
              </a:defRPr>
            </a:pPr>
            <a:r>
              <a:rPr sz="1350" b="0" i="0">
                <a:solidFill>
                  <a:srgbClr val="01354F"/>
                </a:solidFill>
              </a:rPr>
              <a:t># 2. Apply after review</a:t>
            </a:r>
          </a:p>
          <a:p xmlns:a="http://schemas.openxmlformats.org/drawingml/2006/main">
            <a:pPr algn="l">
              <a:defRPr sz="1350" b="0" i="0">
                <a:solidFill>
                  <a:srgbClr val="01354F"/>
                </a:solidFill>
              </a:defRPr>
            </a:pPr>
            <a:r>
              <a:rPr sz="1350" b="0" i="0">
                <a:solidFill>
                  <a:srgbClr val="01354F"/>
                </a:solidFill>
              </a:rPr>
              <a:t>npx --yes --package github:ORG/AFK-RESEARCH-REPO \</a:t>
            </a:r>
          </a:p>
          <a:p xmlns:a="http://schemas.openxmlformats.org/drawingml/2006/main">
            <a:pPr algn="l">
              <a:defRPr sz="1350" b="0" i="0">
                <a:solidFill>
                  <a:srgbClr val="01354F"/>
                </a:solidFill>
              </a:defRPr>
            </a:pPr>
            <a:r>
              <a:rPr sz="1350" b="0" i="0">
                <a:solidFill>
                  <a:srgbClr val="01354F"/>
                </a:solidFill>
              </a:rPr>
              <a:t>  afk-research init --design --schedule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0F9C2A-8E7F-4046-880A-B520A57D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098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VERIFY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F214FA-A7CB-4C3F-B0DF-E272B1CD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717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The target project and GitHub remote must already exist.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5FB355-35B7-4342-91A1-310EE9BF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766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PREVIEW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5B88A4-2DA4-4AB7-863D-001B40D7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385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Dry run shows planned files and dependencies without writing.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ABECA3-9426-487B-9777-D8C41DE3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434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CHOOSE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FBD77F-405D-44E9-A829-B0E61611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7053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Optional workspaces are explicit setup decisions.</a:t>
            </a:r>
          </a:p>
        </p:txBody>
      </p:sp>
    </p:spTree>
    <p:extLst>
      <p:ext uri="{BB962C8B-B14F-4D97-AF65-F5344CB8AC3E}">
        <p14:creationId xmlns:p14="http://schemas.microsoft.com/office/powerpoint/2010/main" val="304206256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46">
            <a:extLst xmlns:a="http://schemas.openxmlformats.org/drawingml/2006/main">
              <a:ext uri="{FF2B5EF4-FFF2-40B4-BE49-F238E27FC236}">
                <a16:creationId xmlns:a16="http://schemas.microsoft.com/office/drawing/2014/main" id="{BCA30B21-79C7-4597-B741-E6FEE287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07B15-9D0A-4D52-A80E-1EE7C30C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46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314DD-123E-4DC9-AA01-3D778C70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16416-9455-4F7D-955B-E7408717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D7D475-AA75-4F6A-924B-8D581AEF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9821E2-4BA9-4DC8-98EE-DCD8BCC8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FC9051-03F6-4607-8C85-2342D95D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9FE951-58A3-4F76-A7FD-C9D14214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CA3B2E-5899-4E40-BD6D-9FC88F94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46">
            <a:extLst xmlns:a="http://schemas.openxmlformats.org/drawingml/2006/main">
              <a:ext uri="{FF2B5EF4-FFF2-40B4-BE49-F238E27FC236}">
                <a16:creationId xmlns:a16="http://schemas.microsoft.com/office/drawing/2014/main" id="{5D5217C4-274B-4470-BAF0-DFF35FB4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3B73D5-4DE5-4694-B754-503A2CF7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06FD00-669C-4998-8E07-A3EAE6E2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The workspace has a readable anatomy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669352-3EA2-4A63-95E5-199268A3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D8D925-E525-45CA-AD24-48AF0661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.BRAIN/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865C56-EF1D-4179-8AF3-62C6A376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F7779D-BCA9-46C3-9118-2EBA16E9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Raw provenance, maintained wiki knowledge, indexes, logs, and durable outputs.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D7A290-9D9A-4950-9084-C02B9DA0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.DESIGN/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2D9C12-D107-4079-8AEA-1584305F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EC5AE6-8671-49FF-B9E5-9300724A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Named Design Systems with DESIGN.md, tokens, templates, and examples.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B6426E-3F58-4835-9890-00C155A0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.SCHEDULE/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FE7BC5-C35B-4DA4-ACB3-0E3BB30C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E522FD-9D44-4222-A40B-7EA359C6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Task Prompts, runner guidance, and machine-local operational state.</a:t>
            </a:r>
          </a:p>
        </p:txBody>
      </p:sp>
    </p:spTree>
    <p:extLst>
      <p:ext uri="{BB962C8B-B14F-4D97-AF65-F5344CB8AC3E}">
        <p14:creationId xmlns:p14="http://schemas.microsoft.com/office/powerpoint/2010/main" val="77108468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metadata-rail-47">
            <a:extLst xmlns:a="http://schemas.openxmlformats.org/drawingml/2006/main">
              <a:ext uri="{FF2B5EF4-FFF2-40B4-BE49-F238E27FC236}">
                <a16:creationId xmlns:a16="http://schemas.microsoft.com/office/drawing/2014/main" id="{EB5BB393-9F28-4716-8511-419DA186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6BB9D-3B98-48B9-A808-4B6614D6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87D42B-F758-4457-BFD5-B1308D5E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F9D723-1182-4784-8645-9DE68D2F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F4400-F682-48B8-A9BB-5EB45BBD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BC4A8-F8EF-4149-8B92-041E2CD6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29F9F0-551F-419A-AEEA-E0B80AD6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0361B1-D7B7-4F5E-ADF9-7EDE5076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E2A283-696B-4548-B7F2-AE170F04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47">
            <a:extLst xmlns:a="http://schemas.openxmlformats.org/drawingml/2006/main">
              <a:ext uri="{FF2B5EF4-FFF2-40B4-BE49-F238E27FC236}">
                <a16:creationId xmlns:a16="http://schemas.microsoft.com/office/drawing/2014/main" id="{232AA0DF-189D-4B14-98FB-3E11E528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18D2AF-512B-4F7E-BC1B-7E1BDF7B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CA8AB3-DAC5-4083-8A1E-F720C8C9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Implement a research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A1982A-90E6-4179-AEC3-459764D3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116FEE-8BFA-4709-A065-4DA776D0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EDD9A5-5133-4642-9441-B1B8A2DE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8890E6-9E47-40E9-8CFB-A58237F2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51F75E-509C-4E36-BF11-7828D788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Capture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053648-5E2E-4806-B19B-D6943BE6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Save the source and provenance without rewriting it.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6CFA33-E1D6-4A0F-8308-7F96CB99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87BBCC-F6EA-4A9B-A91A-88CE3499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3BC883-2AB8-44EA-8E96-3C28BEB2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Extract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C6394E-6A56-4F9E-B5BE-B8714595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Create source notes, concepts, claims, and questions.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3B3BBB-2C7E-4931-B503-7E0BAF7D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55C6BD-2D1E-4EC1-BD15-EFF64766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7C49E6-1285-4190-A8B4-BB076EF6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Query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6F4EE7-FECE-4A64-965E-0ED1BB54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Answer from maintained knowledge with precise citations.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9B6288-9183-4369-B342-2D964D42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6FEA17-BEAC-4BF8-81D3-CBD30DE5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EF12D0-0A2D-41E6-95AF-A7F24B05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Validate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877556-E6BC-4046-ACFD-D934F00E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Inspect original evidence before making consequential claims.</a:t>
            </a:r>
          </a:p>
        </p:txBody>
      </p:sp>
    </p:spTree>
    <p:extLst>
      <p:ext uri="{BB962C8B-B14F-4D97-AF65-F5344CB8AC3E}">
        <p14:creationId xmlns:p14="http://schemas.microsoft.com/office/powerpoint/2010/main" val="135181129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metadata-rail-48">
            <a:extLst xmlns:a="http://schemas.openxmlformats.org/drawingml/2006/main">
              <a:ext uri="{FF2B5EF4-FFF2-40B4-BE49-F238E27FC236}">
                <a16:creationId xmlns:a16="http://schemas.microsoft.com/office/drawing/2014/main" id="{4E704D73-8D7A-4C46-91D9-1983F553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FB894-FEDD-4623-9980-8D423CA8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48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439EA-5D88-4D0C-82EE-53DCCC47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9E0ECB-10FB-4CED-B325-A6E14411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5FA15-7F0C-4AE7-9F75-AC40859B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C9B2D-7675-49F3-81C0-A84D0ED4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493E2-58A3-42EF-A41E-27E7733B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8C26D0-3EF8-46A1-ADCD-038014EB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99E7D8-1599-45AE-8462-9FB9B5E1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48">
            <a:extLst xmlns:a="http://schemas.openxmlformats.org/drawingml/2006/main">
              <a:ext uri="{FF2B5EF4-FFF2-40B4-BE49-F238E27FC236}">
                <a16:creationId xmlns:a16="http://schemas.microsoft.com/office/drawing/2014/main" id="{4EF2F1C8-5F8F-4539-8634-DBF47BAA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9E0EE-E934-418C-9539-5AB6ECA3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F7028D3-26C4-4B33-9ADD-243577D1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Implement a teaching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3E4212-BB32-426B-BAF7-6EBE97A6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D0BFFD-7134-427F-AB34-498BAB29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0A29A6-ED76-4BDA-B9C5-48762224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CD5206-90FE-4F43-BFAF-308DE689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6DE3CA-5E8D-4984-9A6E-85568665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Define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D51944-CE69-4D62-931A-1B82C3F7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Set learning outcomes and audience assumptions.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4F0C9C-76A6-40A3-8394-E1CE4172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6D0DD4-4C8A-405F-84AB-31CE86C3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B92254-1765-49FD-A5C9-0162E75B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Retrieve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700BEF-840D-4920-A03B-1F1C57E4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Bring relevant evidence and prior decisions into context.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A59D9E-299A-493E-AC4E-D7280C7C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CEEF71-72D4-42FD-8668-F8DA7464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903B64-693D-43C5-8AA9-2424C3DE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Generate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EFBC96-1954-4135-80C4-0561DCA0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Create lecture materials, examples, activities, and notes.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C111AA-7365-43A3-A699-BBA9EA2B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BFEC50-37AC-4089-9C08-36968E11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B9F1A9-0A27-442E-9AB9-199FCC88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0DE513-FF35-4377-A4E7-28CFCD1E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Check accuracy, pedagogy, accessibility, and integrity.</a:t>
            </a:r>
          </a:p>
        </p:txBody>
      </p:sp>
    </p:spTree>
    <p:extLst>
      <p:ext uri="{BB962C8B-B14F-4D97-AF65-F5344CB8AC3E}">
        <p14:creationId xmlns:p14="http://schemas.microsoft.com/office/powerpoint/2010/main" val="57593852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metadata-rail-49">
            <a:extLst xmlns:a="http://schemas.openxmlformats.org/drawingml/2006/main">
              <a:ext uri="{FF2B5EF4-FFF2-40B4-BE49-F238E27FC236}">
                <a16:creationId xmlns:a16="http://schemas.microsoft.com/office/drawing/2014/main" id="{1B5E1EAA-0870-4478-8B51-4248E8DC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915A60-7AB0-40DD-9AE9-15159CD8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EFCF6-BD78-4BE0-B787-8F499B4F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18BEE2-C143-4768-B6B2-F747554A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28FEE-9432-4B4C-9500-771C6B74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1D3B4-ADB6-4081-BCB8-D73B2A76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302E17-D5E0-4309-8E36-F25733DE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16ED73-14C6-4D88-B7AF-FEC1CEA8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50518C-F791-409F-A9A8-BC449605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49">
            <a:extLst xmlns:a="http://schemas.openxmlformats.org/drawingml/2006/main">
              <a:ext uri="{FF2B5EF4-FFF2-40B4-BE49-F238E27FC236}">
                <a16:creationId xmlns:a16="http://schemas.microsoft.com/office/drawing/2014/main" id="{2B552B57-9F7E-45E1-9CF6-F76FC55E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3CC6E2-904F-43E6-BCB8-FED0EA0D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131F26-E78D-4571-8C09-47ED751B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Implement a community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566AD7-8908-4773-B08F-120AC569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B80356-79BB-4722-97F7-63DEEB2F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624161-4B0D-4DE5-BD83-B6FAD95C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88DA24-21DE-49F9-AEA9-DE49D421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144AFE-CFCF-4488-A2A5-15B9C8AB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Listen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11EE43-7C89-42AE-9ABD-DDE4324F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Record community needs, language, and constraints.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2B7948-B76C-4B72-BDCF-CD7F4189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23E1E1-6BE8-4691-99CF-EEA71DEC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26F9CA-1F6C-45C9-82F0-6E52FF1D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Adapt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0E3FAA-BD20-4D61-8C34-F4A75F36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Translate expertise into appropriate formats.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AB7503-900F-4728-B763-6737B3E0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940A12-049C-46DC-9995-6FCAD017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34B3D0-7BAB-4903-ABA9-78561A77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Approve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C5BBAD-4A5F-4D22-8A24-620BBA4F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Check consent, rights, privacy, and local relevance.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09DE93-05C2-421C-9E66-7A303171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A8338A-CF20-44CF-9B99-2E90AD5A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53D326-567B-4D3E-93AB-A02622C1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Learn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8E6C98-CE2C-4ED8-8A71-29D2863E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Capture feedback as evidence for the next iteration.</a:t>
            </a:r>
          </a:p>
        </p:txBody>
      </p:sp>
    </p:spTree>
    <p:extLst>
      <p:ext uri="{BB962C8B-B14F-4D97-AF65-F5344CB8AC3E}">
        <p14:creationId xmlns:p14="http://schemas.microsoft.com/office/powerpoint/2010/main" val="1367742212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50">
            <a:extLst xmlns:a="http://schemas.openxmlformats.org/drawingml/2006/main">
              <a:ext uri="{FF2B5EF4-FFF2-40B4-BE49-F238E27FC236}">
                <a16:creationId xmlns:a16="http://schemas.microsoft.com/office/drawing/2014/main" id="{3C7B9142-1898-4727-A163-6BDA4772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EB9530-1780-4A5B-81CF-DDDBDE51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043E8-3ABD-4315-AD7C-BE0F8E45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31214-359B-4D97-86AF-5E3D7F2C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E95DCA-444C-4D43-AD97-0D0F6751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F4048-C6A6-4171-9D5D-B6BDB060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C5F6D-012E-4C93-9970-18F67DF5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0D098-2DDB-4E7A-95DB-71D9D645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ABB272-D7C0-4AB7-931D-2A05DA7E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50">
            <a:extLst xmlns:a="http://schemas.openxmlformats.org/drawingml/2006/main">
              <a:ext uri="{FF2B5EF4-FFF2-40B4-BE49-F238E27FC236}">
                <a16:creationId xmlns:a16="http://schemas.microsoft.com/office/drawing/2014/main" id="{7C2B96C7-A537-4C82-A050-CF6FE5AF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55387B-1DFF-41BF-9D4E-714700D9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0C391D-0774-4C26-BB83-02D6D7E2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Schedule recurring work, not judgment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05A508-D480-4160-A0DA-B5E4B322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DEBF48-1933-4FB3-815E-6F142C9C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GOOD CANDIDATES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FCB1CC-99E0-418D-BA19-68F72B9F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2B8D6A-3872-4416-A008-255031BF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Status checks, inbox triage, reminders, source monitoring, and draft preparation.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9B3F5B-73A3-4FF9-B8AD-70B27824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REQUIRE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233ACC-075C-4FFE-B1DD-437B9CDA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F2D972-DF53-4B1E-AFB7-A23B9D2C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Grades, student feedback, research conclusions, external messages, and publication.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CFDB67-5BAE-4572-9DD0-D38511C5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RUNNER CONTROLS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3744C5-8252-4369-8A0A-87F3E209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73128E-15B9-4474-88FF-B43E3473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Readiness checks, explicit start/stop, logs, wake handling, and task-level prompts.</a:t>
            </a:r>
          </a:p>
        </p:txBody>
      </p:sp>
    </p:spTree>
    <p:extLst>
      <p:ext uri="{BB962C8B-B14F-4D97-AF65-F5344CB8AC3E}">
        <p14:creationId xmlns:p14="http://schemas.microsoft.com/office/powerpoint/2010/main" val="417809555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metadata-rail-51">
            <a:extLst xmlns:a="http://schemas.openxmlformats.org/drawingml/2006/main">
              <a:ext uri="{FF2B5EF4-FFF2-40B4-BE49-F238E27FC236}">
                <a16:creationId xmlns:a16="http://schemas.microsoft.com/office/drawing/2014/main" id="{90FA1917-4AD9-4113-9424-670B1638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6930F-31B2-4E54-8E4B-BC363182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51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0CAFD-3A46-49F3-AFD6-4F9D8115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1EA3D-E2A5-4B65-A1E0-36820874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2C519-ED4B-4481-B506-AD5C335D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213DF-B3E7-4520-BE55-115280F8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364DC-867D-418F-BB4C-C43BDABE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9FF75D-D320-410A-B262-7A154499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A25DE0-B711-40F4-9740-3FB72375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51">
            <a:extLst xmlns:a="http://schemas.openxmlformats.org/drawingml/2006/main">
              <a:ext uri="{FF2B5EF4-FFF2-40B4-BE49-F238E27FC236}">
                <a16:creationId xmlns:a16="http://schemas.microsoft.com/office/drawing/2014/main" id="{2DB9193E-21AB-49A6-9695-79FD05A3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7B3A07-3DA6-4BF1-BD31-2E667101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7AD952-01EA-4951-8CBC-948552D6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Managed updates preserve project ownership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610E8E-C4C3-4AA3-AE46-148A1012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2E6184-FBCA-42E7-806E-7D56C47A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A7F89C-6719-4BD3-9D74-FAF069A4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B9C666-0A79-4AD7-9A49-A2708375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C282E9-22BA-4AAB-A3D2-B45F910A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Compare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32F663-C055-4CDB-A282-30051547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Read intended managed files and current hashes.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47ABA4-E433-47CC-B2A5-91E3D8BF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D01965-14B7-4EE3-A01B-04511C29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23F08E-BC6D-410D-B5D2-D798B2EA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Update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32A392-111A-4B32-A255-73CEFC12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Replace only unchanged installer-owned files.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AA9DC0-9F7E-4280-8B73-503EB49D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25B562-A216-4A90-AB0F-7F088A43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CBA6C4-2377-4EE0-950E-834602B3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Preserve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09F6AF-6C5D-46B6-B3E1-00BB8EC7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Keep user-edited files and unknown local skills.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5EF68B-5D6D-4A8F-A554-89556C0F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7AB43A-5C00-43B3-806E-83F0AA36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484C9E-D665-4104-BA0A-EABDFC44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Sidecar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06113E-EFFE-40EC-A2FD-67C8B9D9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Write the new generated alternative beside conflicts.</a:t>
            </a:r>
          </a:p>
        </p:txBody>
      </p:sp>
    </p:spTree>
    <p:extLst>
      <p:ext uri="{BB962C8B-B14F-4D97-AF65-F5344CB8AC3E}">
        <p14:creationId xmlns:p14="http://schemas.microsoft.com/office/powerpoint/2010/main" val="874312442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52">
            <a:extLst xmlns:a="http://schemas.openxmlformats.org/drawingml/2006/main">
              <a:ext uri="{FF2B5EF4-FFF2-40B4-BE49-F238E27FC236}">
                <a16:creationId xmlns:a16="http://schemas.microsoft.com/office/drawing/2014/main" id="{2C92E285-F535-458D-AEE5-56FE5DC9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84AA4-B716-4C10-A2BC-8BF05D20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52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7DC657-DB27-4132-B422-D4396277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ADOPTION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A0613-82C9-48AD-BDD1-30745651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C9199-212C-4D86-8867-4D1A23A4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6FA6E5-E336-46C3-8EF1-FB2ADAC3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3DAD29-6E5F-4296-8D9C-F97544AB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D3DD36-1E2D-49A0-8B73-2B7D268A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63F13A-0C61-4519-BE9D-B7B92769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52">
            <a:extLst xmlns:a="http://schemas.openxmlformats.org/drawingml/2006/main">
              <a:ext uri="{FF2B5EF4-FFF2-40B4-BE49-F238E27FC236}">
                <a16:creationId xmlns:a16="http://schemas.microsoft.com/office/drawing/2014/main" id="{D6DFE1CC-C87E-4158-8B2A-AF28B629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BAF5F4-1CBF-475D-AE9A-72EDD38E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50B97D-BDF7-486A-8CFC-961923FC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A 30-day adoption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83A2C1-BC17-4976-82B7-88DF2AE2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1A7A1A-2110-4B4A-B3ED-795A3526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WEEK 1 · BASELINE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1C52B6-D13A-4D81-B2B8-B32415A9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A1CEBB-B97E-4F09-915A-C8FE69D4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Choose one low-risk workflow and define evidence, owner, and success criteria.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4A5F9E-4866-4E47-A138-51D1D561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WEEK 2 · PROTOTYPE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D2BDCA-CDBD-4528-AAB1-FE162498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502AAF-5305-4CC0-B64B-DA939B21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Create the workspace, run manually, and record every failure.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0AF481-C027-4E58-B293-952AD853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WEEK 3–4 · GOVERN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BCE2C1-DCA3-4AF5-846C-D68697D3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893FB6-696B-4F3E-8E68-1C4B30F3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Add review gates, evaluate outputs, then automate only stable preparation steps.</a:t>
            </a:r>
          </a:p>
        </p:txBody>
      </p:sp>
    </p:spTree>
    <p:extLst>
      <p:ext uri="{BB962C8B-B14F-4D97-AF65-F5344CB8AC3E}">
        <p14:creationId xmlns:p14="http://schemas.microsoft.com/office/powerpoint/2010/main" val="572508445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metadata-rail-53">
            <a:extLst xmlns:a="http://schemas.openxmlformats.org/drawingml/2006/main">
              <a:ext uri="{FF2B5EF4-FFF2-40B4-BE49-F238E27FC236}">
                <a16:creationId xmlns:a16="http://schemas.microsoft.com/office/drawing/2014/main" id="{89387F7C-4196-449C-B27B-61BEFD6E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8B9D1C-8EC0-4A53-B4F0-E844DB36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53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5BA64-EF40-4FA4-BE28-6C63BA04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REFERENCES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315B5-BBDA-4AC8-A8B3-D40AE342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F62BD-89BC-4674-B2E7-3917760C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F94DD-1FD9-475A-8697-923C3DC0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E494BC-0A15-4A0D-ABA2-5FCA7F2B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F827F6-1C05-4857-B770-7C24B76D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1999DA-F166-4D64-A382-F7DB8D0E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53">
            <a:extLst xmlns:a="http://schemas.openxmlformats.org/drawingml/2006/main">
              <a:ext uri="{FF2B5EF4-FFF2-40B4-BE49-F238E27FC236}">
                <a16:creationId xmlns:a16="http://schemas.microsoft.com/office/drawing/2014/main" id="{2A203195-7529-46D6-AA2D-9FDC4247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2920A2-0AD4-461B-82F4-EFED1938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1FE87F-3CFE-46EF-B52F-89068CFC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Key references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FEFF74-3102-4C80-A0EE-2748665F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6954E9-DBCF-453C-B6FB-F3E50738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C000"/>
                </a:solidFill>
              </a:defRPr>
            </a:pPr>
            <a:r>
              <a:rPr sz="1500" b="1" i="0">
                <a:solidFill>
                  <a:srgbClr val="FFC000"/>
                </a:solidFill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20919A-5477-4133-901F-D3C350A8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574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Indonesia · Law No. 12/2012 on Higher Education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F154C8-1B4F-433D-A8A9-32BC4741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C000"/>
                </a:solidFill>
              </a:defRPr>
            </a:pPr>
            <a:r>
              <a:rPr sz="1500" b="1" i="0">
                <a:solidFill>
                  <a:srgbClr val="FFC000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BE5829-0FED-4F9A-A745-A6D6B6C3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337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Yao et al. · ReAct (2023)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1A0EBD-CB82-422D-865C-30221C1E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C000"/>
                </a:solidFill>
              </a:defRPr>
            </a:pPr>
            <a:r>
              <a:rPr sz="1500" b="1" i="0">
                <a:solidFill>
                  <a:srgbClr val="FFC000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A2FE07-3ADC-490F-87C8-22CDCC48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810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Schick et al. · Toolformer (2023)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542D95-263B-487C-9F95-A6D960E0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C000"/>
                </a:solidFill>
              </a:defRPr>
            </a:pPr>
            <a:r>
              <a:rPr sz="1500" b="1" i="0">
                <a:solidFill>
                  <a:srgbClr val="FFC000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FD5B5E-AAEB-474D-85EC-875A1BAC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863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Park et al. · Generative Agents (2023)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8D863F-7AC9-4A3F-9A63-A07BD943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955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C000"/>
                </a:solidFill>
              </a:defRPr>
            </a:pPr>
            <a:r>
              <a:rPr sz="1500" b="1" i="0">
                <a:solidFill>
                  <a:srgbClr val="FFC000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DA77CE-C6C4-4758-BCD2-C35A9ABD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574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Lewis et al. · Retrieval-Augmented Generation (2020)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96D6BC-FE88-405E-B785-FB3F7277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718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C000"/>
                </a:solidFill>
              </a:defRPr>
            </a:pPr>
            <a:r>
              <a:rPr sz="1500" b="1" i="0">
                <a:solidFill>
                  <a:srgbClr val="FFC000"/>
                </a:solidFill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060244-43F4-4EE2-BB67-2215CFCF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337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UNESCO · Guidance for GenAI in Education and Research (2023)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1C6E19-1A08-4AD9-88EE-7BBF8B22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481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C000"/>
                </a:solidFill>
              </a:defRPr>
            </a:pPr>
            <a:r>
              <a:rPr sz="1500" b="1" i="0">
                <a:solidFill>
                  <a:srgbClr val="FFC000"/>
                </a:solidFill>
              </a:rPr>
              <a:t>07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E939A5-E6AD-4A32-B5AB-D5792FF9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10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NIST · AI Risk Management Framework 1.0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892E39-6066-4D86-871E-72A32CBA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244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C000"/>
                </a:solidFill>
              </a:defRPr>
            </a:pPr>
            <a:r>
              <a:rPr sz="1500" b="1" i="0">
                <a:solidFill>
                  <a:srgbClr val="FFC000"/>
                </a:solidFill>
              </a:rPr>
              <a:t>08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269B8E-5BEB-476A-B41C-4E07D95D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863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AFK Research · private MVP snapshot at 6c76a25</a:t>
            </a:r>
          </a:p>
        </p:txBody>
      </p:sp>
    </p:spTree>
    <p:extLst>
      <p:ext uri="{BB962C8B-B14F-4D97-AF65-F5344CB8AC3E}">
        <p14:creationId xmlns:p14="http://schemas.microsoft.com/office/powerpoint/2010/main" val="1526152857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EFB8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C7B3EA-7136-45F5-BF82-B793DEAB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28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8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B21B4-D664-47F4-9396-DF5973FC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524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4A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81A114-58B7-4408-912B-52A6881F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AA62B-007E-4DB6-8B63-5FFE0C7D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71600"/>
            <a:ext cx="666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014A74"/>
                </a:solidFill>
              </a:defRPr>
            </a:pPr>
            <a:r>
              <a:rPr sz="4650" b="1" i="0">
                <a:solidFill>
                  <a:srgbClr val="014A74"/>
                </a:solidFill>
              </a:rPr>
              <a:t>The lecturer remains the accountable expert.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908806-C78D-42FB-8E85-CE9F9A7B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4A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200A4F-CAC5-4B14-9214-AA66D267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628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14A74"/>
                </a:solidFill>
              </a:defRPr>
            </a:pPr>
            <a:r>
              <a:rPr sz="2100" b="1" i="0">
                <a:solidFill>
                  <a:srgbClr val="014A74"/>
                </a:solidFill>
              </a:rPr>
              <a:t>The agent carries context, prepares work, uses bounded tools, and makes the process visible.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799EE-27CC-428F-BC16-AD58D2A9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00250"/>
            <a:ext cx="2476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BUILD THE SYSTEM.</a:t>
            </a:r>
          </a:p>
          <a:p xmlns:a="http://schemas.openxmlformats.org/drawingml/2006/main">
            <a:pPr algn="ctr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KEEP THE JUDGMENT.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97F258-66A0-412A-907B-C2A9B5BE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54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D96096-5720-4643-8E74-1431288B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14A74"/>
                </a:solidFill>
              </a:defRPr>
            </a:pPr>
            <a:r>
              <a:rPr sz="975" b="1" i="0">
                <a:solidFill>
                  <a:srgbClr val="014A74"/>
                </a:solidFill>
              </a:rPr>
              <a:t>CREATED WITH AFK RESEARCH</a:t>
            </a:r>
          </a:p>
        </p:txBody>
      </p:sp>
    </p:spTree>
    <p:extLst>
      <p:ext uri="{BB962C8B-B14F-4D97-AF65-F5344CB8AC3E}">
        <p14:creationId xmlns:p14="http://schemas.microsoft.com/office/powerpoint/2010/main" val="1181990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2026-07-28T04:37:07.9040000Z</dcterms:created>
  <dcterms:modified xsi:type="dcterms:W3CDTF">2026-07-28T04:37:07.9040000Z</dcterms:modified>
</coreProperties>
</file>