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8e13a09765448b" /><Relationship Type="http://schemas.openxmlformats.org/officeDocument/2006/relationships/extended-properties" Target="/docProps/app.xml" Id="R07241da34a2e4110" /><Relationship Type="http://schemas.openxmlformats.org/officeDocument/2006/relationships/officeDocument" Target="/ppt/presentation.xml" Id="Rdefcab36c12745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263c7e6e8c43cd"/>
  </p:sldMasterIdLst>
  <p:notesMasterIdLst>
    <p:notesMasterId xmlns:r="http://schemas.openxmlformats.org/officeDocument/2006/relationships" r:id="Re22a2405f1614b0e"/>
  </p:notesMasterIdLst>
  <p:sldIdLst>
    <p:sldId xmlns:r="http://schemas.openxmlformats.org/officeDocument/2006/relationships" id="256" r:id="R11fdadd70c2c477e"/>
    <p:sldId xmlns:r="http://schemas.openxmlformats.org/officeDocument/2006/relationships" id="257" r:id="R29d6224bc2e34b21"/>
    <p:sldId xmlns:r="http://schemas.openxmlformats.org/officeDocument/2006/relationships" id="258" r:id="Rd439d590e60e49c5"/>
    <p:sldId xmlns:r="http://schemas.openxmlformats.org/officeDocument/2006/relationships" id="259" r:id="R2c2dcaf9f3944f12"/>
    <p:sldId xmlns:r="http://schemas.openxmlformats.org/officeDocument/2006/relationships" id="260" r:id="R7d9d842884e146be"/>
    <p:sldId xmlns:r="http://schemas.openxmlformats.org/officeDocument/2006/relationships" id="261" r:id="R11a9587269b24a80"/>
    <p:sldId xmlns:r="http://schemas.openxmlformats.org/officeDocument/2006/relationships" id="262" r:id="R9c22337a38ba43e7"/>
    <p:sldId xmlns:r="http://schemas.openxmlformats.org/officeDocument/2006/relationships" id="263" r:id="R8502a6d6f23c421a"/>
    <p:sldId xmlns:r="http://schemas.openxmlformats.org/officeDocument/2006/relationships" id="264" r:id="R133e705132194ee4"/>
    <p:sldId xmlns:r="http://schemas.openxmlformats.org/officeDocument/2006/relationships" id="265" r:id="R428f96d057664458"/>
    <p:sldId xmlns:r="http://schemas.openxmlformats.org/officeDocument/2006/relationships" id="266" r:id="Rd0d00484a96a4f3d"/>
    <p:sldId xmlns:r="http://schemas.openxmlformats.org/officeDocument/2006/relationships" id="267" r:id="Rd21080b875834717"/>
    <p:sldId xmlns:r="http://schemas.openxmlformats.org/officeDocument/2006/relationships" id="268" r:id="Rff10163e217d41f6"/>
    <p:sldId xmlns:r="http://schemas.openxmlformats.org/officeDocument/2006/relationships" id="269" r:id="R13be54f5e3d949bd"/>
    <p:sldId xmlns:r="http://schemas.openxmlformats.org/officeDocument/2006/relationships" id="270" r:id="Rc3ed8942d55e41f5"/>
    <p:sldId xmlns:r="http://schemas.openxmlformats.org/officeDocument/2006/relationships" id="271" r:id="Ra935ea3fe1f240b1"/>
    <p:sldId xmlns:r="http://schemas.openxmlformats.org/officeDocument/2006/relationships" id="272" r:id="R67b26ddf751d4fd3"/>
    <p:sldId xmlns:r="http://schemas.openxmlformats.org/officeDocument/2006/relationships" id="273" r:id="R1bee182b283946ff"/>
    <p:sldId xmlns:r="http://schemas.openxmlformats.org/officeDocument/2006/relationships" id="274" r:id="R167cdfebb8a64790"/>
    <p:sldId xmlns:r="http://schemas.openxmlformats.org/officeDocument/2006/relationships" id="275" r:id="R52719d83e4eb45eb"/>
    <p:sldId xmlns:r="http://schemas.openxmlformats.org/officeDocument/2006/relationships" id="276" r:id="R3c66c0dfcfcd4819"/>
    <p:sldId xmlns:r="http://schemas.openxmlformats.org/officeDocument/2006/relationships" id="277" r:id="R792ee888f2e447ea"/>
    <p:sldId xmlns:r="http://schemas.openxmlformats.org/officeDocument/2006/relationships" id="278" r:id="R504b27bca7654198"/>
    <p:sldId xmlns:r="http://schemas.openxmlformats.org/officeDocument/2006/relationships" id="279" r:id="R4505110096ec44fb"/>
    <p:sldId xmlns:r="http://schemas.openxmlformats.org/officeDocument/2006/relationships" id="280" r:id="R0971509a0ea64398"/>
    <p:sldId xmlns:r="http://schemas.openxmlformats.org/officeDocument/2006/relationships" id="281" r:id="R224c6a1039464d30"/>
    <p:sldId xmlns:r="http://schemas.openxmlformats.org/officeDocument/2006/relationships" id="282" r:id="R3489f30f939e47ad"/>
    <p:sldId xmlns:r="http://schemas.openxmlformats.org/officeDocument/2006/relationships" id="283" r:id="R073226427c3c42a7"/>
    <p:sldId xmlns:r="http://schemas.openxmlformats.org/officeDocument/2006/relationships" id="284" r:id="Rabf9106789904125"/>
    <p:sldId xmlns:r="http://schemas.openxmlformats.org/officeDocument/2006/relationships" id="285" r:id="R8fb56dfe2e9d462c"/>
    <p:sldId xmlns:r="http://schemas.openxmlformats.org/officeDocument/2006/relationships" id="286" r:id="R74121560092540b1"/>
    <p:sldId xmlns:r="http://schemas.openxmlformats.org/officeDocument/2006/relationships" id="287" r:id="R81b5042299304e2c"/>
    <p:sldId xmlns:r="http://schemas.openxmlformats.org/officeDocument/2006/relationships" id="288" r:id="Rae554087fa7c4a2e"/>
    <p:sldId xmlns:r="http://schemas.openxmlformats.org/officeDocument/2006/relationships" id="289" r:id="Rfb4e650d3bbf4d90"/>
    <p:sldId xmlns:r="http://schemas.openxmlformats.org/officeDocument/2006/relationships" id="290" r:id="Re085425c37784a2b"/>
    <p:sldId xmlns:r="http://schemas.openxmlformats.org/officeDocument/2006/relationships" id="291" r:id="R0f07af4dcb8f46c6"/>
    <p:sldId xmlns:r="http://schemas.openxmlformats.org/officeDocument/2006/relationships" id="292" r:id="R1f2e3e883f7b4760"/>
    <p:sldId xmlns:r="http://schemas.openxmlformats.org/officeDocument/2006/relationships" id="293" r:id="R113a0820fe3c42b5"/>
    <p:sldId xmlns:r="http://schemas.openxmlformats.org/officeDocument/2006/relationships" id="294" r:id="Rb7dbfba116ad4f3e"/>
    <p:sldId xmlns:r="http://schemas.openxmlformats.org/officeDocument/2006/relationships" id="295" r:id="Rd734b8f779f34290"/>
    <p:sldId xmlns:r="http://schemas.openxmlformats.org/officeDocument/2006/relationships" id="296" r:id="R5f5c231523204c41"/>
    <p:sldId xmlns:r="http://schemas.openxmlformats.org/officeDocument/2006/relationships" id="297" r:id="R1672271472de436d"/>
    <p:sldId xmlns:r="http://schemas.openxmlformats.org/officeDocument/2006/relationships" id="298" r:id="Raec807e251ff47e2"/>
    <p:sldId xmlns:r="http://schemas.openxmlformats.org/officeDocument/2006/relationships" id="299" r:id="R8999181cc0234c7a"/>
    <p:sldId xmlns:r="http://schemas.openxmlformats.org/officeDocument/2006/relationships" id="300" r:id="Rf42af416627e4133"/>
    <p:sldId xmlns:r="http://schemas.openxmlformats.org/officeDocument/2006/relationships" id="301" r:id="R99a4694531824de3"/>
    <p:sldId xmlns:r="http://schemas.openxmlformats.org/officeDocument/2006/relationships" id="302" r:id="R57aac563a3fe4fa1"/>
    <p:sldId xmlns:r="http://schemas.openxmlformats.org/officeDocument/2006/relationships" id="303" r:id="R555e67a552c24c28"/>
    <p:sldId xmlns:r="http://schemas.openxmlformats.org/officeDocument/2006/relationships" id="304" r:id="R545a6fcfc8da44af"/>
    <p:sldId xmlns:r="http://schemas.openxmlformats.org/officeDocument/2006/relationships" id="305" r:id="R3d31279d633d4717"/>
    <p:sldId xmlns:r="http://schemas.openxmlformats.org/officeDocument/2006/relationships" id="306" r:id="Recd85280da20477e"/>
    <p:sldId xmlns:r="http://schemas.openxmlformats.org/officeDocument/2006/relationships" id="307" r:id="R688f0a4b5b1c4ced"/>
    <p:sldId xmlns:r="http://schemas.openxmlformats.org/officeDocument/2006/relationships" id="308" r:id="R830e20209ec0467d"/>
    <p:sldId xmlns:r="http://schemas.openxmlformats.org/officeDocument/2006/relationships" id="309" r:id="Refd6daffdae842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5257ea854d4049" /><Relationship Type="http://schemas.openxmlformats.org/officeDocument/2006/relationships/slideMaster" Target="/ppt/slideMasters/slideMaster1.xml" Id="R23263c7e6e8c43cd" /><Relationship Type="http://schemas.openxmlformats.org/officeDocument/2006/relationships/notesMaster" Target="/ppt/notesMasters/notesMaster1.xml" Id="Re22a2405f1614b0e" /><Relationship Type="http://schemas.openxmlformats.org/officeDocument/2006/relationships/presProps" Target="/ppt/presProps.xml" Id="Rb5a11495b8d141eb" /><Relationship Type="http://schemas.openxmlformats.org/officeDocument/2006/relationships/tableStyles" Target="/ppt/tableStyles.xml" Id="R43aae43dd7524f52" /><Relationship Type="http://schemas.openxmlformats.org/officeDocument/2006/relationships/slide" Target="/ppt/slides/slide1.xml" Id="R11fdadd70c2c477e" /><Relationship Type="http://schemas.openxmlformats.org/officeDocument/2006/relationships/slide" Target="/ppt/slides/slide2.xml" Id="R29d6224bc2e34b21" /><Relationship Type="http://schemas.openxmlformats.org/officeDocument/2006/relationships/slide" Target="/ppt/slides/slide3.xml" Id="Rd439d590e60e49c5" /><Relationship Type="http://schemas.openxmlformats.org/officeDocument/2006/relationships/slide" Target="/ppt/slides/slide4.xml" Id="R2c2dcaf9f3944f12" /><Relationship Type="http://schemas.openxmlformats.org/officeDocument/2006/relationships/slide" Target="/ppt/slides/slide5.xml" Id="R7d9d842884e146be" /><Relationship Type="http://schemas.openxmlformats.org/officeDocument/2006/relationships/slide" Target="/ppt/slides/slide6.xml" Id="R11a9587269b24a80" /><Relationship Type="http://schemas.openxmlformats.org/officeDocument/2006/relationships/slide" Target="/ppt/slides/slide7.xml" Id="R9c22337a38ba43e7" /><Relationship Type="http://schemas.openxmlformats.org/officeDocument/2006/relationships/slide" Target="/ppt/slides/slide8.xml" Id="R8502a6d6f23c421a" /><Relationship Type="http://schemas.openxmlformats.org/officeDocument/2006/relationships/slide" Target="/ppt/slides/slide9.xml" Id="R133e705132194ee4" /><Relationship Type="http://schemas.openxmlformats.org/officeDocument/2006/relationships/slide" Target="/ppt/slides/slide10.xml" Id="R428f96d057664458" /><Relationship Type="http://schemas.openxmlformats.org/officeDocument/2006/relationships/slide" Target="/ppt/slides/slide11.xml" Id="Rd0d00484a96a4f3d" /><Relationship Type="http://schemas.openxmlformats.org/officeDocument/2006/relationships/slide" Target="/ppt/slides/slide12.xml" Id="Rd21080b875834717" /><Relationship Type="http://schemas.openxmlformats.org/officeDocument/2006/relationships/slide" Target="/ppt/slides/slide13.xml" Id="Rff10163e217d41f6" /><Relationship Type="http://schemas.openxmlformats.org/officeDocument/2006/relationships/slide" Target="/ppt/slides/slide14.xml" Id="R13be54f5e3d949bd" /><Relationship Type="http://schemas.openxmlformats.org/officeDocument/2006/relationships/slide" Target="/ppt/slides/slide15.xml" Id="Rc3ed8942d55e41f5" /><Relationship Type="http://schemas.openxmlformats.org/officeDocument/2006/relationships/slide" Target="/ppt/slides/slide16.xml" Id="Ra935ea3fe1f240b1" /><Relationship Type="http://schemas.openxmlformats.org/officeDocument/2006/relationships/slide" Target="/ppt/slides/slide17.xml" Id="R67b26ddf751d4fd3" /><Relationship Type="http://schemas.openxmlformats.org/officeDocument/2006/relationships/slide" Target="/ppt/slides/slide18.xml" Id="R1bee182b283946ff" /><Relationship Type="http://schemas.openxmlformats.org/officeDocument/2006/relationships/slide" Target="/ppt/slides/slide19.xml" Id="R167cdfebb8a64790" /><Relationship Type="http://schemas.openxmlformats.org/officeDocument/2006/relationships/slide" Target="/ppt/slides/slide20.xml" Id="R52719d83e4eb45eb" /><Relationship Type="http://schemas.openxmlformats.org/officeDocument/2006/relationships/slide" Target="/ppt/slides/slide21.xml" Id="R3c66c0dfcfcd4819" /><Relationship Type="http://schemas.openxmlformats.org/officeDocument/2006/relationships/slide" Target="/ppt/slides/slide22.xml" Id="R792ee888f2e447ea" /><Relationship Type="http://schemas.openxmlformats.org/officeDocument/2006/relationships/slide" Target="/ppt/slides/slide23.xml" Id="R504b27bca7654198" /><Relationship Type="http://schemas.openxmlformats.org/officeDocument/2006/relationships/slide" Target="/ppt/slides/slide24.xml" Id="R4505110096ec44fb" /><Relationship Type="http://schemas.openxmlformats.org/officeDocument/2006/relationships/slide" Target="/ppt/slides/slide25.xml" Id="R0971509a0ea64398" /><Relationship Type="http://schemas.openxmlformats.org/officeDocument/2006/relationships/slide" Target="/ppt/slides/slide26.xml" Id="R224c6a1039464d30" /><Relationship Type="http://schemas.openxmlformats.org/officeDocument/2006/relationships/slide" Target="/ppt/slides/slide27.xml" Id="R3489f30f939e47ad" /><Relationship Type="http://schemas.openxmlformats.org/officeDocument/2006/relationships/slide" Target="/ppt/slides/slide28.xml" Id="R073226427c3c42a7" /><Relationship Type="http://schemas.openxmlformats.org/officeDocument/2006/relationships/slide" Target="/ppt/slides/slide29.xml" Id="Rabf9106789904125" /><Relationship Type="http://schemas.openxmlformats.org/officeDocument/2006/relationships/slide" Target="/ppt/slides/slide30.xml" Id="R8fb56dfe2e9d462c" /><Relationship Type="http://schemas.openxmlformats.org/officeDocument/2006/relationships/slide" Target="/ppt/slides/slide31.xml" Id="R74121560092540b1" /><Relationship Type="http://schemas.openxmlformats.org/officeDocument/2006/relationships/slide" Target="/ppt/slides/slide32.xml" Id="R81b5042299304e2c" /><Relationship Type="http://schemas.openxmlformats.org/officeDocument/2006/relationships/slide" Target="/ppt/slides/slide33.xml" Id="Rae554087fa7c4a2e" /><Relationship Type="http://schemas.openxmlformats.org/officeDocument/2006/relationships/slide" Target="/ppt/slides/slide34.xml" Id="Rfb4e650d3bbf4d90" /><Relationship Type="http://schemas.openxmlformats.org/officeDocument/2006/relationships/slide" Target="/ppt/slides/slide35.xml" Id="Re085425c37784a2b" /><Relationship Type="http://schemas.openxmlformats.org/officeDocument/2006/relationships/slide" Target="/ppt/slides/slide36.xml" Id="R0f07af4dcb8f46c6" /><Relationship Type="http://schemas.openxmlformats.org/officeDocument/2006/relationships/slide" Target="/ppt/slides/slide37.xml" Id="R1f2e3e883f7b4760" /><Relationship Type="http://schemas.openxmlformats.org/officeDocument/2006/relationships/slide" Target="/ppt/slides/slide38.xml" Id="R113a0820fe3c42b5" /><Relationship Type="http://schemas.openxmlformats.org/officeDocument/2006/relationships/slide" Target="/ppt/slides/slide39.xml" Id="Rb7dbfba116ad4f3e" /><Relationship Type="http://schemas.openxmlformats.org/officeDocument/2006/relationships/slide" Target="/ppt/slides/slide40.xml" Id="Rd734b8f779f34290" /><Relationship Type="http://schemas.openxmlformats.org/officeDocument/2006/relationships/slide" Target="/ppt/slides/slide41.xml" Id="R5f5c231523204c41" /><Relationship Type="http://schemas.openxmlformats.org/officeDocument/2006/relationships/slide" Target="/ppt/slides/slide42.xml" Id="R1672271472de436d" /><Relationship Type="http://schemas.openxmlformats.org/officeDocument/2006/relationships/slide" Target="/ppt/slides/slide43.xml" Id="Raec807e251ff47e2" /><Relationship Type="http://schemas.openxmlformats.org/officeDocument/2006/relationships/slide" Target="/ppt/slides/slide44.xml" Id="R8999181cc0234c7a" /><Relationship Type="http://schemas.openxmlformats.org/officeDocument/2006/relationships/slide" Target="/ppt/slides/slide45.xml" Id="Rf42af416627e4133" /><Relationship Type="http://schemas.openxmlformats.org/officeDocument/2006/relationships/slide" Target="/ppt/slides/slide46.xml" Id="R99a4694531824de3" /><Relationship Type="http://schemas.openxmlformats.org/officeDocument/2006/relationships/slide" Target="/ppt/slides/slide47.xml" Id="R57aac563a3fe4fa1" /><Relationship Type="http://schemas.openxmlformats.org/officeDocument/2006/relationships/slide" Target="/ppt/slides/slide48.xml" Id="R555e67a552c24c28" /><Relationship Type="http://schemas.openxmlformats.org/officeDocument/2006/relationships/slide" Target="/ppt/slides/slide49.xml" Id="R545a6fcfc8da44af" /><Relationship Type="http://schemas.openxmlformats.org/officeDocument/2006/relationships/slide" Target="/ppt/slides/slide50.xml" Id="R3d31279d633d4717" /><Relationship Type="http://schemas.openxmlformats.org/officeDocument/2006/relationships/slide" Target="/ppt/slides/slide51.xml" Id="Recd85280da20477e" /><Relationship Type="http://schemas.openxmlformats.org/officeDocument/2006/relationships/slide" Target="/ppt/slides/slide52.xml" Id="R688f0a4b5b1c4ced" /><Relationship Type="http://schemas.openxmlformats.org/officeDocument/2006/relationships/slide" Target="/ppt/slides/slide53.xml" Id="R830e20209ec0467d" /><Relationship Type="http://schemas.openxmlformats.org/officeDocument/2006/relationships/slide" Target="/ppt/slides/slide54.xml" Id="Refd6daffdae842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42ac3206ef4e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07991d432446ed" /><Relationship Type="http://schemas.openxmlformats.org/officeDocument/2006/relationships/notesMaster" Target="/ppt/notesMasters/notesMaster1.xml" Id="Ra764d2fea38e41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b52a9b332f4317" /><Relationship Type="http://schemas.openxmlformats.org/officeDocument/2006/relationships/notesMaster" Target="/ppt/notesMasters/notesMaster1.xml" Id="R5fb87bc5ce1c48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8bdd6c39724aa2" /><Relationship Type="http://schemas.openxmlformats.org/officeDocument/2006/relationships/notesMaster" Target="/ppt/notesMasters/notesMaster1.xml" Id="Ra39948aaba3646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645fd37c894998" /><Relationship Type="http://schemas.openxmlformats.org/officeDocument/2006/relationships/notesMaster" Target="/ppt/notesMasters/notesMaster1.xml" Id="R0c052e25fbae48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276c9b28874b9d" /><Relationship Type="http://schemas.openxmlformats.org/officeDocument/2006/relationships/notesMaster" Target="/ppt/notesMasters/notesMaster1.xml" Id="R69069bbc5a1b40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59b47d074549ac" /><Relationship Type="http://schemas.openxmlformats.org/officeDocument/2006/relationships/notesMaster" Target="/ppt/notesMasters/notesMaster1.xml" Id="Reaf72eebf20143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c7fe3f8fae4d98" /><Relationship Type="http://schemas.openxmlformats.org/officeDocument/2006/relationships/notesMaster" Target="/ppt/notesMasters/notesMaster1.xml" Id="R5db35c43fe9043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3618fe032640db" /><Relationship Type="http://schemas.openxmlformats.org/officeDocument/2006/relationships/notesMaster" Target="/ppt/notesMasters/notesMaster1.xml" Id="Rf2b19fbf275f4e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7a2fc6fdb14c56" /><Relationship Type="http://schemas.openxmlformats.org/officeDocument/2006/relationships/notesMaster" Target="/ppt/notesMasters/notesMaster1.xml" Id="R9be8228c0eed49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58e347f6924dd9" /><Relationship Type="http://schemas.openxmlformats.org/officeDocument/2006/relationships/notesMaster" Target="/ppt/notesMasters/notesMaster1.xml" Id="R44ed2d2b0c0845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8931780b2c429d" /><Relationship Type="http://schemas.openxmlformats.org/officeDocument/2006/relationships/notesMaster" Target="/ppt/notesMasters/notesMaster1.xml" Id="Ra37b95b892b943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86eea9131c43be" /><Relationship Type="http://schemas.openxmlformats.org/officeDocument/2006/relationships/notesMaster" Target="/ppt/notesMasters/notesMaster1.xml" Id="R52a6fc9b0b7345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4e4cf0bf5e4047" /><Relationship Type="http://schemas.openxmlformats.org/officeDocument/2006/relationships/notesMaster" Target="/ppt/notesMasters/notesMaster1.xml" Id="R5329575f38b343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755b9022184975" /><Relationship Type="http://schemas.openxmlformats.org/officeDocument/2006/relationships/notesMaster" Target="/ppt/notesMasters/notesMaster1.xml" Id="R8571f180ae4346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3b73737765427f" /><Relationship Type="http://schemas.openxmlformats.org/officeDocument/2006/relationships/notesMaster" Target="/ppt/notesMasters/notesMaster1.xml" Id="R15e0fe473acf4f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08f2252a9f40e0" /><Relationship Type="http://schemas.openxmlformats.org/officeDocument/2006/relationships/notesMaster" Target="/ppt/notesMasters/notesMaster1.xml" Id="Rfb97089514fa4c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824b3bd21b0417c" /><Relationship Type="http://schemas.openxmlformats.org/officeDocument/2006/relationships/notesMaster" Target="/ppt/notesMasters/notesMaster1.xml" Id="Rea0e02f5493742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3f3568ae2545a6" /><Relationship Type="http://schemas.openxmlformats.org/officeDocument/2006/relationships/notesMaster" Target="/ppt/notesMasters/notesMaster1.xml" Id="R220029eaf28c424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dd52007a2bc4978" /><Relationship Type="http://schemas.openxmlformats.org/officeDocument/2006/relationships/notesMaster" Target="/ppt/notesMasters/notesMaster1.xml" Id="R649f3237ffd34a9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21fcc4cb2f4ace" /><Relationship Type="http://schemas.openxmlformats.org/officeDocument/2006/relationships/notesMaster" Target="/ppt/notesMasters/notesMaster1.xml" Id="R931931ad03054f6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2d1f56fefb94cf3" /><Relationship Type="http://schemas.openxmlformats.org/officeDocument/2006/relationships/notesMaster" Target="/ppt/notesMasters/notesMaster1.xml" Id="R78c85cca9e11423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7e00296465446ad" /><Relationship Type="http://schemas.openxmlformats.org/officeDocument/2006/relationships/notesMaster" Target="/ppt/notesMasters/notesMaster1.xml" Id="R84b7463590b2436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c59ea925e5e4eea" /><Relationship Type="http://schemas.openxmlformats.org/officeDocument/2006/relationships/notesMaster" Target="/ppt/notesMasters/notesMaster1.xml" Id="Rfea50573c7294b3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a0cbac838a7439b" /><Relationship Type="http://schemas.openxmlformats.org/officeDocument/2006/relationships/notesMaster" Target="/ppt/notesMasters/notesMaster1.xml" Id="R8d5161a147484f4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340e4e259d647ef" /><Relationship Type="http://schemas.openxmlformats.org/officeDocument/2006/relationships/notesMaster" Target="/ppt/notesMasters/notesMaster1.xml" Id="Rad9b9f25a032413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ea20e23749f4ced" /><Relationship Type="http://schemas.openxmlformats.org/officeDocument/2006/relationships/notesMaster" Target="/ppt/notesMasters/notesMaster1.xml" Id="R9dd15ca7be744f3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a56443677324a7f" /><Relationship Type="http://schemas.openxmlformats.org/officeDocument/2006/relationships/notesMaster" Target="/ppt/notesMasters/notesMaster1.xml" Id="R40021df188e24fa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5d08496e7044ddf" /><Relationship Type="http://schemas.openxmlformats.org/officeDocument/2006/relationships/notesMaster" Target="/ppt/notesMasters/notesMaster1.xml" Id="R009c7e4d7e8c432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bc1401b8f604df8" /><Relationship Type="http://schemas.openxmlformats.org/officeDocument/2006/relationships/notesMaster" Target="/ppt/notesMasters/notesMaster1.xml" Id="R55a827a89bb9447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ffae570892a4e50" /><Relationship Type="http://schemas.openxmlformats.org/officeDocument/2006/relationships/notesMaster" Target="/ppt/notesMasters/notesMaster1.xml" Id="R76fa5673c3634c6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502742791784671" /><Relationship Type="http://schemas.openxmlformats.org/officeDocument/2006/relationships/notesMaster" Target="/ppt/notesMasters/notesMaster1.xml" Id="R6ec313402e824a9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82fc4f232614c7e" /><Relationship Type="http://schemas.openxmlformats.org/officeDocument/2006/relationships/notesMaster" Target="/ppt/notesMasters/notesMaster1.xml" Id="R13c6653fa41e4e4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4803387adde4f17" /><Relationship Type="http://schemas.openxmlformats.org/officeDocument/2006/relationships/notesMaster" Target="/ppt/notesMasters/notesMaster1.xml" Id="R9cbdac707f7d440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1915ee7215740e1" /><Relationship Type="http://schemas.openxmlformats.org/officeDocument/2006/relationships/notesMaster" Target="/ppt/notesMasters/notesMaster1.xml" Id="Rfa8cf3053ae24b7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46ab34fbd394338" /><Relationship Type="http://schemas.openxmlformats.org/officeDocument/2006/relationships/notesMaster" Target="/ppt/notesMasters/notesMaster1.xml" Id="Rcc8cf05700ed4c4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b9ebd99d8b04168" /><Relationship Type="http://schemas.openxmlformats.org/officeDocument/2006/relationships/notesMaster" Target="/ppt/notesMasters/notesMaster1.xml" Id="R50ac6206d6cc4e7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352a9b58f65473f" /><Relationship Type="http://schemas.openxmlformats.org/officeDocument/2006/relationships/notesMaster" Target="/ppt/notesMasters/notesMaster1.xml" Id="Ra017736b5d50463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0e6df1958734dc0" /><Relationship Type="http://schemas.openxmlformats.org/officeDocument/2006/relationships/notesMaster" Target="/ppt/notesMasters/notesMaster1.xml" Id="R462d92f3ca974c7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0cedba3a3884f71" /><Relationship Type="http://schemas.openxmlformats.org/officeDocument/2006/relationships/notesMaster" Target="/ppt/notesMasters/notesMaster1.xml" Id="R899be9a15b9e433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824912ea6874969" /><Relationship Type="http://schemas.openxmlformats.org/officeDocument/2006/relationships/notesMaster" Target="/ppt/notesMasters/notesMaster1.xml" Id="R04f2deb6a06a480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8179d01d0a74349" /><Relationship Type="http://schemas.openxmlformats.org/officeDocument/2006/relationships/notesMaster" Target="/ppt/notesMasters/notesMaster1.xml" Id="Rf4a0e253d73a462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7f68d9fc2774c33" /><Relationship Type="http://schemas.openxmlformats.org/officeDocument/2006/relationships/notesMaster" Target="/ppt/notesMasters/notesMaster1.xml" Id="R7d740dbb59654b7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a3bea42306548f3" /><Relationship Type="http://schemas.openxmlformats.org/officeDocument/2006/relationships/notesMaster" Target="/ppt/notesMasters/notesMaster1.xml" Id="R8c4fcfa6e2e8492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74c07480db74b1c" /><Relationship Type="http://schemas.openxmlformats.org/officeDocument/2006/relationships/notesMaster" Target="/ppt/notesMasters/notesMaster1.xml" Id="Rb9fdab4c078a4df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e3a483567eb4665" /><Relationship Type="http://schemas.openxmlformats.org/officeDocument/2006/relationships/notesMaster" Target="/ppt/notesMasters/notesMaster1.xml" Id="Rb6c9cb4b490f4d1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15692fa80b246b4" /><Relationship Type="http://schemas.openxmlformats.org/officeDocument/2006/relationships/notesMaster" Target="/ppt/notesMasters/notesMaster1.xml" Id="R5f75a17e65124f1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e46847a3ad341dc" /><Relationship Type="http://schemas.openxmlformats.org/officeDocument/2006/relationships/notesMaster" Target="/ppt/notesMasters/notesMaster1.xml" Id="R67ecde3ec1a84d5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3f5b1450c8340d4" /><Relationship Type="http://schemas.openxmlformats.org/officeDocument/2006/relationships/notesMaster" Target="/ppt/notesMasters/notesMaster1.xml" Id="Ra4604d752a824ff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60dfa54537448bb" /><Relationship Type="http://schemas.openxmlformats.org/officeDocument/2006/relationships/notesMaster" Target="/ppt/notesMasters/notesMaster1.xml" Id="Ra196337240414ef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7e489cbe3724749" /><Relationship Type="http://schemas.openxmlformats.org/officeDocument/2006/relationships/notesMaster" Target="/ppt/notesMasters/notesMaster1.xml" Id="R7ae2e75c5d9d4c1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681498493514cb2" /><Relationship Type="http://schemas.openxmlformats.org/officeDocument/2006/relationships/notesMaster" Target="/ppt/notesMasters/notesMaster1.xml" Id="R56e42c327216411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d2da459fd2746ca" /><Relationship Type="http://schemas.openxmlformats.org/officeDocument/2006/relationships/notesMaster" Target="/ppt/notesMasters/notesMaster1.xml" Id="R9e19c07663b8423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09c5beb134247c5" /><Relationship Type="http://schemas.openxmlformats.org/officeDocument/2006/relationships/notesMaster" Target="/ppt/notesMasters/notesMaster1.xml" Id="R139876dee6d8462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56801761e27426f" /><Relationship Type="http://schemas.openxmlformats.org/officeDocument/2006/relationships/notesMaster" Target="/ppt/notesMasters/notesMaster1.xml" Id="Rf3378ff4a63740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positioning the lecture as a bridge from foundations to implementation. The central claim is that useful academic agents are governed systems, not merely smarter chat interfaces.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https://peraturan.bpk.go.id/Details/%2039063/uu-no-12-tahun-2012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expectations: this is not a product pitch. It is a conceptual and practical lecture that ends with a concrete implementation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lecture synthesis;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legal and institutional frame only to establish the three obligations. The rest of the lecture asks how one academic workspace can support them without collapsing their distinct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https://peraturan.bpk.go.id/Details/%2039063/uu-no-12-tahun-2012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Files, sources, deadlines, design choices, feedback, and publication decisions are distributed across tools—and across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agentic workspace gives work a durable home, bounded tools, repeatable workflows, and a visible review trail.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  <a:p xmlns:a="http://schemas.openxmlformats.org/drawingml/2006/main">
            <a:r>
              <a:t>- https://airc.nist.gov/airmf-resources/airmf/5-sec-core/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divider to reset the room. What changes when a language model becomes part of a working system?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lecture synthesis;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distinctions functional. An LLM is a model. An agent is a system built around a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lecture synthesis;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fluent generation and factual grounding are separate design problems. This is why external tools and evidence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https://arxiv.org/abs/2302.04761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stronger prompt improves a single interaction. Persistent project memory and workflows improve continuity across interactions.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lecture synthesis;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https://arxiv.org/abs/2210.03629</a:t>
            </a:r>
          </a:p>
          <a:p xmlns:a="http://schemas.openxmlformats.org/drawingml/2006/main">
            <a:r>
              <a:t>- https://arxiv.org/abs/2302.04761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loop is the central mental model for the lecture. Agent quality depends on every part of the loop, not only on the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https://arxiv.org/abs/2210.03629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 rises as tools move from reading to creating to changing external state. Permissions and approval gates must rise with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https://arxiv.org/abs/2302.04761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https://arxiv.org/abs/2304.03442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divider to reset the room. Planning, acting, remembering, reflecting, and governing the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lecture synthesis;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ReAct paper shows the value of interleaving reasoning traces and actions. In deployed systems, internal reasoning need not be exposed; the important operational pattern is plan–act–observe–revise.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https://arxiv.org/abs/2210.03629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https://arxiv.org/abs/2210.03629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https://arxiv.org/abs/2302.04761</a:t>
            </a:r>
          </a:p>
          <a:p xmlns:a="http://schemas.openxmlformats.org/drawingml/2006/main">
            <a:r>
              <a:t>- https://airc.nist.gov/airmf-resources/airmf/5-sec-core/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right; emphasize that the loop repeats after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https://arxiv.org/abs/2304.03442</a:t>
            </a:r>
          </a:p>
          <a:p xmlns:a="http://schemas.openxmlformats.org/drawingml/2006/main">
            <a:r>
              <a:t>- https://arxiv.org/abs/2005.11401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improves access to explicit knowledge and provenance. It does not make every retrieved source correct, relevant, or current; retrieval quality remains part of the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https://arxiv.org/abs/2005.11401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https://arxiv.org/abs/2304.03442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More agents do not automatically mean better results. Start with the smallest orchestration that makes the workflow observable and testable.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https://arxiv.org/abs/2210.03629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right; emphasize that the loop repeats after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https://arxiv.org/abs/2302.04761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division of labor is explicit: preparation may be delegated; accountability is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- https://airc.nist.gov/airmf-resources/airmf/5-sec-core/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model benchmark is not an evaluation of an academic workflow. Test the artifact, the process, and the governance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https://www.oecd.org/en/publications/policies-supporting-responsible-and-systematic-genai-adoption-in-higher-education_c4e5621f-en.html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divider to reset the room. Map one agentic workspace to the distinct responsibilities of Tri Dharma.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workflow hypothesis, not a proven one-click MVP capability. The important word is reviewed: reuse should preserve provenance and responsibility.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  <a:p xmlns:a="http://schemas.openxmlformats.org/drawingml/2006/main">
            <a:r>
              <a:t>- [private-local-root]/dcse-summer-ppt/.brain/wiki/syntheses/afk-research-presentation-to-mvp-gap.md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- https://www.oecd.org/en/publications/policies-supporting-responsible-and-systematic-genai-adoption-in-higher-education_c4e5621f-en.html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  <a:p xmlns:a="http://schemas.openxmlformats.org/drawingml/2006/main">
            <a:r>
              <a:t>- [private-local-root]/dcse-summer-ppt/.brain/wiki/syntheses/afk-research-presentation-to-mvp-gap.md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divider to reset the room. Build the workspace carefully—and separate the MVP from the 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[private-local-root]/dcse-summer-ppt/.brain/wiki/syntheses/afk-research-presentation-to-mvp-gap.md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Anchor this slide to snapshot commit 6c76a25. The deck distinguishes repository evidence from the broader product narrative.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[private-local-root]/dcse-summer-ppt/.brain/wiki/syntheses/afk-research-presentation-to-mvp-gap.md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concrete illustration of converting a research or teaching concept into a visual explanation. This is presented as a product example from the AFK Research vision deck, not as separate proof of a currently shipped first-class CLI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[private-local-root]/.codex/worktrees/9424/afk-research/.outputs/gradient-descent-video/.outputs/manim/gradient-descent-explained/20260713T145442172Z/final.mp4</a:t>
            </a:r>
          </a:p>
          <a:p xmlns:a="http://schemas.openxmlformats.org/drawingml/2006/main">
            <a:r>
              <a:t>- [private-local-root]/Downloads/29 July.pptx (slide 9)</a:t>
            </a:r>
          </a:p>
          <a:p xmlns:a="http://schemas.openxmlformats.org/drawingml/2006/main">
            <a:r>
              <a:t>- [private-local-root]/dcse-summer-ppt/.brain/wiki/sources/29-july-presentation.md</a:t>
            </a:r>
          </a:p>
          <a:p xmlns:a="http://schemas.openxmlformats.org/drawingml/2006/main">
            <a:r>
              <a:t>- [private-local-root]/dcse-summer-ppt/.brain/wiki/syntheses/afk-research-presentation-to-mvp-gap.md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richer evidence for formative learning, not automatic grading. This is presented as a product example from the AFK Research vision deck, not as separate proof of a currently shipped first-class CLI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[private-local-root]/Downloads/29 July.pptx (slide 10)</a:t>
            </a:r>
          </a:p>
          <a:p xmlns:a="http://schemas.openxmlformats.org/drawingml/2006/main">
            <a:r>
              <a:t>- [private-local-root]/dcse-summer-ppt/.brain/wiki/sources/29-july-presentation.md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website example to the private-source and reviewed-export boundary introduced earlier. This is presented as a product example from the AFK Research vision deck, not as separate proof of a currently shipped first-class CLI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[private-local-root]/Downloads/29 July.pptx (slide 11)</a:t>
            </a:r>
          </a:p>
          <a:p xmlns:a="http://schemas.openxmlformats.org/drawingml/2006/main">
            <a:r>
              <a:t>- [private-local-root]/dcse-summer-ppt/.brain/wiki/sources/29-july-presentation.md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coherence and reuse: the Design System guides the family while each artifact remains editable. This is presented as a product example from the AFK Research vision deck, not as separate proof of a currently shipped first-class CLI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[private-local-root]/Downloads/29 July.pptx (slide 12)</a:t>
            </a:r>
          </a:p>
          <a:p xmlns:a="http://schemas.openxmlformats.org/drawingml/2006/main">
            <a:r>
              <a:t>- [private-local-root]/dcse-summer-ppt/.brain/wiki/sources/29-july-presentation.md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right; emphasize that the loop repeats after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[private-local-root]/dcse-summer-ppt/.brain/raw/2026-07-27_afk-research-mvp/README.md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[private-local-root]/dcse-summer-ppt/.brain/raw/2026-07-27_afk-research-mvp/README.md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command as a safety workflow, not as a magic incantation. Preview, verify, choose features, then apply.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[private-local-root]/dcse-summer-ppt/.brain/raw/2026-07-27_afk-research-mvp/README.md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[private-local-root]/dcse-summer-ppt/.brain/raw/2026-07-27_afk-research-mvp/README.md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right; emphasize that the loop repeats after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[private-local-root]/dcse-summer-ppt/.brain/wiki/concepts/agentic-academic-workspace.md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right; emphasize that the loop repeats after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- https://www.oecd.org/en/publications/policies-supporting-responsible-and-systematic-genai-adoption-in-higher-education_c4e5621f-en.html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right; emphasize that the loop repeats after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  <a:p xmlns:a="http://schemas.openxmlformats.org/drawingml/2006/main">
            <a:r>
              <a:t>- [private-local-root]/dcse-summer-ppt/.brain/wiki/concepts/tri-dharma-workspace-architecture.md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3 parts as one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[private-local-root]/dcse-summer-ppt/.brain/raw/2026-07-27_afk-research-mvp/README.md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strongest concrete example of human ownership in the MVP: the setup does not silently overwrite project-authored edits.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[private-local-root]/dcse-summer-ppt/.brain/wiki/concepts/managed-file-reconciliation.md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adoption principle is deliberately conservative: prove a bounded workflow before increasing autonomy or connecting external write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participants to use the speaker-note source blocks throughout the deck for precise links. The AFK Research evidence is private and must not be published without explicit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https://peraturan.bpk.go.id/Details/%2039063/uu-no-12-tahun-2012</a:t>
            </a:r>
          </a:p>
          <a:p xmlns:a="http://schemas.openxmlformats.org/drawingml/2006/main">
            <a:r>
              <a:t>- https://arxiv.org/abs/2210.03629</a:t>
            </a:r>
          </a:p>
          <a:p xmlns:a="http://schemas.openxmlformats.org/drawingml/2006/main">
            <a:r>
              <a:t>- https://arxiv.org/abs/2302.04761</a:t>
            </a:r>
          </a:p>
          <a:p xmlns:a="http://schemas.openxmlformats.org/drawingml/2006/main">
            <a:r>
              <a:t>- https://arxiv.org/abs/2304.03442</a:t>
            </a:r>
          </a:p>
          <a:p xmlns:a="http://schemas.openxmlformats.org/drawingml/2006/main">
            <a:r>
              <a:t>- https://arxiv.org/abs/2005.11401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- https://airc.nist.gov/airmf-resources/airmf/5-sec-core/</a:t>
            </a:r>
          </a:p>
          <a:p xmlns:a="http://schemas.openxmlformats.org/drawingml/2006/main">
            <a:r>
              <a:t>- https://www.oecd.org/en/publications/policies-supporting-responsible-and-systematic-genai-adoption-in-higher-education_c4e5621f-en.html</a:t>
            </a:r>
          </a:p>
          <a:p xmlns:a="http://schemas.openxmlformats.org/drawingml/2006/main">
            <a:r>
              <a:t>- [private-local-root]/dcse-summer-ppt/.brain/wiki/sources/afk-research-mvp-repository.md</a:t>
            </a:r>
          </a:p>
          <a:p xmlns:a="http://schemas.openxmlformats.org/drawingml/2006/main">
            <a:r>
              <a:t>- [private-local-root]/dcse-summer-ppt/.brain/wiki/syntheses/afk-research-presentation-to-mvp-gap.md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tension. The goal is not autonomous academia. The goal is continuity, leverage, and visible evidence while the lecturer retains accountable judgment.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[private-local-root]/dcse-summer-ppt/.brain/wiki/concepts/human-in-the-loop-academic-agent.md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- https://airc.nist.gov/airmf-resources/airmf/5-sec-core/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2bf21a6be4f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24c962911f42cd" /><Relationship Type="http://schemas.openxmlformats.org/officeDocument/2006/relationships/slideLayout" Target="/ppt/slideLayouts/slideLayout1.xml" Id="R10c0f24a97954f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c0f24a97954f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2c00e247c4eff" /><Relationship Type="http://schemas.openxmlformats.org/officeDocument/2006/relationships/notesSlide" Target="/ppt/notesSlides/notesSlide1.xml" Id="R11387a62b2e54d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226e9d1474216" /><Relationship Type="http://schemas.openxmlformats.org/officeDocument/2006/relationships/notesSlide" Target="/ppt/notesSlides/notesSlide2.xml" Id="R8e5073fd2d554c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d3df7b6604f39" /><Relationship Type="http://schemas.openxmlformats.org/officeDocument/2006/relationships/notesSlide" Target="/ppt/notesSlides/notesSlide3.xml" Id="R0771a2def3a047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a9f82af374fff" /><Relationship Type="http://schemas.openxmlformats.org/officeDocument/2006/relationships/notesSlide" Target="/ppt/notesSlides/notesSlide4.xml" Id="R1f5f55338ab342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207695da941bd" /><Relationship Type="http://schemas.openxmlformats.org/officeDocument/2006/relationships/notesSlide" Target="/ppt/notesSlides/notesSlide5.xml" Id="R69cc93c2ce7644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a98dba7dd461e" /><Relationship Type="http://schemas.openxmlformats.org/officeDocument/2006/relationships/notesSlide" Target="/ppt/notesSlides/notesSlide6.xml" Id="R51a1b046ddca4c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8d988f5644119" /><Relationship Type="http://schemas.openxmlformats.org/officeDocument/2006/relationships/notesSlide" Target="/ppt/notesSlides/notesSlide7.xml" Id="R1d5ab63cb2384d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f5481d41a4da4" /><Relationship Type="http://schemas.openxmlformats.org/officeDocument/2006/relationships/notesSlide" Target="/ppt/notesSlides/notesSlide8.xml" Id="R2cf0c65b2da044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faf8149104d62" /><Relationship Type="http://schemas.openxmlformats.org/officeDocument/2006/relationships/notesSlide" Target="/ppt/notesSlides/notesSlide9.xml" Id="Rc7b89c904bba41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d12170a2e4439" /><Relationship Type="http://schemas.openxmlformats.org/officeDocument/2006/relationships/notesSlide" Target="/ppt/notesSlides/notesSlide10.xml" Id="Rfe7875563a554a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246ff2b544086" /><Relationship Type="http://schemas.openxmlformats.org/officeDocument/2006/relationships/notesSlide" Target="/ppt/notesSlides/notesSlide11.xml" Id="Rbc75d21f9c554b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cbc656c2b4e7d" /><Relationship Type="http://schemas.openxmlformats.org/officeDocument/2006/relationships/notesSlide" Target="/ppt/notesSlides/notesSlide12.xml" Id="R7458214e9c1a4b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b789cdf594d8a" /><Relationship Type="http://schemas.openxmlformats.org/officeDocument/2006/relationships/notesSlide" Target="/ppt/notesSlides/notesSlide13.xml" Id="R2bdc189f674e4d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582fa7c3f489d" /><Relationship Type="http://schemas.openxmlformats.org/officeDocument/2006/relationships/notesSlide" Target="/ppt/notesSlides/notesSlide14.xml" Id="R48e984d75c4940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7a93834804541" /><Relationship Type="http://schemas.openxmlformats.org/officeDocument/2006/relationships/notesSlide" Target="/ppt/notesSlides/notesSlide15.xml" Id="R7a034ed3108448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79bf81d724fe5" /><Relationship Type="http://schemas.openxmlformats.org/officeDocument/2006/relationships/notesSlide" Target="/ppt/notesSlides/notesSlide16.xml" Id="Ra84abcc7901243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eb972c0694386" /><Relationship Type="http://schemas.openxmlformats.org/officeDocument/2006/relationships/notesSlide" Target="/ppt/notesSlides/notesSlide17.xml" Id="R9bf5b6420823437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82614b11e4f0c" /><Relationship Type="http://schemas.openxmlformats.org/officeDocument/2006/relationships/notesSlide" Target="/ppt/notesSlides/notesSlide18.xml" Id="R48930221702b4ee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29a70a77a4453" /><Relationship Type="http://schemas.openxmlformats.org/officeDocument/2006/relationships/notesSlide" Target="/ppt/notesSlides/notesSlide19.xml" Id="R1c1f503eaf6f4d2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a78f074a54113" /><Relationship Type="http://schemas.openxmlformats.org/officeDocument/2006/relationships/notesSlide" Target="/ppt/notesSlides/notesSlide20.xml" Id="R5e296b713c33400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193c850394cde" /><Relationship Type="http://schemas.openxmlformats.org/officeDocument/2006/relationships/notesSlide" Target="/ppt/notesSlides/notesSlide21.xml" Id="Rad80224b293742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f63af30884d1f" /><Relationship Type="http://schemas.openxmlformats.org/officeDocument/2006/relationships/notesSlide" Target="/ppt/notesSlides/notesSlide22.xml" Id="Re91d6f6680b34c8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9b165de0f4e4c" /><Relationship Type="http://schemas.openxmlformats.org/officeDocument/2006/relationships/notesSlide" Target="/ppt/notesSlides/notesSlide23.xml" Id="R18103e59332c4cb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775efc6704fe6" /><Relationship Type="http://schemas.openxmlformats.org/officeDocument/2006/relationships/notesSlide" Target="/ppt/notesSlides/notesSlide24.xml" Id="R36d861b340b349d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96a80edca421b" /><Relationship Type="http://schemas.openxmlformats.org/officeDocument/2006/relationships/notesSlide" Target="/ppt/notesSlides/notesSlide25.xml" Id="Rebef0d2df54f4ed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6abd21b1a4992" /><Relationship Type="http://schemas.openxmlformats.org/officeDocument/2006/relationships/notesSlide" Target="/ppt/notesSlides/notesSlide26.xml" Id="R622959819a944b2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6c34ceb9f4000" /><Relationship Type="http://schemas.openxmlformats.org/officeDocument/2006/relationships/notesSlide" Target="/ppt/notesSlides/notesSlide27.xml" Id="Rdc2aacf175b14a3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1440db55045f1" /><Relationship Type="http://schemas.openxmlformats.org/officeDocument/2006/relationships/notesSlide" Target="/ppt/notesSlides/notesSlide28.xml" Id="Rcfd3b9c31387482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fb3b7b63e4de2" /><Relationship Type="http://schemas.openxmlformats.org/officeDocument/2006/relationships/notesSlide" Target="/ppt/notesSlides/notesSlide29.xml" Id="Rff33421c19234cf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f6fac0c294319" /><Relationship Type="http://schemas.openxmlformats.org/officeDocument/2006/relationships/notesSlide" Target="/ppt/notesSlides/notesSlide30.xml" Id="Ra52b4760a4dd463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06363febe4b23" /><Relationship Type="http://schemas.openxmlformats.org/officeDocument/2006/relationships/notesSlide" Target="/ppt/notesSlides/notesSlide31.xml" Id="R5e5eb5c4373a46d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6edb1e8034adc" /><Relationship Type="http://schemas.openxmlformats.org/officeDocument/2006/relationships/notesSlide" Target="/ppt/notesSlides/notesSlide32.xml" Id="Rd1b38761bc23448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74e490fde4c4b" /><Relationship Type="http://schemas.openxmlformats.org/officeDocument/2006/relationships/notesSlide" Target="/ppt/notesSlides/notesSlide33.xml" Id="R24e513a894ab465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e224bbdf44304" /><Relationship Type="http://schemas.openxmlformats.org/officeDocument/2006/relationships/notesSlide" Target="/ppt/notesSlides/notesSlide34.xml" Id="R14e2b1a1cb7c4cb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72cdbb7d247f5" /><Relationship Type="http://schemas.openxmlformats.org/officeDocument/2006/relationships/notesSlide" Target="/ppt/notesSlides/notesSlide35.xml" Id="Rdda78969cc9f4bf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c779e16ac494b" /><Relationship Type="http://schemas.openxmlformats.org/officeDocument/2006/relationships/notesSlide" Target="/ppt/notesSlides/notesSlide36.xml" Id="Rc5883db2a1c941d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5c99866054c02" /><Relationship Type="http://schemas.openxmlformats.org/officeDocument/2006/relationships/notesSlide" Target="/ppt/notesSlides/notesSlide37.xml" Id="R93db6f876d504d4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1329842334771" /><Relationship Type="http://schemas.openxmlformats.org/officeDocument/2006/relationships/notesSlide" Target="/ppt/notesSlides/notesSlide38.xml" Id="Rcdace40bebd741f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b67df7e294af2" /><Relationship Type="http://schemas.openxmlformats.org/officeDocument/2006/relationships/image" Target="/ppt/media/image.png" Id="Rcaa120c9ec204c17" /><Relationship Type="http://schemas.openxmlformats.org/officeDocument/2006/relationships/notesSlide" Target="/ppt/notesSlides/notesSlide39.xml" Id="R60db749565ec465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91c4b3b7d4f99" /><Relationship Type="http://schemas.openxmlformats.org/officeDocument/2006/relationships/image" Target="/ppt/media/image2.png" Id="Re7272bfefa35416f" /><Relationship Type="http://schemas.openxmlformats.org/officeDocument/2006/relationships/notesSlide" Target="/ppt/notesSlides/notesSlide40.xml" Id="Rbc0cb072ea6d4e7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3d92460994039" /><Relationship Type="http://schemas.openxmlformats.org/officeDocument/2006/relationships/image" Target="/ppt/media/image3.png" Id="R42dc717d8a1a4749" /><Relationship Type="http://schemas.openxmlformats.org/officeDocument/2006/relationships/notesSlide" Target="/ppt/notesSlides/notesSlide41.xml" Id="R5b199f84894b47a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18cd9921747ff" /><Relationship Type="http://schemas.openxmlformats.org/officeDocument/2006/relationships/image" Target="/ppt/media/image4.png" Id="R7e9fbc9a643e415b" /><Relationship Type="http://schemas.openxmlformats.org/officeDocument/2006/relationships/notesSlide" Target="/ppt/notesSlides/notesSlide42.xml" Id="R488ced212c3842c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cc60a5ad84332" /><Relationship Type="http://schemas.openxmlformats.org/officeDocument/2006/relationships/notesSlide" Target="/ppt/notesSlides/notesSlide43.xml" Id="Re1b3454c491442b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c81d7290b48e8" /><Relationship Type="http://schemas.openxmlformats.org/officeDocument/2006/relationships/notesSlide" Target="/ppt/notesSlides/notesSlide44.xml" Id="R8e1ea554686b4bb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e99cd570f40f0" /><Relationship Type="http://schemas.openxmlformats.org/officeDocument/2006/relationships/notesSlide" Target="/ppt/notesSlides/notesSlide45.xml" Id="Rb990806151fd460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e788a679e45d7" /><Relationship Type="http://schemas.openxmlformats.org/officeDocument/2006/relationships/notesSlide" Target="/ppt/notesSlides/notesSlide46.xml" Id="R876a6d23f63148b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e2cb65c814f52" /><Relationship Type="http://schemas.openxmlformats.org/officeDocument/2006/relationships/notesSlide" Target="/ppt/notesSlides/notesSlide47.xml" Id="R29f3a57048ce49f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dde9631a649d0" /><Relationship Type="http://schemas.openxmlformats.org/officeDocument/2006/relationships/notesSlide" Target="/ppt/notesSlides/notesSlide48.xml" Id="R8aebe8e29733494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191e49e414644" /><Relationship Type="http://schemas.openxmlformats.org/officeDocument/2006/relationships/notesSlide" Target="/ppt/notesSlides/notesSlide49.xml" Id="R09fa3671d4a04fff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b0930c06a497b" /><Relationship Type="http://schemas.openxmlformats.org/officeDocument/2006/relationships/notesSlide" Target="/ppt/notesSlides/notesSlide50.xml" Id="Rfd58c9cc8c804a1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4c422fee94560" /><Relationship Type="http://schemas.openxmlformats.org/officeDocument/2006/relationships/notesSlide" Target="/ppt/notesSlides/notesSlide51.xml" Id="Rf26e4fb91509442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c9d30ef3145f7" /><Relationship Type="http://schemas.openxmlformats.org/officeDocument/2006/relationships/notesSlide" Target="/ppt/notesSlides/notesSlide52.xml" Id="R398918c762a6409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e8f8397274de1" /><Relationship Type="http://schemas.openxmlformats.org/officeDocument/2006/relationships/notesSlide" Target="/ppt/notesSlides/notesSlide53.xml" Id="Re208bf5651e44e57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601bc5bcf48d4" /><Relationship Type="http://schemas.openxmlformats.org/officeDocument/2006/relationships/notesSlide" Target="/ppt/notesSlides/notesSlide54.xml" Id="Rf213452176c946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ADF66-6C01-4441-931C-9133274B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03A96-9CF8-4C3E-805A-B2CF77F1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00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F4F9C-D2F0-4809-A9E5-1674D0E3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B0FCF-0AC9-4612-9A8E-D2565E05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19200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5175" b="1" i="0">
                <a:solidFill>
                  <a:srgbClr val="FFFFFF"/>
                </a:solidFill>
              </a:defRPr>
            </a:pPr>
            <a:r>
              <a:rPr sz="5175" b="1" i="0">
                <a:solidFill>
                  <a:srgbClr val="FFFFFF"/>
                </a:solidFill>
              </a:rPr>
              <a:t>EMPOWERING THE TRI DHARMA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CBA8E-7FC8-4B43-A1CB-F6ED6F68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33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78805-3C9D-4FFC-8059-CCB7179F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14750"/>
            <a:ext cx="695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C000"/>
                </a:solidFill>
              </a:defRPr>
            </a:pPr>
            <a:r>
              <a:rPr sz="2100" b="1" i="0">
                <a:solidFill>
                  <a:srgbClr val="FFC000"/>
                </a:solidFill>
              </a:rPr>
              <a:t>AI agents—from foundations and theory to a governed academic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282EA-1851-474E-A843-9D581E11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102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5DC"/>
                </a:solidFill>
              </a:defRPr>
            </a:pPr>
            <a:r>
              <a:rPr sz="1350" b="0" i="0">
                <a:solidFill>
                  <a:srgbClr val="C8D5DC"/>
                </a:solidFill>
              </a:rPr>
              <a:t>DCSE Summer Lecture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ED0EA-FDC5-4BBF-9A24-BB1214A4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78ABF-FB73-4B1E-BDF8-B8AF49BE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</p:spTree>
    <p:extLst>
      <p:ext uri="{BB962C8B-B14F-4D97-AF65-F5344CB8AC3E}">
        <p14:creationId xmlns:p14="http://schemas.microsoft.com/office/powerpoint/2010/main" val="1364065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2">
            <a:extLst xmlns:a="http://schemas.openxmlformats.org/drawingml/2006/main">
              <a:ext uri="{FF2B5EF4-FFF2-40B4-BE49-F238E27FC236}">
                <a16:creationId xmlns:a16="http://schemas.microsoft.com/office/drawing/2014/main" id="{7A3580CE-C696-49C3-9322-25BE5DA8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FF994-5B5A-4A9B-86E6-CB77210C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7C908-555F-44B3-B3CB-4110A7BB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44614-855B-4A27-898C-D9779EDC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0E28D-0C73-4FF1-B5BD-3755DEE3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EB43A-FE5A-44A5-B867-86E056E5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72AF1-F53F-4FE0-BD5C-17403D53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737CD-BBDB-401A-BCB2-95EDCBF7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FEC7E-90AC-42C8-9E9B-8A277C33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">
            <a:extLst xmlns:a="http://schemas.openxmlformats.org/drawingml/2006/main">
              <a:ext uri="{FF2B5EF4-FFF2-40B4-BE49-F238E27FC236}">
                <a16:creationId xmlns:a16="http://schemas.microsoft.com/office/drawing/2014/main" id="{0B7B6C93-412E-44AE-80D1-9115E721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36989-8CE3-47DF-96FA-4A433983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7B2BD9-095E-4648-96BD-F5AB9470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Three outcomes for this lecture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CD0C6-788A-4469-A22E-41E1C5C7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F550C-D12C-4B2C-9049-BD60C993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EXPLAIN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45E49-FB8E-412F-B354-84A2D76C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B7CC2-AF07-4502-BF76-4C281D49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Distinguish a language model, an assistant, and an agentic system.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B096A-7167-4B11-A6AA-6C8B6141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E5D3D-F098-4BEC-AB13-3EBAADAF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6AFE5-97E4-4FB2-84E2-72B44F2A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Connect planning, tools, memory, evidence, and human review.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988D9B-32F8-4B4F-942A-EF61A597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IMPLEMENT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CD0768-445C-4852-BF3C-6CCC3448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758131-66AB-436D-9DC4-17F575EB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Prototype a repository-based workflow across Tri Dharma.</a:t>
            </a:r>
          </a:p>
        </p:txBody>
      </p:sp>
    </p:spTree>
    <p:extLst>
      <p:ext uri="{BB962C8B-B14F-4D97-AF65-F5344CB8AC3E}">
        <p14:creationId xmlns:p14="http://schemas.microsoft.com/office/powerpoint/2010/main" val="210574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3">
            <a:extLst xmlns:a="http://schemas.openxmlformats.org/drawingml/2006/main">
              <a:ext uri="{FF2B5EF4-FFF2-40B4-BE49-F238E27FC236}">
                <a16:creationId xmlns:a16="http://schemas.microsoft.com/office/drawing/2014/main" id="{2CC073E7-C623-4045-BA35-61FC73EA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3AEEF-1F05-4CFD-B1CC-B44FAE1A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7DF57-8712-4A67-9F6E-63E1BC3A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DA01E-95E0-4A7B-BD07-AB4A450B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15FDE-D055-43C0-B9D0-6B38E502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EDBE3-8006-472F-AC21-38585550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5C941-4D65-4E8D-9190-1BE397DF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31621-4B4B-43F3-B379-632D3721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8B4B1-A170-4C27-957C-3A6093F6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">
            <a:extLst xmlns:a="http://schemas.openxmlformats.org/drawingml/2006/main">
              <a:ext uri="{FF2B5EF4-FFF2-40B4-BE49-F238E27FC236}">
                <a16:creationId xmlns:a16="http://schemas.microsoft.com/office/drawing/2014/main" id="{BF4C1724-9509-4EDF-B71C-9A8C0B8F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51948-A2DD-4DEC-AFB4-2DB1A6C0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591EB3-5EB0-4837-B8B4-8F384960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Tri Dharma is one connected mandate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17E46-EE7B-4FDA-B974-277E8C6C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63043-AFB5-4139-956A-1D1382A6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CF31F-C5D6-4729-BF41-340CD468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B5215-C5C2-4B1B-892D-87FC0CFE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Produce, validate, preserve, and communicate knowledge.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0CAFC-F14B-44A6-9E0B-71CEAF7A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EDUCATION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A01D6-55E7-424C-BA14-32986E78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93C932-7572-447B-93BE-7AE1B0CB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Design learning, assessment, feedback, and scholarly teaching.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F7AF93-40CD-4E17-A0A0-F9196699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COMMUNITY 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EE623-FC10-422B-B7D9-80677EA9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7E26C-AC84-4D2E-8008-61EC714C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Translate expertise into public value with local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16042037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etadata-rail-4">
            <a:extLst xmlns:a="http://schemas.openxmlformats.org/drawingml/2006/main">
              <a:ext uri="{FF2B5EF4-FFF2-40B4-BE49-F238E27FC236}">
                <a16:creationId xmlns:a16="http://schemas.microsoft.com/office/drawing/2014/main" id="{27D25187-551A-49DD-AB4A-D87DEC7A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27ED0-5767-476E-97C9-A9AF59BB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A1207-D949-4872-A2F7-4F94D4F0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F02F6-F533-4452-8136-80620F84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CAF66-2A13-4096-BA8E-768B3969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43568-DEDD-4A3A-9751-AC3330B3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5A152-6E5A-4C15-A7D3-10755A88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B36C7-4832-4A21-B6DB-B8B71FCB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32ED7-5782-4C8A-A13E-7EFCD77B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">
            <a:extLst xmlns:a="http://schemas.openxmlformats.org/drawingml/2006/main">
              <a:ext uri="{FF2B5EF4-FFF2-40B4-BE49-F238E27FC236}">
                <a16:creationId xmlns:a16="http://schemas.microsoft.com/office/drawing/2014/main" id="{514FBD97-B493-4131-A6B5-292A6445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D2A74-2941-4013-B591-83EC378D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A340C-72F1-4A48-A66D-9F2325BB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C000"/>
                </a:solidFill>
              </a:defRPr>
            </a:pPr>
            <a:r>
              <a:rPr sz="4350" b="1" i="0">
                <a:solidFill>
                  <a:srgbClr val="FFC000"/>
                </a:solidFill>
              </a:rPr>
              <a:t>The constraint is not ideas.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05869-BF53-4E55-BC68-A06C40E5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990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4050" b="0" i="0">
                <a:solidFill>
                  <a:srgbClr val="FFFFFF"/>
                </a:solidFill>
              </a:defRPr>
            </a:pPr>
            <a:r>
              <a:rPr sz="4050" b="0" i="0">
                <a:solidFill>
                  <a:srgbClr val="FFFFFF"/>
                </a:solidFill>
              </a:rPr>
              <a:t>It is continuity across dozens of small academic workflows.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8F095-2BF4-4137-BD4E-9882A574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C8D5DC"/>
                </a:solidFill>
              </a:defRPr>
            </a:pPr>
            <a:r>
              <a:rPr sz="1875" b="0" i="0">
                <a:solidFill>
                  <a:srgbClr val="C8D5DC"/>
                </a:solidFill>
              </a:rPr>
              <a:t>Files, sources, deadlines, design choices, feedback, and publication decisions are distributed across tools—and across time.</a:t>
            </a:r>
          </a:p>
        </p:txBody>
      </p:sp>
    </p:spTree>
    <p:extLst>
      <p:ext uri="{BB962C8B-B14F-4D97-AF65-F5344CB8AC3E}">
        <p14:creationId xmlns:p14="http://schemas.microsoft.com/office/powerpoint/2010/main" val="473167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5">
            <a:extLst xmlns:a="http://schemas.openxmlformats.org/drawingml/2006/main">
              <a:ext uri="{FF2B5EF4-FFF2-40B4-BE49-F238E27FC236}">
                <a16:creationId xmlns:a16="http://schemas.microsoft.com/office/drawing/2014/main" id="{842E6396-EABC-4D88-A7D9-521E814F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ED247-2E1C-491C-8710-640B1AA6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404D6-9F33-4F17-9870-D2279758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B4C32-6B03-4D21-A2F9-9F6FCFC3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33B9A-33DA-4DB7-B0B5-D7414E61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D5D0F-AE02-4E48-947B-DE96080B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545FE-FB26-4A5C-97B3-95417F4A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CA2F2-5411-4680-AD36-69886591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532E0-C7A3-4818-B77F-EB75F772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5">
            <a:extLst xmlns:a="http://schemas.openxmlformats.org/drawingml/2006/main">
              <a:ext uri="{FF2B5EF4-FFF2-40B4-BE49-F238E27FC236}">
                <a16:creationId xmlns:a16="http://schemas.microsoft.com/office/drawing/2014/main" id="{27C7D003-1F19-42BE-9522-CF821469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43C8F-C4C4-4827-9763-119199A5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61918E-DFCD-485B-8E0D-A0C22181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Isolated prompts reset the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AC89D-8E17-4E16-96C1-5D405C38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46115-9759-4230-BE98-F2690464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1F4F8-43AC-445C-BABC-32E80D36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A8A11-BDED-4CFC-8A88-D031CB57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The model sees what is in the current conversation, not the whole project history.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F19F9-91FF-4E69-8116-ADF9963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17A72-A737-44A8-9F91-08CC8F2E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EA063-3BB7-4CF3-B011-AF11D10A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Sources and decisions become detached from the outputs they informed.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142ADE-2FF3-4FB8-B7EF-3CB3C334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FOLLOW-THROUGH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8C77BD-DD29-4E1D-B396-49E69CE2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14DCBD-CE23-4E3C-8D9A-A3E2026E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 useful answer still leaves scheduling, files, review, and publication to the lecturer.</a:t>
            </a:r>
          </a:p>
        </p:txBody>
      </p:sp>
    </p:spTree>
    <p:extLst>
      <p:ext uri="{BB962C8B-B14F-4D97-AF65-F5344CB8AC3E}">
        <p14:creationId xmlns:p14="http://schemas.microsoft.com/office/powerpoint/2010/main" val="14840632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etadata-rail-6">
            <a:extLst xmlns:a="http://schemas.openxmlformats.org/drawingml/2006/main">
              <a:ext uri="{FF2B5EF4-FFF2-40B4-BE49-F238E27FC236}">
                <a16:creationId xmlns:a16="http://schemas.microsoft.com/office/drawing/2014/main" id="{AD7102CF-8FE6-4CE3-95B6-39A3D41F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7788E-3EEA-4539-8399-1B6E2CC9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79F55-D7ED-462D-B10C-B2F11908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F052A-BFA0-4516-A47B-03FA183A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2CA0D-B9DC-4FB3-8B50-86551D33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8B799-2EC1-45A7-AD30-1BF88F26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33099-5A1F-46E5-8ADA-4BF7D865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01955-99A7-43A9-863B-5C2A87CE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1DFFE-3BD0-4D31-A928-07590E73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6">
            <a:extLst xmlns:a="http://schemas.openxmlformats.org/drawingml/2006/main">
              <a:ext uri="{FF2B5EF4-FFF2-40B4-BE49-F238E27FC236}">
                <a16:creationId xmlns:a16="http://schemas.microsoft.com/office/drawing/2014/main" id="{EEC544F7-C9FB-467E-AD5E-A833E77E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7226F-C2BB-4F20-86AE-51987128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231EF-6DD6-40E2-9674-C6521B68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C000"/>
                </a:solidFill>
              </a:defRPr>
            </a:pPr>
            <a:r>
              <a:rPr sz="4350" b="1" i="0">
                <a:solidFill>
                  <a:srgbClr val="FFC000"/>
                </a:solidFill>
              </a:rPr>
              <a:t>The key shift: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39C90-7E78-4A24-9804-EED6ADFC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990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4050" b="0" i="0">
                <a:solidFill>
                  <a:srgbClr val="FFFFFF"/>
                </a:solidFill>
              </a:defRPr>
            </a:pPr>
            <a:r>
              <a:rPr sz="4050" b="0" i="0">
                <a:solidFill>
                  <a:srgbClr val="FFFFFF"/>
                </a:solidFill>
              </a:rPr>
              <a:t>from a clever chat to a governed workspace.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E8B24-CA34-4CD6-A184-CDAAAD23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C8D5DC"/>
                </a:solidFill>
              </a:defRPr>
            </a:pPr>
            <a:r>
              <a:rPr sz="1875" b="0" i="0">
                <a:solidFill>
                  <a:srgbClr val="C8D5DC"/>
                </a:solidFill>
              </a:rPr>
              <a:t>An agentic workspace gives work a durable home, bounded tools, repeatable workflows, and a visible review trail.</a:t>
            </a:r>
          </a:p>
        </p:txBody>
      </p:sp>
    </p:spTree>
    <p:extLst>
      <p:ext uri="{BB962C8B-B14F-4D97-AF65-F5344CB8AC3E}">
        <p14:creationId xmlns:p14="http://schemas.microsoft.com/office/powerpoint/2010/main" val="20081961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0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2ECE4-5F51-401A-8278-9EB676DD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4E0C4-C230-410D-ADAD-E0E48EE3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0"/>
            <a:ext cx="809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4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7021C-7DA5-44FB-97D0-A8C98746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56206-AD26-43E1-9EB4-0F058BF7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014A74"/>
                </a:solidFill>
              </a:defRPr>
            </a:pPr>
            <a:r>
              <a:rPr sz="8850" b="1" i="0">
                <a:solidFill>
                  <a:srgbClr val="014A7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95F79-0D32-4CF7-898C-2533A81B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FFFFFF"/>
                </a:solidFill>
              </a:defRPr>
            </a:pPr>
            <a:r>
              <a:rPr sz="4350" b="0" i="0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37AA8-6598-446F-A47A-9947A4EC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What changes when a language model becomes part of a working system?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4D4D3-3C61-4457-8AD0-A1CFEA27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4A8C3-8459-4503-B7BF-B7C86673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14A74"/>
                </a:solidFill>
              </a:defRPr>
            </a:pPr>
            <a:r>
              <a:rPr sz="975" b="1" i="0">
                <a:solidFill>
                  <a:srgbClr val="014A74"/>
                </a:solidFill>
              </a:rPr>
              <a:t>CREATED WITH AFK RESEARCH</a:t>
            </a:r>
          </a:p>
        </p:txBody>
      </p:sp>
    </p:spTree>
    <p:extLst>
      <p:ext uri="{BB962C8B-B14F-4D97-AF65-F5344CB8AC3E}">
        <p14:creationId xmlns:p14="http://schemas.microsoft.com/office/powerpoint/2010/main" val="11034782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8">
            <a:extLst xmlns:a="http://schemas.openxmlformats.org/drawingml/2006/main">
              <a:ext uri="{FF2B5EF4-FFF2-40B4-BE49-F238E27FC236}">
                <a16:creationId xmlns:a16="http://schemas.microsoft.com/office/drawing/2014/main" id="{106E1E50-0409-497E-8F31-180457D3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E60C2-5A73-4856-BE7B-F4AC6107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6E2D5-A87F-4DAE-AA23-050777BE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497D5-71B5-4554-82FD-6CF6E6E6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B06AE-3EE1-4473-88BF-F0527423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C579B-D178-429B-87A7-16EDA336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9D4DB-62BE-4336-8E33-9A8FD253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DEB07-F477-458D-A65A-5B251AB0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95680-815E-4DEC-86BF-883A67EF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8">
            <a:extLst xmlns:a="http://schemas.openxmlformats.org/drawingml/2006/main">
              <a:ext uri="{FF2B5EF4-FFF2-40B4-BE49-F238E27FC236}">
                <a16:creationId xmlns:a16="http://schemas.microsoft.com/office/drawing/2014/main" id="{1F44DAD7-3600-4D22-9841-797F5928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2ACDB-CE31-4B7E-A194-476234E5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C1A6DF-D935-440F-940B-59B931FF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AI is a stack, not one thing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2AE6E-A060-4109-856D-3A4111F0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737B2-542C-4689-8716-F47BFF52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3F759-4CB8-4366-A739-E3BD29B2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BFF38-221D-4FC3-A4E0-61151CD0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78538-F27E-4838-A069-1B2DE6A7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B98780-6B21-4198-AC7F-38468DB7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Systems performing tasks associated with intelligence.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A5C40D-9886-4D26-84A0-64DE7318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8FF40D-CBC7-41AD-BA1A-E6C0AE37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303296-30BF-4705-A420-052FEB04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Machine learning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82DF11-A091-455A-BF60-95B5AF99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Systems learning patterns from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DA22A7-7143-4271-9A73-ADF7955D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835619-8447-441A-B8BE-CDBFD5F6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DC245B-8B4B-4F29-A008-750CFAF6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Generative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A18C3-7E0E-48BD-B4E0-B3F1ADB1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Models producing new content from learned patterns.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960043-DD9E-40FD-A079-05FCC99D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91ECF4-4086-46BD-BB87-05394D4C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9F90EB-B2F5-4F99-9BF5-353BF8AA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LLM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728777-15FE-469A-92F6-7641CDBC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A generative model specialized in language sequences.</a:t>
            </a:r>
          </a:p>
        </p:txBody>
      </p:sp>
    </p:spTree>
    <p:extLst>
      <p:ext uri="{BB962C8B-B14F-4D97-AF65-F5344CB8AC3E}">
        <p14:creationId xmlns:p14="http://schemas.microsoft.com/office/powerpoint/2010/main" val="3638267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9">
            <a:extLst xmlns:a="http://schemas.openxmlformats.org/drawingml/2006/main">
              <a:ext uri="{FF2B5EF4-FFF2-40B4-BE49-F238E27FC236}">
                <a16:creationId xmlns:a16="http://schemas.microsoft.com/office/drawing/2014/main" id="{6579C4A1-3C2E-49C8-BA39-77126E3B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1FF57-F171-4CCA-8C5F-465BCBCF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E4210-EC64-4051-8F6E-820ECE31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0C78D-1F45-447E-8BD8-4B587AA8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75421-74B0-49B4-9692-A3D560DA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FF59B-3DAF-4552-84EE-A0DCE282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E508D-5081-4B5F-BBEB-78581490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2CB62-9592-462A-936F-59E73FBD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4F4C1-C1A9-457D-9D8E-C86FB25B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9">
            <a:extLst xmlns:a="http://schemas.openxmlformats.org/drawingml/2006/main">
              <a:ext uri="{FF2B5EF4-FFF2-40B4-BE49-F238E27FC236}">
                <a16:creationId xmlns:a16="http://schemas.microsoft.com/office/drawing/2014/main" id="{C1A541F9-28A7-4745-B3A6-E7E7FADF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7083A-2B3A-4989-ACC7-3DFB44C4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2D3068-085F-4723-824E-F4D9B059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An LLM predicts a useful continuation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4229A-E8B9-4DA5-82BF-FBAFC5C4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9E1FC-269A-4286-B7C3-73BCEE33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7426F-5835-446B-ADFB-C3FA0551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22788-56A9-4F23-B2CE-0442431E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Instructions, examples, retrieved evidence, and conversation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76D7EB-AD5B-4E71-A898-C10502D3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85E89-3A6D-40FC-9461-B06642B7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A74EFE-FC94-4C9D-ACBE-95FD0C65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 learned probability distribution over possible token sequences.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46B3C-5212-485B-8AB0-6ED55D29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EBCC1-9354-4423-8704-6D3FE4D5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2450A6-B93A-4C8D-89CC-FA044203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 generated continuation—not a database lookup and not a guaranteed fact.</a:t>
            </a:r>
          </a:p>
        </p:txBody>
      </p:sp>
    </p:spTree>
    <p:extLst>
      <p:ext uri="{BB962C8B-B14F-4D97-AF65-F5344CB8AC3E}">
        <p14:creationId xmlns:p14="http://schemas.microsoft.com/office/powerpoint/2010/main" val="12979164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10">
            <a:extLst xmlns:a="http://schemas.openxmlformats.org/drawingml/2006/main">
              <a:ext uri="{FF2B5EF4-FFF2-40B4-BE49-F238E27FC236}">
                <a16:creationId xmlns:a16="http://schemas.microsoft.com/office/drawing/2014/main" id="{F4A3A651-C459-4243-82C6-23EA1176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7C0B8-9AA2-46F4-8C91-6051CD3A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A454B-3CF1-45AF-A565-2EA232CB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DA36A-17BC-4E77-AFCC-61C96A41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9ED4D-AADC-4F7F-9CCE-417EC3E3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E5E88-FC01-49DD-8845-F40391B7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EA4FB-84D7-4506-8016-E7136F3E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2F612-BFF6-4A6B-9834-DF494DED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7C7DA-5A7B-422C-B240-F36FCEE6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10">
            <a:extLst xmlns:a="http://schemas.openxmlformats.org/drawingml/2006/main">
              <a:ext uri="{FF2B5EF4-FFF2-40B4-BE49-F238E27FC236}">
                <a16:creationId xmlns:a16="http://schemas.microsoft.com/office/drawing/2014/main" id="{994C74A6-B8EA-40B2-9CDC-A93B6B6E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BCD98-F0C1-4AB7-8D4F-C2B63C9B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428124-B29B-46B7-B94F-3D3F279A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 prompt is temporary working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E5A3F-597C-4C5C-B42C-460D7041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CFD3C-2754-4B49-AB37-525CFB46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INSTRUCTION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AC5DA-D086-4765-B341-4B49117A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4968F-AC60-47C1-8871-D8A8EE61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What should be done, for whom, and under which constraints?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8734B-B2E1-4B58-889F-CDF9EAED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57435F-3F47-4858-A94B-8D1515D1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A7980-6262-4E63-A333-7E307999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What evidence, examples, state, and prior decisions are available now?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BDE8C1-8F30-4E57-AF1A-F058074C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OUTPUT CONTRACT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61A3F-D154-4306-8720-0E758BE2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530D07-356A-4A26-AB17-ED171BCB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What form, quality bar, and review conditions define success?</a:t>
            </a:r>
          </a:p>
        </p:txBody>
      </p:sp>
    </p:spTree>
    <p:extLst>
      <p:ext uri="{BB962C8B-B14F-4D97-AF65-F5344CB8AC3E}">
        <p14:creationId xmlns:p14="http://schemas.microsoft.com/office/powerpoint/2010/main" val="8420077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metadata-rail-11">
            <a:extLst xmlns:a="http://schemas.openxmlformats.org/drawingml/2006/main">
              <a:ext uri="{FF2B5EF4-FFF2-40B4-BE49-F238E27FC236}">
                <a16:creationId xmlns:a16="http://schemas.microsoft.com/office/drawing/2014/main" id="{EA36F877-C561-4848-8502-6F0FE791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1788B-6EE1-49BE-9B72-7AB0798B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5C23B-B37E-4FD2-9BE8-9C0148E6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5BCA-5698-49DB-B03A-5905E7A2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54031-579E-4D92-AB91-E6E4B751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06C84-2D01-4608-B4CD-5EE5AA9F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D341B-463C-4731-9ECF-C4CFC128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41C99-2E04-43B6-9D03-D7F24C97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A9357-F150-4B64-813E-51E36B8F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11">
            <a:extLst xmlns:a="http://schemas.openxmlformats.org/drawingml/2006/main">
              <a:ext uri="{FF2B5EF4-FFF2-40B4-BE49-F238E27FC236}">
                <a16:creationId xmlns:a16="http://schemas.microsoft.com/office/drawing/2014/main" id="{79E2B81D-B20B-404D-9B5A-BCF3D4A7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2A0B5-B8CE-4F44-8A30-AA30989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A4170B-36AA-49F9-A522-2B32329D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Systems turn models into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282F5-9917-4E8D-85D3-68E3307C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56030-9F25-40D6-AB7F-96BF3B31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EAB8B-93F6-4BDA-B3E0-5B528824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2C5CA-C501-491E-8315-23F46824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Generates a response from supplied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91FD4-04B9-446A-B3AD-320B68B0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D5DC"/>
                </a:solidFill>
              </a:defRPr>
            </a:pPr>
            <a:r>
              <a:rPr sz="1275" b="1" i="0">
                <a:solidFill>
                  <a:srgbClr val="C8D5DC"/>
                </a:solidFill>
              </a:rPr>
              <a:t>No independent action loop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AC0CE6-80AE-4E83-B11F-B6067EDE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ASSISTANT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0DD973-3C7E-4C0C-B337-AB44D123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01E794-E3DD-4A63-8314-F44FE76A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Adds interface, instructions, and selected tools.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82EDAF-6C47-4995-9C0E-8A4138DF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245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D5DC"/>
                </a:solidFill>
              </a:defRPr>
            </a:pPr>
            <a:r>
              <a:rPr sz="1275" b="1" i="0">
                <a:solidFill>
                  <a:srgbClr val="C8D5DC"/>
                </a:solidFill>
              </a:rPr>
              <a:t>Usually user-steered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868F7E-86B2-4E40-BFF7-82D43A71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AGENTIC 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76C318-053B-4F5A-B9FE-2A3114FC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BD89BD-61E6-4582-AB96-B404B296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Pursues a goal through observation, planning, tool use, and feedback.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71BC1B-B30B-45CA-92EF-0A842138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245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D5DC"/>
                </a:solidFill>
              </a:defRPr>
            </a:pPr>
            <a:r>
              <a:rPr sz="1275" b="1" i="0">
                <a:solidFill>
                  <a:srgbClr val="C8D5DC"/>
                </a:solidFill>
              </a:rPr>
              <a:t>Bounded autonomy</a:t>
            </a:r>
          </a:p>
        </p:txBody>
      </p:sp>
    </p:spTree>
    <p:extLst>
      <p:ext uri="{BB962C8B-B14F-4D97-AF65-F5344CB8AC3E}">
        <p14:creationId xmlns:p14="http://schemas.microsoft.com/office/powerpoint/2010/main" val="2727735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12">
            <a:extLst xmlns:a="http://schemas.openxmlformats.org/drawingml/2006/main">
              <a:ext uri="{FF2B5EF4-FFF2-40B4-BE49-F238E27FC236}">
                <a16:creationId xmlns:a16="http://schemas.microsoft.com/office/drawing/2014/main" id="{2CE017DF-124A-4CB8-BE69-089E3F1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B575D-3A83-4783-A4BE-C49E7A3D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12566-7BD2-4CB7-832D-A2457D86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6115D-9D80-4ECF-8791-0C81A43B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4E196-152F-4872-8B7F-E85A962D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3D7C3-9AB6-4D2F-8934-98CD8249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4C697-E965-42AC-B0BB-8467A8D5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2F983-6C04-436F-AC38-C59D50C0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A2640-D905-4A39-9B6A-92E10A6D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12">
            <a:extLst xmlns:a="http://schemas.openxmlformats.org/drawingml/2006/main">
              <a:ext uri="{FF2B5EF4-FFF2-40B4-BE49-F238E27FC236}">
                <a16:creationId xmlns:a16="http://schemas.microsoft.com/office/drawing/2014/main" id="{3FC15474-5C9E-418D-9A0F-3B87B4BB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59839-E30B-4249-891A-73615E10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DDD814-9E49-4A4D-8337-7E81E5E6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The minimal agent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48E65-CAE2-4583-A381-B73658A5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DCFAE-E7DE-4BDB-BD5F-AB49EB5D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C0647-4E29-4793-8965-FF26C2D0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6541C-9EE7-494D-86B9-00598268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22A44-A7C6-4E7E-A8C9-C677A049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Observe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D454E-1C8E-4863-BA76-BC07E318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Read the request and current environment.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145E3-878B-4ED2-841A-7B09B617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F8C1A-B122-46AB-A07D-D47F63D4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6AA42-61D2-4A58-9505-33768047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D8D9A-B627-45E4-BA98-C87DD580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Choose a next step or decompose the task.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53C5CF-2630-4FA9-8F20-9C6D7D00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E25F12-F6B6-41C9-AC42-BB719997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CA654A-784C-4E59-8478-F94EFB6A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EA7D31-8A1B-4DD6-B7A7-1F2B44B1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Use a tool or produce an artifact.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95FCE1-19D9-4711-AB5C-F5B86700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ABCFBE-4ADB-46AC-AD52-E2BC9487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0903E9-23A7-4EAF-9D10-C46D3832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Evaluate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9E0D3D-50D0-4F61-A35C-E82FA301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Check the result, update state, and continue.</a:t>
            </a:r>
          </a:p>
        </p:txBody>
      </p:sp>
    </p:spTree>
    <p:extLst>
      <p:ext uri="{BB962C8B-B14F-4D97-AF65-F5344CB8AC3E}">
        <p14:creationId xmlns:p14="http://schemas.microsoft.com/office/powerpoint/2010/main" val="15308564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13">
            <a:extLst xmlns:a="http://schemas.openxmlformats.org/drawingml/2006/main">
              <a:ext uri="{FF2B5EF4-FFF2-40B4-BE49-F238E27FC236}">
                <a16:creationId xmlns:a16="http://schemas.microsoft.com/office/drawing/2014/main" id="{B1275995-F333-47F1-BEF8-F91B8B5E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C3FF6-B633-4F2D-9AE9-2821D03B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5978D-2A6C-494C-A4C0-ECAD7232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C9970-7BA9-4509-BE4F-9F4B7E9F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C86F1-A152-4D1B-A0CD-6211B13D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F718E-F633-4127-B364-57DFDB67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AEA70-2377-4FB0-8C3F-C75BDB80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523D0-3BA2-4EC0-9CFF-EABBA99E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F2980-3FD5-475E-85C8-9F1992CC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13">
            <a:extLst xmlns:a="http://schemas.openxmlformats.org/drawingml/2006/main">
              <a:ext uri="{FF2B5EF4-FFF2-40B4-BE49-F238E27FC236}">
                <a16:creationId xmlns:a16="http://schemas.microsoft.com/office/drawing/2014/main" id="{09869FE6-57A1-41EC-95A8-9F034087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ED2DD-8835-48EB-9F56-2436C748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CB84EC-6734-4AC3-B358-68382AFA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Tools convert language into consequences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44378-C8BE-4F28-8F4A-463ABB03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41954-C722-420F-A8D6-9B13FFFA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FFE8E-099C-4AF4-A639-A93ACE04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9FDAB-B7EE-4144-A54D-CA013EBF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Search, inspect files, retrieve sources, read calendars, or query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F743F-9030-412E-B28A-895D3004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CREATE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A5774-0C36-4129-BAD2-149775C1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BCA11-E4D1-4381-A4CB-012B8138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Draft documents, generate presentations, transform datasets, or write code.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2B791E-EE9C-424A-8917-01391F54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CHANGE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B6019-BCB3-4DE3-8A5F-F4F1AF7E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1B222D-4971-43D7-AB01-5F69DB7F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Send messages, update records, publish content, or run external processes.</a:t>
            </a:r>
          </a:p>
        </p:txBody>
      </p:sp>
    </p:spTree>
    <p:extLst>
      <p:ext uri="{BB962C8B-B14F-4D97-AF65-F5344CB8AC3E}">
        <p14:creationId xmlns:p14="http://schemas.microsoft.com/office/powerpoint/2010/main" val="993673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14">
            <a:extLst xmlns:a="http://schemas.openxmlformats.org/drawingml/2006/main">
              <a:ext uri="{FF2B5EF4-FFF2-40B4-BE49-F238E27FC236}">
                <a16:creationId xmlns:a16="http://schemas.microsoft.com/office/drawing/2014/main" id="{118FC201-4793-46E7-9FB8-E0FC82EE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A6781-7762-444F-9DEB-7935DB94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F8D6B-BC87-452B-9919-E1ACC200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DB164-2CAE-41E2-9A14-BC46DD98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317D1-B0A9-45F4-A51F-87FCB976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5E814-3AF1-4575-9039-2B5709FF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03BC1-5E4D-4636-960A-7316AAB4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B6F7F-A72C-4176-9D01-5330B8C5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276F8-463B-47CD-8E81-F07E70C4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14">
            <a:extLst xmlns:a="http://schemas.openxmlformats.org/drawingml/2006/main">
              <a:ext uri="{FF2B5EF4-FFF2-40B4-BE49-F238E27FC236}">
                <a16:creationId xmlns:a16="http://schemas.microsoft.com/office/drawing/2014/main" id="{BD0FA900-868F-4526-BE08-3AAA0C29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8000D-4B8C-4C65-BBBF-992D8814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56729F-106E-4926-A74A-12ABA703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Memory gives an agent continuity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65FA7-B976-4C84-AED9-C569A433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B2965-B232-4422-B291-6E60F4F1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WORKING 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F74A6-5C59-4FF0-9176-488EA258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6E4F3-8EE1-4D26-AE40-88E74D31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The immediate context needed for the current step.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D59D3-1F6A-4D82-83CB-26E3CFE4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PROJECT 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2EAFFA-9942-45C8-A318-89F23C01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85DE0-BD9F-458C-B71C-B2102CA6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Durable sources, decisions, terminology, and outputs.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D0659-5EC2-4494-B355-EB55933B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EVENT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96F17-E5C7-408C-AD3A-B216C7E6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7A8A84-DFA5-4AB5-AE32-24A9F5D9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What happened, when, through which tool, with what result.</a:t>
            </a:r>
          </a:p>
        </p:txBody>
      </p:sp>
    </p:spTree>
    <p:extLst>
      <p:ext uri="{BB962C8B-B14F-4D97-AF65-F5344CB8AC3E}">
        <p14:creationId xmlns:p14="http://schemas.microsoft.com/office/powerpoint/2010/main" val="11308467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15">
            <a:extLst xmlns:a="http://schemas.openxmlformats.org/drawingml/2006/main">
              <a:ext uri="{FF2B5EF4-FFF2-40B4-BE49-F238E27FC236}">
                <a16:creationId xmlns:a16="http://schemas.microsoft.com/office/drawing/2014/main" id="{B8075B3B-D9B1-4E79-BE57-B3D2DFE3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087BE-13BB-4E00-A4B2-57D74467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0D1C8-6322-4249-96D4-F577DF3D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FC050-22A3-4265-969A-080B953D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0FE4C-73BB-4EA9-A0D4-070099D8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4E89E-99F5-4C45-BB57-3D9FDEB0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02F55-1A20-434A-95AD-34B02A6F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E9FB5-F993-4139-A980-BF15504A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6182D-99AC-42B9-BC38-E3AADC4A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15">
            <a:extLst xmlns:a="http://schemas.openxmlformats.org/drawingml/2006/main">
              <a:ext uri="{FF2B5EF4-FFF2-40B4-BE49-F238E27FC236}">
                <a16:creationId xmlns:a16="http://schemas.microsoft.com/office/drawing/2014/main" id="{49C1A8B8-DD19-4390-8D86-3902FCCD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172C1-4DAE-4151-9038-A094E9C4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71EBC9-B7DF-42F2-B5E0-C106DF11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The environment defines what is possible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5B65F-699A-4369-9058-72ED1765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544AC-1E2C-4D99-B64E-1175F6B2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AVAILABLE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7A603-F770-4C94-9101-55B85793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A9025-E072-4B74-A4C5-63417D4A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Files, repositories, applications, databases, and connected services.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B63E8-0AD1-40D2-BE4F-280BF9E3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PERMISSIONS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60F5A-CC78-40D9-9722-81E4135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5822A-C2BF-4A76-9D9E-2A48D113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What the agent may read, modify, send, schedule, or publish.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E93E3-C7A7-41A4-B411-286E3D13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BOUNDARIES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838E1A-BF5D-4505-9FE3-7E52041D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6FE454-25A3-44D9-BD78-725A8439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Which actions require a person, a policy check, or a separate release path.</a:t>
            </a:r>
          </a:p>
        </p:txBody>
      </p:sp>
    </p:spTree>
    <p:extLst>
      <p:ext uri="{BB962C8B-B14F-4D97-AF65-F5344CB8AC3E}">
        <p14:creationId xmlns:p14="http://schemas.microsoft.com/office/powerpoint/2010/main" val="17454833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16">
            <a:extLst xmlns:a="http://schemas.openxmlformats.org/drawingml/2006/main">
              <a:ext uri="{FF2B5EF4-FFF2-40B4-BE49-F238E27FC236}">
                <a16:creationId xmlns:a16="http://schemas.microsoft.com/office/drawing/2014/main" id="{734AF9E9-1138-4ACD-A94C-3AEF6787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F7D3F-0A18-4A1A-B601-7F310DA7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E03E2-4211-43B0-A657-5E3D5786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977A2-9FAF-462E-994D-0FC162FB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D8974-4518-4C85-874D-540B822B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74072-8C21-4977-8DD6-AB66D0F9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F9A0A-0C68-482B-A025-AF53FA36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74F79-418F-4939-914D-6799B93B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4CBF2-D773-44C1-B7DC-6436FE55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16">
            <a:extLst xmlns:a="http://schemas.openxmlformats.org/drawingml/2006/main">
              <a:ext uri="{FF2B5EF4-FFF2-40B4-BE49-F238E27FC236}">
                <a16:creationId xmlns:a16="http://schemas.microsoft.com/office/drawing/2014/main" id="{3F615C76-10FE-4F81-A751-A133811E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1A424-CB97-4DCF-BD69-0C72C1DF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52A630-964F-4EAD-B366-DB92EA78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Artifacts make agent work reviewable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C82A0-D1AA-44CC-AA73-4E8198B4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852A3-570B-4695-AC8B-3B685F9E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74F40-97AE-471A-958D-26315CA1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FC300-ADDA-40B1-81BE-431DE038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Drafts, plans, data, slides, and outputs can be inspected directly.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FB82F-F889-441B-8E3A-389F4EA6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E3E08D-38FB-4DF9-BC20-4C7EE33E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D608B-38F1-48D2-8FA5-A5C16180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Commits and issue activity show when and why work changed.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A5C3E-3C56-4F0D-9D2B-ADA12F52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PROVENANCE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F4046-106D-4AA5-B9A4-E49C45A6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9FC5C3-12A1-47C2-B9EE-6990FC86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Sources in notes and metadata connect claims to evidence.</a:t>
            </a:r>
          </a:p>
        </p:txBody>
      </p:sp>
    </p:spTree>
    <p:extLst>
      <p:ext uri="{BB962C8B-B14F-4D97-AF65-F5344CB8AC3E}">
        <p14:creationId xmlns:p14="http://schemas.microsoft.com/office/powerpoint/2010/main" val="5465963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0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C3517-462B-4149-8745-591F19A8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FCF5E-4E9B-4895-BA54-84BD0D77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0"/>
            <a:ext cx="809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4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1A03C-687F-4932-BA81-66494897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C502E-61B1-4EA2-B5B3-716F3B74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014A74"/>
                </a:solidFill>
              </a:defRPr>
            </a:pPr>
            <a:r>
              <a:rPr sz="8850" b="1" i="0">
                <a:solidFill>
                  <a:srgbClr val="014A7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5D796-8D72-46B8-9868-4E9F7A3D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FFFFFF"/>
                </a:solidFill>
              </a:defRPr>
            </a:pPr>
            <a:r>
              <a:rPr sz="4350" b="0" i="0">
                <a:solidFill>
                  <a:srgbClr val="FFFFFF"/>
                </a:solidFill>
              </a:rPr>
              <a:t>THEORY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5CF21-0C73-42DA-B1BD-3D8EB5E1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Planning, acting, remembering, reflecting, and governing the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B6C98-8750-4E24-9964-82943494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F0254-F40B-41F7-A47E-7D8DC3B9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14A74"/>
                </a:solidFill>
              </a:defRPr>
            </a:pPr>
            <a:r>
              <a:rPr sz="975" b="1" i="0">
                <a:solidFill>
                  <a:srgbClr val="014A74"/>
                </a:solidFill>
              </a:rPr>
              <a:t>CREATED WITH AFK RESEARCH</a:t>
            </a:r>
          </a:p>
        </p:txBody>
      </p:sp>
    </p:spTree>
    <p:extLst>
      <p:ext uri="{BB962C8B-B14F-4D97-AF65-F5344CB8AC3E}">
        <p14:creationId xmlns:p14="http://schemas.microsoft.com/office/powerpoint/2010/main" val="16250086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18">
            <a:extLst xmlns:a="http://schemas.openxmlformats.org/drawingml/2006/main">
              <a:ext uri="{FF2B5EF4-FFF2-40B4-BE49-F238E27FC236}">
                <a16:creationId xmlns:a16="http://schemas.microsoft.com/office/drawing/2014/main" id="{7C69CD58-4F15-4791-A30E-51B1C4CF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4D0F4-084C-4116-A6D1-34B2DC17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824E2-ED2F-4B57-9882-4DB73BBD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C67CF-4AB3-4E2C-B28C-1B9BB4FA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5AFB3-F5FB-48D8-87C3-4795F811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45164-92CE-4D2E-A5EC-77CE2B0C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EB10B-6921-45C7-97DF-FE685645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15A2A-FC49-432E-8428-F0E224B3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CCA39-4948-40B6-A1CE-6A54406A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18">
            <a:extLst xmlns:a="http://schemas.openxmlformats.org/drawingml/2006/main">
              <a:ext uri="{FF2B5EF4-FFF2-40B4-BE49-F238E27FC236}">
                <a16:creationId xmlns:a16="http://schemas.microsoft.com/office/drawing/2014/main" id="{B6548A92-ADC0-465E-AAAA-63029CA6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C2864-2446-419C-8A60-9EB765C2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38B812-4825-4A19-8D96-530A45F5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ReAct interleaves reasoning and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5255E-F642-4428-9C6E-5CA70C7C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92330-BBED-46BC-BFB5-8B8CA3A5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508DB-D6C7-4E86-BE3A-E5CCCB1F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51FEC-B487-48DF-BE01-51D6AB03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E7D62-CD74-4278-8CB7-92F5A5A0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Reason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1DDC2-15D6-4E6C-8133-ED095DF6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Form a hypothesis or decide what is missing.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617DA-9BEF-491B-8B6D-B749CF5B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581BA-A339-4594-97B8-DA194A07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030F68-09D8-4CC5-95E8-4C6B8CFE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D2EAAD-6E22-40AC-B9E0-2E1B6163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Call a tool or interact with the environment.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60B9D7-EA4D-48D3-9DA8-12B87E3D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0F7ACA-EEB3-4A30-A03F-E71DFA04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FE4872-0EAF-4EA6-A29E-5F6D4DCC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Observe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4225B3-53E7-4556-90D6-BB1CD847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Receive new evidence or a tool result.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00A3FF-63F7-4F83-AF23-9535BD87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210A4B-C3DE-4620-BEAD-315D9A90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0F38DB-7301-4666-B831-68A8491B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Revise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454173-BC04-4621-8EED-D235A1D4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Update the plan and repeat as needed.</a:t>
            </a:r>
          </a:p>
        </p:txBody>
      </p:sp>
    </p:spTree>
    <p:extLst>
      <p:ext uri="{BB962C8B-B14F-4D97-AF65-F5344CB8AC3E}">
        <p14:creationId xmlns:p14="http://schemas.microsoft.com/office/powerpoint/2010/main" val="5147849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19">
            <a:extLst xmlns:a="http://schemas.openxmlformats.org/drawingml/2006/main">
              <a:ext uri="{FF2B5EF4-FFF2-40B4-BE49-F238E27FC236}">
                <a16:creationId xmlns:a16="http://schemas.microsoft.com/office/drawing/2014/main" id="{AC43D7EE-37A2-4B93-8ACA-8E449839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A1258-060C-493C-A91F-3067D784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6067F-1E88-4D35-85FA-AF455EE0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D2D37-4803-4303-A58D-6BFDFCCF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06E65-D518-436B-BACF-D16B03F5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14232-DD25-457A-B6CB-89461BC7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5D60A-F990-4385-9F59-6EA787B2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B0375-A41C-4634-9C81-C62077EF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C8A3F-D048-47A6-BC98-6969A70A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19">
            <a:extLst xmlns:a="http://schemas.openxmlformats.org/drawingml/2006/main">
              <a:ext uri="{FF2B5EF4-FFF2-40B4-BE49-F238E27FC236}">
                <a16:creationId xmlns:a16="http://schemas.microsoft.com/office/drawing/2014/main" id="{5C67BA6C-64AA-474C-82B4-8CF5581E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A991C-F6F2-452A-B9CC-373C4F0A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C745DB-BC7D-4FB1-94CB-B31F97C8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Planning turns goals into tractable steps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1DA64-5161-4B60-B719-0D30DD78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44FD5-C472-46DF-B2C2-7896DDD4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DECOMPOSE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0AF14-CC9A-47DE-94A5-A4C6EBB0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FD4944-688F-4C27-BDCC-BFF853A0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Break a broad objective into smaller deliverables or checks.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5F371-A5CB-4E61-91BB-82A028FD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ORDER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4B803-B916-4C1A-84C8-3646E158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BAC40-7455-42E7-8C20-9C1FABA2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Place dependencies, approvals, and evidence gathering in a safe sequence.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66112-FDAC-4D0D-8648-A14CCFAB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11485-8E7C-4BD5-9B5C-61FF7957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4BFDFA-598B-4C6F-AD30-844F57CE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Change course when tools fail, evidence conflicts, or constraints appear.</a:t>
            </a:r>
          </a:p>
        </p:txBody>
      </p:sp>
    </p:spTree>
    <p:extLst>
      <p:ext uri="{BB962C8B-B14F-4D97-AF65-F5344CB8AC3E}">
        <p14:creationId xmlns:p14="http://schemas.microsoft.com/office/powerpoint/2010/main" val="9466407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20">
            <a:extLst xmlns:a="http://schemas.openxmlformats.org/drawingml/2006/main">
              <a:ext uri="{FF2B5EF4-FFF2-40B4-BE49-F238E27FC236}">
                <a16:creationId xmlns:a16="http://schemas.microsoft.com/office/drawing/2014/main" id="{9D1A19C4-94B9-4976-9339-D5E0EF3A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6C66E-51A3-4176-BB48-AF990BA5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3A386-A843-4D20-B926-3F1767F6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42A36-D7F2-4CE1-AB96-07815288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02D01-7F17-422F-86C1-658632A6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BF2B2-F6E2-47F5-BF47-D4920DC8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A61EE-352D-49BD-9BA1-570E82F5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AA1FE-4657-474D-81D7-B441E03C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B2F4B-25E2-470D-877E-3B099EB6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0">
            <a:extLst xmlns:a="http://schemas.openxmlformats.org/drawingml/2006/main">
              <a:ext uri="{FF2B5EF4-FFF2-40B4-BE49-F238E27FC236}">
                <a16:creationId xmlns:a16="http://schemas.microsoft.com/office/drawing/2014/main" id="{BC03F9CC-1B90-46FD-B5E5-A59C13EF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715EC-ED1D-41B0-BD42-3C2CE739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19B38D-0094-40D8-AFDA-A9BBD95D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Tool selection is a policy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6BDC8-B6E5-4BE9-9A85-A82D559A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122F8-6718-4011-BF23-329CA17D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C7EC4-7568-42B0-A1E1-40ADF704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54C03B-6344-4144-B74B-DE366669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Use a tool when the model lacks current state, precision, or the ability to act.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6BB8A-3520-4859-9F3E-A76F302E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WHICH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B6EB1-5164-42DD-9C09-30AD253F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6B3FC-AA6C-428C-8808-FCEF5840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Choose the narrowest tool whose capability and permissions match the step.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BA7FE-EFAA-4ADA-9801-5BC058E3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HOW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6B2E90-77C7-4ABC-82F6-19DC217F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F3485-102D-4D48-98BF-C99F2E02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Validate arguments, inspect results, and stop loops that do not converge.</a:t>
            </a:r>
          </a:p>
        </p:txBody>
      </p:sp>
    </p:spTree>
    <p:extLst>
      <p:ext uri="{BB962C8B-B14F-4D97-AF65-F5344CB8AC3E}">
        <p14:creationId xmlns:p14="http://schemas.microsoft.com/office/powerpoint/2010/main" val="21036773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21">
            <a:extLst xmlns:a="http://schemas.openxmlformats.org/drawingml/2006/main">
              <a:ext uri="{FF2B5EF4-FFF2-40B4-BE49-F238E27FC236}">
                <a16:creationId xmlns:a16="http://schemas.microsoft.com/office/drawing/2014/main" id="{DE30DB4B-659F-439A-B74A-FA4E96FF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6C69D-4DFF-4F89-9429-6C6863CC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33DF8-6E19-45E9-B53D-F04D541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EF8B4-1323-4D7D-9D60-FA881435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48FA0-864D-4BD3-8D66-7AC1CA84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8AD3F-8340-4B9E-99F8-A257E88D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304A2-19FF-4495-9C8F-47393435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DD859-50BA-4AFC-B75C-F80581C5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66CD9-DAF4-4547-B2CF-068B6BF0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1">
            <a:extLst xmlns:a="http://schemas.openxmlformats.org/drawingml/2006/main">
              <a:ext uri="{FF2B5EF4-FFF2-40B4-BE49-F238E27FC236}">
                <a16:creationId xmlns:a16="http://schemas.microsoft.com/office/drawing/2014/main" id="{3E02F1A5-8F7A-4469-B386-B5FD8EC0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3C984-D909-472C-8129-1682CC06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1118DC-FD2C-4EFE-AD32-319229CF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Memory is a lifecycle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D7932-FF31-41B8-B4A8-58DD5232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2178F-00FF-4108-B15A-AC1193EA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BDD14-294C-4611-A494-FA8AB74F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116B1-6B5C-4C1C-9274-3E986FFA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3E777-E10D-4E06-8AAA-826561C1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Capture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0B3040-2DB6-446F-B5AA-C5626D49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Record sources, events, decisions, and artifacts.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82DA7-46E9-458C-96E4-314484BB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660EC-10AD-43C2-BCDD-AA623B5F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A29A9-0A07-4DB7-94A7-3B9DAD59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Organize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C7F52C-97F7-4780-A5D1-8331665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Structure knowledge for future retrieval.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407917-4080-41CD-BE9F-CB986F6F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128673-ED33-4BE0-B350-D2287376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C91C59-986D-4C50-8408-15F7D567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Retrieve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659306-CFA8-436C-A7E0-BC7AA20A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Bring only relevant evidence into working context.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442A77-07BE-45CC-9553-0C4DA942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03513A-92AE-4D40-BC39-02514059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046579-C3AD-4765-B1AE-3EA0386B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Update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0F7338-8E73-4516-88CC-89566ABD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Correct, supersede, or archive knowledge as the project changes.</a:t>
            </a:r>
          </a:p>
        </p:txBody>
      </p:sp>
    </p:spTree>
    <p:extLst>
      <p:ext uri="{BB962C8B-B14F-4D97-AF65-F5344CB8AC3E}">
        <p14:creationId xmlns:p14="http://schemas.microsoft.com/office/powerpoint/2010/main" val="188251607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22">
            <a:extLst xmlns:a="http://schemas.openxmlformats.org/drawingml/2006/main">
              <a:ext uri="{FF2B5EF4-FFF2-40B4-BE49-F238E27FC236}">
                <a16:creationId xmlns:a16="http://schemas.microsoft.com/office/drawing/2014/main" id="{9E46386E-203E-4279-A0B5-C70A7CFA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14531-26DE-4521-BF13-BE756059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631FA-2E3D-414B-B72D-FF3BA4A4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CAFDA-89E6-4707-B26A-44A10BAA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7A3DB-2B03-4B33-9286-953F059A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59D58-EA2F-40B3-8F1B-C7DF13B5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974D4-7EB7-458A-BCFE-E4C01F9B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74C48-81F4-4032-B53E-B632EE8A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55BB5-89D7-45F0-B6E0-FB66F2D1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2">
            <a:extLst xmlns:a="http://schemas.openxmlformats.org/drawingml/2006/main">
              <a:ext uri="{FF2B5EF4-FFF2-40B4-BE49-F238E27FC236}">
                <a16:creationId xmlns:a16="http://schemas.microsoft.com/office/drawing/2014/main" id="{8E5C0DA1-9986-4BD4-8DB7-7DB93DB2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B7DCA-EBAA-44AB-8CEB-2AAD3988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A9AD72-B663-45ED-94B8-9CAA75B0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RAG grounds generation in retrieved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DAF34-338E-4B99-8D9D-731D3FE8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36B58-4D09-42CC-82E4-AC546544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RETRIEVE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E9F72-306D-4E4F-B36C-96ABB46C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20ED1-C5F2-4C48-B4D8-0602A16F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Find relevant passages from an external, updateable knowledge source.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728A7-3FF4-4E88-AF56-C9523884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AUGMENT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E895FC-F5F5-4EDB-87FE-A576A4FE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E6A57-A5E1-44D8-9A4E-F7A9839E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Place those passages and provenance in the model’s context.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2BF194-5CD1-48D3-ACEC-8E491BC7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GENERATE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FC4D2-0265-403F-8E38-C1DFE415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7BC265-05C8-447B-8913-6671EC87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Produce an answer conditioned on both model knowledge and retrieved evidence.</a:t>
            </a:r>
          </a:p>
        </p:txBody>
      </p:sp>
    </p:spTree>
    <p:extLst>
      <p:ext uri="{BB962C8B-B14F-4D97-AF65-F5344CB8AC3E}">
        <p14:creationId xmlns:p14="http://schemas.microsoft.com/office/powerpoint/2010/main" val="15838657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23">
            <a:extLst xmlns:a="http://schemas.openxmlformats.org/drawingml/2006/main">
              <a:ext uri="{FF2B5EF4-FFF2-40B4-BE49-F238E27FC236}">
                <a16:creationId xmlns:a16="http://schemas.microsoft.com/office/drawing/2014/main" id="{037DC056-B99D-49D8-BC2F-25D32F71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957B6-F819-4AA8-9E9F-21ED24CB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B293D-1C35-440D-BDFA-8A88AD9B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15BE2-564E-4206-9D6C-F5450A8A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276E6-C1F4-4FDF-A1C8-4BD12CD3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791B1-0F51-4EE7-8EAB-F0AA7000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2BD62-4463-4C58-8E23-FE3ABE67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BA6EC-68DD-413F-BDAC-00398DDC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7C9D6-07FC-41C2-A579-F17D55EF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3">
            <a:extLst xmlns:a="http://schemas.openxmlformats.org/drawingml/2006/main">
              <a:ext uri="{FF2B5EF4-FFF2-40B4-BE49-F238E27FC236}">
                <a16:creationId xmlns:a16="http://schemas.microsoft.com/office/drawing/2014/main" id="{C199EA8B-8EF9-4680-A766-071178D6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F5FF3-C322-4430-B13F-C07E976E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1CCE78-9A67-4F39-B7DD-00845468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Reflection converts outcomes into guidance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303FC-F6CF-4694-9464-60D084B4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D055E-2DEA-48F9-88E9-8B1BF971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COMPARE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750FF-6F46-4AE9-97A8-6B07AA96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EAC94-2310-4215-BFCC-A4CA9526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Did the result satisfy the objective, constraints, and evidence standard?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5BEC0-3FF1-4388-AA75-DA1A80DC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DIAGNOSE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4EE90-33EA-486C-B569-DDCE3483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55C7FB-4ABB-41F6-A1CF-276AA6AD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Was the failure caused by the plan, tool, data, permissions, or model?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3B08A-CE13-42EC-B21A-20CB8EE4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ADAPT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6CA1D1-375A-4601-8CC2-83F7D2A1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B4E985-32B4-4692-BF52-1DE1221A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Revise the next step or store a durable lesson for future work.</a:t>
            </a:r>
          </a:p>
        </p:txBody>
      </p:sp>
    </p:spTree>
    <p:extLst>
      <p:ext uri="{BB962C8B-B14F-4D97-AF65-F5344CB8AC3E}">
        <p14:creationId xmlns:p14="http://schemas.microsoft.com/office/powerpoint/2010/main" val="18185608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24">
            <a:extLst xmlns:a="http://schemas.openxmlformats.org/drawingml/2006/main">
              <a:ext uri="{FF2B5EF4-FFF2-40B4-BE49-F238E27FC236}">
                <a16:creationId xmlns:a16="http://schemas.microsoft.com/office/drawing/2014/main" id="{43A7658F-46BA-4A4A-8FDC-5BB6100E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C2600-E5CD-4924-9E33-8852E12A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9B94A-B9F1-4F0B-9D27-C734AB2D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99A38-5B18-4B04-85A0-235B0E84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B42D0-DB41-4396-8901-000A2088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6571B-77E0-4289-92F9-37FDD815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3A76D-3BF4-453A-8A4C-1D35C2B4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0712B-81F2-4D94-8814-C224F852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6804D-5B45-4ACB-A5BF-73EA2237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4">
            <a:extLst xmlns:a="http://schemas.openxmlformats.org/drawingml/2006/main">
              <a:ext uri="{FF2B5EF4-FFF2-40B4-BE49-F238E27FC236}">
                <a16:creationId xmlns:a16="http://schemas.microsoft.com/office/drawing/2014/main" id="{B4EC6B54-B298-4CFA-809B-E5B447A9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A43E4-49E1-48AC-9E9F-612DE1E8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CC2F86-A250-4F7C-9E10-8E84378C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Orchestration can stay simple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B62A1-8E4B-4C73-8629-CA024DDE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55514-6813-4EEC-9089-5C43C709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SEQUENTIAL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0A0A2-D98E-4C5D-9BBF-4BE1AA86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B877E-CB60-46E2-9423-7B74CD07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One step feeds the next. Best when dependencies are clear.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F9E89-F460-4EBE-A54B-10AE4067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PARALLEL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DBAE4-34BD-4D0E-9E3B-738E86C9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32C522-EA0C-4757-A423-CEFD7D51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Independent subtasks run together. Best when evidence can be reconciled.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2936B4-E9FF-45E8-9527-39546877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ROUTED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532D4-D6D3-44E8-ABFC-E68832D7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9F07B8-4A7F-4515-87F6-89C40086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 coordinator selects a specialized workflow. Best for recurring task families.</a:t>
            </a:r>
          </a:p>
        </p:txBody>
      </p:sp>
    </p:spTree>
    <p:extLst>
      <p:ext uri="{BB962C8B-B14F-4D97-AF65-F5344CB8AC3E}">
        <p14:creationId xmlns:p14="http://schemas.microsoft.com/office/powerpoint/2010/main" val="16996131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25">
            <a:extLst xmlns:a="http://schemas.openxmlformats.org/drawingml/2006/main">
              <a:ext uri="{FF2B5EF4-FFF2-40B4-BE49-F238E27FC236}">
                <a16:creationId xmlns:a16="http://schemas.microsoft.com/office/drawing/2014/main" id="{082BC25C-62FE-4724-B4F6-9AD44F43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E5321-9BAD-4E16-A510-3DD40479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364E3-8F56-4ADA-8003-AB821C31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42A2B-4FBA-4291-B9CC-6652061F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267A5-5B48-4E94-B201-748D5AD1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64EB3-9FDF-4261-990E-731B898E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D541E-4CBE-4935-9BBE-4FA445CA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8FAE5-9540-4483-81F2-F851C09F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B922E-1BB4-4F77-B726-8D80A7BC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5">
            <a:extLst xmlns:a="http://schemas.openxmlformats.org/drawingml/2006/main">
              <a:ext uri="{FF2B5EF4-FFF2-40B4-BE49-F238E27FC236}">
                <a16:creationId xmlns:a16="http://schemas.microsoft.com/office/drawing/2014/main" id="{80984D33-1B4E-4E24-AA32-AB3797B5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65876-37DC-419C-B8B6-7EC6ABEB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F21067-78D3-43BB-82E1-E836935B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Autonomy should rise with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F93ED-70D8-4C2B-AB8C-BD739AF9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725D4-A1E2-425E-BA2C-EEF4F5EF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E517D-816E-4884-8BD4-D5E9815B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326E0-9B7B-4D0F-84E0-5C0F1DC7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A8B47-4A94-4101-B5F5-0BD9DAD7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Suggest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0EC99-0B13-49F5-93ED-B826FDAC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Draft options; a person chooses.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CF4B3-7664-45F1-BAF8-3A690873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2B6D0-149E-4B7B-B70E-634CB49D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C08FB-456D-4504-94D4-3B80C609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Prepare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C8B0C-1388-40A3-9CB1-30BA55E9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Create artifacts; a person reviews.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45C22-354C-4B24-9FE3-373DC144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1D3E0-2E32-4F47-BDE6-39076892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E04F09-F590-47D0-87F2-D2C769B1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Execute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A1FFE0-2DD2-419A-92A1-A319B2AB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Act within narrow, reversible limits.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98DA42-43F7-4F61-85C3-6B023978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FBE29B-8EC5-4447-9B0A-3D4631E5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F23E08-3E85-48C5-AD4F-9E683AD9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Monitor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53B12F-C2FC-421C-825C-30976020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Run repeatedly with logs, thresholds, and stop conditions.</a:t>
            </a:r>
          </a:p>
        </p:txBody>
      </p:sp>
    </p:spTree>
    <p:extLst>
      <p:ext uri="{BB962C8B-B14F-4D97-AF65-F5344CB8AC3E}">
        <p14:creationId xmlns:p14="http://schemas.microsoft.com/office/powerpoint/2010/main" val="194811544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26">
            <a:extLst xmlns:a="http://schemas.openxmlformats.org/drawingml/2006/main">
              <a:ext uri="{FF2B5EF4-FFF2-40B4-BE49-F238E27FC236}">
                <a16:creationId xmlns:a16="http://schemas.microsoft.com/office/drawing/2014/main" id="{C6AA78FF-75AF-4B60-8455-B53F9EAD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63EBC-9A81-423C-98CA-A388E238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DC82D-7B08-48DB-92FA-5D35CF6F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D6AC0-07E4-47F3-8A11-1EE630B1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BAC0F-9D21-4139-BF7B-93D9F44A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A77C1-25BA-4C26-8809-6F1205F0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0B9D5-C84F-4D71-AADE-E032953A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896D0-EC2A-413A-81D1-33C0768F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4ECC2-DDA9-4DBE-8DD7-701A9E3D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6">
            <a:extLst xmlns:a="http://schemas.openxmlformats.org/drawingml/2006/main">
              <a:ext uri="{FF2B5EF4-FFF2-40B4-BE49-F238E27FC236}">
                <a16:creationId xmlns:a16="http://schemas.microsoft.com/office/drawing/2014/main" id="{8D8708F2-0D3F-48F2-AFF5-1294A725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87851-BFAC-4DAA-8412-0F5AC4FA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36B0AE-15CF-452A-8D3C-262FE63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Failure is usually systemic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98B4E-96F0-4630-93B5-D7D5D8BC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A8BE9-1614-4F53-BB86-F1519C95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KNOWLEDGE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F7E71-A49E-4949-9573-9F1D237E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56D15D-2BF0-4FC3-AB04-9EFA1A71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Hallucinated facts, stale evidence, weak retrieval, missing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C22DB-0EA3-48C7-A268-B8649B0B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630A45-4E25-42BF-9002-E5274A43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BE8F1B-D2C3-4EC6-9370-72BF86E6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Wrong tool, malformed arguments, unintended writes, repeated loops.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CB992-D530-470C-AF3C-E5112ECE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GOVERNANCE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DFA03-6A0E-451B-BFC4-39FB4740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463F3-9E57-4791-9227-34BDAE4F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Unclear ownership, hidden provenance, privacy leakage, premature publication.</a:t>
            </a:r>
          </a:p>
        </p:txBody>
      </p:sp>
    </p:spTree>
    <p:extLst>
      <p:ext uri="{BB962C8B-B14F-4D97-AF65-F5344CB8AC3E}">
        <p14:creationId xmlns:p14="http://schemas.microsoft.com/office/powerpoint/2010/main" val="46639694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metadata-rail-27">
            <a:extLst xmlns:a="http://schemas.openxmlformats.org/drawingml/2006/main">
              <a:ext uri="{FF2B5EF4-FFF2-40B4-BE49-F238E27FC236}">
                <a16:creationId xmlns:a16="http://schemas.microsoft.com/office/drawing/2014/main" id="{C9D4600C-8C17-45A8-BF42-B74A0F57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47D1B-5325-4E31-891E-ABBAE4BD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18600-1A03-404A-968E-0CF9A1DD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A00F9-C74B-46BA-B810-34303392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50DA9-BA12-4D89-86CD-8EDC107A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6CCA2-FDC3-49B8-A259-4495B228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2213E-31CA-4FEA-B47D-EE7C7271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0FBFC-7CCE-4261-A464-57D88103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AED09-A0F8-4C84-9D95-11A12A0D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7">
            <a:extLst xmlns:a="http://schemas.openxmlformats.org/drawingml/2006/main">
              <a:ext uri="{FF2B5EF4-FFF2-40B4-BE49-F238E27FC236}">
                <a16:creationId xmlns:a16="http://schemas.microsoft.com/office/drawing/2014/main" id="{98419807-8649-41A2-B600-A2859656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4C19E-0866-4DAE-8ABD-1B373B5B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30F4F5-C21E-4C9B-9F71-14EDDDCC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Keep the human at the decision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E3BB5-1B4F-4337-B548-6AAEE2DE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BD50D-5266-483C-862B-CD79FD65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C000"/>
                </a:solidFill>
              </a:defRPr>
            </a:pPr>
            <a:r>
              <a:rPr sz="1275" b="1" i="0">
                <a:solidFill>
                  <a:srgbClr val="FFC000"/>
                </a:solidFill>
              </a:rPr>
              <a:t>AREA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09E40-AEA4-4C4D-A0E0-B1382595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C000"/>
                </a:solidFill>
              </a:defRPr>
            </a:pPr>
            <a:r>
              <a:rPr sz="1275" b="1" i="0">
                <a:solidFill>
                  <a:srgbClr val="FFC000"/>
                </a:solidFill>
              </a:rPr>
              <a:t>AGENT PREPARES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74F86-D28A-408E-A864-EC4F9163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C000"/>
                </a:solidFill>
              </a:defRPr>
            </a:pPr>
            <a:r>
              <a:rPr sz="1275" b="1" i="0">
                <a:solidFill>
                  <a:srgbClr val="FFC000"/>
                </a:solidFill>
              </a:rPr>
              <a:t>HUMAN DECIDES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50D73-CEFE-4A97-941E-9410032D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409E65-AC0C-4B9B-8671-11B6A747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C000"/>
                </a:solidFill>
              </a:defRPr>
            </a:pPr>
            <a:r>
              <a:rPr sz="1650" b="1" i="0">
                <a:solidFill>
                  <a:srgbClr val="FFC000"/>
                </a:solidFill>
              </a:rPr>
              <a:t>Research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A0D5C-9A89-417A-A4D6-16C0C13F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Search, organize, draft, compare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08C3F3-1DAA-4A72-9E24-65AFD640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Validate sources, interpretation, and claims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421C9-B98A-4300-A6CC-2AF00AEF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3C6623-F463-4B08-89BA-127A62A1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C000"/>
                </a:solidFill>
              </a:defRPr>
            </a:pPr>
            <a:r>
              <a:rPr sz="1650" b="1" i="0">
                <a:solidFill>
                  <a:srgbClr val="FFC000"/>
                </a:solidFill>
              </a:rPr>
              <a:t>Education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BEC795-9972-418E-9A23-E41F7D2C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433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Prepare materials, examples, feedback drafts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BEBFC-69A4-471E-B422-3191CE94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Approve objectives, assessment, grades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A59B6E-5E1A-415E-BB66-234BDB3A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C6AA92-E433-4A08-8523-F501650B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C000"/>
                </a:solidFill>
              </a:defRPr>
            </a:pPr>
            <a:r>
              <a:rPr sz="1650" b="1" i="0">
                <a:solidFill>
                  <a:srgbClr val="FFC000"/>
                </a:solidFill>
              </a:rPr>
              <a:t>Community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F2CF3-B321-4EA6-A564-460E0B7E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386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Adapt formats and draft public assets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794ACC-29E5-428C-8A91-01B8C8CB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386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Confirm consent, context, accessibility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3CC6F5-394F-4467-AC27-1FF0E2CA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7E2B7B-C16D-49EB-85D3-0DA7788F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C000"/>
                </a:solidFill>
              </a:defRPr>
            </a:pPr>
            <a:r>
              <a:rPr sz="1650" b="1" i="0">
                <a:solidFill>
                  <a:srgbClr val="FFC000"/>
                </a:solidFill>
              </a:rPr>
              <a:t>Publication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78E538-04B2-4A2E-9E9A-5C6854C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340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Assemble a reviewed export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2C38E5-4D7A-4881-AD53-8CA8FF19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Approve the exact release</a:t>
            </a:r>
          </a:p>
        </p:txBody>
      </p:sp>
    </p:spTree>
    <p:extLst>
      <p:ext uri="{BB962C8B-B14F-4D97-AF65-F5344CB8AC3E}">
        <p14:creationId xmlns:p14="http://schemas.microsoft.com/office/powerpoint/2010/main" val="177270964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28">
            <a:extLst xmlns:a="http://schemas.openxmlformats.org/drawingml/2006/main">
              <a:ext uri="{FF2B5EF4-FFF2-40B4-BE49-F238E27FC236}">
                <a16:creationId xmlns:a16="http://schemas.microsoft.com/office/drawing/2014/main" id="{DAF0C4F2-0A61-4149-9BE0-A62E2F4D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63EFC-426D-4936-A6E6-E114CFDB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327CB-29F7-41E5-AEB5-EC0B65E3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THEORY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2120E-40FC-414E-9F74-65FED717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D1C0F-10FC-4782-878D-E26E399E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7763E-F8D0-44DD-99DD-440F5913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0092A-5ED4-4E81-9608-BA0D0D47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EE8E6-8A00-4B84-A9C7-73883F51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B467D-B69A-4995-9596-75681866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28">
            <a:extLst xmlns:a="http://schemas.openxmlformats.org/drawingml/2006/main">
              <a:ext uri="{FF2B5EF4-FFF2-40B4-BE49-F238E27FC236}">
                <a16:creationId xmlns:a16="http://schemas.microsoft.com/office/drawing/2014/main" id="{1D3D703A-AAEA-4B5C-B1B5-B94D3959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921F0-241E-48E1-A77A-372D12AD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4DCF0C-98C5-4A02-ACA2-130F88B6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Evaluate the whole agent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E4F9A-616E-483B-B432-EEC1EF30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BFAA7-96A8-4435-909C-175BF63A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8F07C-A493-41C3-A37A-E4E673A0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342CE-920E-407F-837E-A3271756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Correctness, relevance, clarity, and traceable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3BD45-94A3-4938-8962-D728065E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PROCESS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2B10E-1F19-4D78-9815-21A5318B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9FA4C-F90B-487C-8B9F-B163FBC4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Task completion, tool reliability, recovery, cost, and time.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9E00B-8DDB-4EAF-BD29-0CF973AF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CF0CE-9230-413A-99AC-FBF5624A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43E034-1B4A-4711-953D-BCA93EA6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Privacy, bias, security, reversibility, and human oversight.</a:t>
            </a:r>
          </a:p>
        </p:txBody>
      </p:sp>
    </p:spTree>
    <p:extLst>
      <p:ext uri="{BB962C8B-B14F-4D97-AF65-F5344CB8AC3E}">
        <p14:creationId xmlns:p14="http://schemas.microsoft.com/office/powerpoint/2010/main" val="129813926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0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0E055-9BB6-479D-AB81-CE2E5295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188C1-96A8-4982-866E-1175298E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0"/>
            <a:ext cx="809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4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59507-CCC1-4959-968C-88DD4114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F1950-256D-4116-8A9C-6A46007C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014A74"/>
                </a:solidFill>
              </a:defRPr>
            </a:pPr>
            <a:r>
              <a:rPr sz="8850" b="1" i="0">
                <a:solidFill>
                  <a:srgbClr val="014A7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05A7F-E726-4EE0-8093-B1580449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FFFFFF"/>
                </a:solidFill>
              </a:defRPr>
            </a:pPr>
            <a:r>
              <a:rPr sz="4350" b="0" i="0">
                <a:solidFill>
                  <a:srgbClr val="FFFFFF"/>
                </a:solidFill>
              </a:rPr>
              <a:t>ACADEMIC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E873E-9A90-4D36-85B8-BB881C7E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Map one agentic workspace to the distinct responsibilities of Tri Dharma.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CCECC-59C3-4CB0-9A63-69FA0F78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8DBED-161C-41DF-AD99-F5F7FB14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14A74"/>
                </a:solidFill>
              </a:defRPr>
            </a:pPr>
            <a:r>
              <a:rPr sz="975" b="1" i="0">
                <a:solidFill>
                  <a:srgbClr val="014A74"/>
                </a:solidFill>
              </a:rPr>
              <a:t>CREATED WITH AFK RESEARCH</a:t>
            </a:r>
          </a:p>
        </p:txBody>
      </p:sp>
    </p:spTree>
    <p:extLst>
      <p:ext uri="{BB962C8B-B14F-4D97-AF65-F5344CB8AC3E}">
        <p14:creationId xmlns:p14="http://schemas.microsoft.com/office/powerpoint/2010/main" val="59264871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metadata-rail-30">
            <a:extLst xmlns:a="http://schemas.openxmlformats.org/drawingml/2006/main">
              <a:ext uri="{FF2B5EF4-FFF2-40B4-BE49-F238E27FC236}">
                <a16:creationId xmlns:a16="http://schemas.microsoft.com/office/drawing/2014/main" id="{9085034B-CE35-42BE-B860-A4B1BAF3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03244-67A1-4E53-95CB-0CE57AE2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9B505-F145-4AE6-B3DB-A9C39D09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A25D0-93FF-4BD9-B081-0CE833A6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72F63-6FD4-4A34-9A2D-6F6C9CF9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F45C1-6DAF-436B-ADA5-751E5DC8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64116-0E54-409D-8CBF-BFC47EE0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50A30-D257-4632-8F9A-A93AF3F2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0ADED-0928-4E92-8671-8144147C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0">
            <a:extLst xmlns:a="http://schemas.openxmlformats.org/drawingml/2006/main">
              <a:ext uri="{FF2B5EF4-FFF2-40B4-BE49-F238E27FC236}">
                <a16:creationId xmlns:a16="http://schemas.microsoft.com/office/drawing/2014/main" id="{82B965F7-0CEE-4CF9-9BE8-F4159A25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F8EE1-CB02-46E9-9DAE-B022B9AE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922019-4B6A-46E5-9732-1E960E4E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Three obligations need three operational homes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20BD3-325A-4C50-8D48-FF0DA7A5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653BE-DC8A-4388-A7A7-4175D907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.BRAIN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EC529-B82D-431C-B3A8-9ECED265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80E64-8502-4622-A6CC-81BB167A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Sources, knowledge, questions, syntheses, and research outputs.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577DA-0A1F-4789-926B-54E44A48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D5DC"/>
                </a:solidFill>
              </a:defRPr>
            </a:pPr>
            <a:r>
              <a:rPr sz="1275" b="1" i="0">
                <a:solidFill>
                  <a:srgbClr val="C8D5DC"/>
                </a:solidFill>
              </a:rPr>
              <a:t>Research continuity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201C4-EA4A-4614-A816-D776AB06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.SCHEDULE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34A7B-F581-4EFB-8503-CDAE5760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FD850-400B-4B92-95D4-C9FA00F3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Recurring prompts, teaching rhythms, checks, and planned follow-ups.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C15E4-CF1F-4EEB-9AD7-79A1BF48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245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D5DC"/>
                </a:solidFill>
              </a:defRPr>
            </a:pPr>
            <a:r>
              <a:rPr sz="1275" b="1" i="0">
                <a:solidFill>
                  <a:srgbClr val="C8D5DC"/>
                </a:solidFill>
              </a:rPr>
              <a:t>Operational continuity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4B38A-C6A3-4EC0-946A-3C93DA95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.DESIGN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D1050A-61F6-4EAF-93EB-5EA27297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B053C9-F4EE-48B7-A2FA-A7564494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Visual rules, templates, examples, and consistent audience-facing artifacts.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191D35-9A3D-4D15-B30C-CAAAEFFA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245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D5DC"/>
                </a:solidFill>
              </a:defRPr>
            </a:pPr>
            <a:r>
              <a:rPr sz="1275" b="1" i="0">
                <a:solidFill>
                  <a:srgbClr val="C8D5DC"/>
                </a:solidFill>
              </a:rPr>
              <a:t>Communication continuity</a:t>
            </a:r>
          </a:p>
        </p:txBody>
      </p:sp>
    </p:spTree>
    <p:extLst>
      <p:ext uri="{BB962C8B-B14F-4D97-AF65-F5344CB8AC3E}">
        <p14:creationId xmlns:p14="http://schemas.microsoft.com/office/powerpoint/2010/main" val="139949068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31">
            <a:extLst xmlns:a="http://schemas.openxmlformats.org/drawingml/2006/main">
              <a:ext uri="{FF2B5EF4-FFF2-40B4-BE49-F238E27FC236}">
                <a16:creationId xmlns:a16="http://schemas.microsoft.com/office/drawing/2014/main" id="{43BCA1E5-B716-4EBC-83CC-86BCC8EE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BD77C-35D1-4CFD-BBD7-E64D8270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FCCF4-CB5B-4370-BE67-260225C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F8D6C-7290-4D16-8BD0-38238615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06A5A-2B90-4A52-A083-281BB27B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E88FE-2873-4E60-A50C-2F296288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C9E3D-81A5-4B12-907B-8496942B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1224F-65AF-419C-BAB9-BD764CE2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7F9B8-9FEF-4D47-889B-EEC0031B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1">
            <a:extLst xmlns:a="http://schemas.openxmlformats.org/drawingml/2006/main">
              <a:ext uri="{FF2B5EF4-FFF2-40B4-BE49-F238E27FC236}">
                <a16:creationId xmlns:a16="http://schemas.microsoft.com/office/drawing/2014/main" id="{64E392CB-F1C9-4C09-8E86-ABF098AF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10E6D-3867-4B06-8BAA-D0A6C952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102AD2-1AE9-475B-9D66-94DCA2C1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One source, three reviewed outcomes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1CB2A-8516-47CC-AA34-26624F2C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39C05-752F-412B-8EF4-D7ABE41F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8243B-A5A7-4CD2-ACC3-3BB6F586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CC7FD-32A1-4184-BCC6-CDADCA8A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866F0-3D98-4593-8E33-1B3CF377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Ingest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2F372-1167-4549-BB2E-C5364606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Capture the source and its provenance.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63C5D5-4B7D-4F42-B8D6-EEF6083A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7D2118-1224-4652-97EC-EC23C350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12C6BD-4BEF-4A63-B1FC-E6890CBB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Synthesize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1CD1E3-BA9D-455B-9313-52A52224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Extract concepts, claims, and open questions.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D50743-5315-451C-9E27-8E0A4512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AC93C-9B72-4FDE-8E46-43E4093F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FE593E-D25F-4D30-9985-30A94423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327287-9687-4F70-AE91-69DD7C4D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Adapt for research, teaching, or community use.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1F2D5F-4F06-4FCF-B07B-FD34B916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C8FE3C-EBBE-4A78-80A0-E8B8C76F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433D32-F523-455F-98DF-5A987296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25BC5B-4465-4030-994B-B2211CD6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Apply domain, privacy, and release checks.</a:t>
            </a:r>
          </a:p>
        </p:txBody>
      </p:sp>
    </p:spTree>
    <p:extLst>
      <p:ext uri="{BB962C8B-B14F-4D97-AF65-F5344CB8AC3E}">
        <p14:creationId xmlns:p14="http://schemas.microsoft.com/office/powerpoint/2010/main" val="18815585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32">
            <a:extLst xmlns:a="http://schemas.openxmlformats.org/drawingml/2006/main">
              <a:ext uri="{FF2B5EF4-FFF2-40B4-BE49-F238E27FC236}">
                <a16:creationId xmlns:a16="http://schemas.microsoft.com/office/drawing/2014/main" id="{E80CE844-20F8-4A53-8608-F8481776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FBCA1-DC80-4743-A65C-DF123752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7BB64-1F97-480E-9BAD-123E449F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8CFCE-BF05-4B2E-9C61-6BC5C655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2B2D0-58FD-4648-BA05-9531484D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5A316-E5A9-4FB2-83D2-AB7EC233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22287-EAAD-48A6-84FA-B0A017FC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08979-C99E-449B-B332-306D14AB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3BFCF-39B2-4EA4-B0AD-F202672C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2">
            <a:extLst xmlns:a="http://schemas.openxmlformats.org/drawingml/2006/main">
              <a:ext uri="{FF2B5EF4-FFF2-40B4-BE49-F238E27FC236}">
                <a16:creationId xmlns:a16="http://schemas.microsoft.com/office/drawing/2014/main" id="{4921EF4D-F340-446D-A332-D8AA9508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5E31A-935F-4870-8B1C-31B7C96F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44B931-DA79-42F0-B2EB-BDEF47B7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Research workspace: evidence before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99870-0DB8-4D42-A56B-B79B5453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037DB-69AB-47C0-A721-E50021FC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B441E-773F-4C59-BF10-21FE848E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6EA63-8725-42FC-B2DA-17C4CF53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Immutable captures and provenance records.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D40BC-9444-4663-A81F-04EC0086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WIKI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42F7A-074E-4165-85C2-1DE9849B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98098-2631-44A1-9710-025FD222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Maintained concepts, claims, questions, and syntheses.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5100B-0A00-4213-B63E-A71C35E2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7E5A3C-D438-451D-9FBB-A8D919FB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3FF71-FB88-48CC-BBF1-1C2349C1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Drafts and artifacts that link back to evidence.</a:t>
            </a:r>
          </a:p>
        </p:txBody>
      </p:sp>
    </p:spTree>
    <p:extLst>
      <p:ext uri="{BB962C8B-B14F-4D97-AF65-F5344CB8AC3E}">
        <p14:creationId xmlns:p14="http://schemas.microsoft.com/office/powerpoint/2010/main" val="22403670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33">
            <a:extLst xmlns:a="http://schemas.openxmlformats.org/drawingml/2006/main">
              <a:ext uri="{FF2B5EF4-FFF2-40B4-BE49-F238E27FC236}">
                <a16:creationId xmlns:a16="http://schemas.microsoft.com/office/drawing/2014/main" id="{65CD10A5-E4F3-45A7-8F7A-16D5DFA3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89993-1F19-41A0-9D1F-81344A87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33051-E877-4BAB-B882-D0074FBD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6E5B3-6C23-462F-9A01-770FD06F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731C0-FE4E-44D0-887E-827D0712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67890-B169-4D83-8675-6A6BCD79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510F2-B679-4D9B-A3A6-A98D71D1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78677-ED71-4518-AF63-9E66E0DA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327F6-F4DE-43AB-BB5C-40679392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3">
            <a:extLst xmlns:a="http://schemas.openxmlformats.org/drawingml/2006/main">
              <a:ext uri="{FF2B5EF4-FFF2-40B4-BE49-F238E27FC236}">
                <a16:creationId xmlns:a16="http://schemas.microsoft.com/office/drawing/2014/main" id="{AF1FD377-DFAB-4E8B-93B7-1983E7EE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CD560-033B-4A4F-9397-EB105039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52ED56-538C-42D4-82F4-DF48627B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Education workspace: repeatable preparation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DC753-6430-44D4-B977-BF766731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C38B9-EB88-4FAF-AA99-41EC5CDA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08C86-A710-4BA9-AA6F-55135272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B92F1-4D65-4C0A-8147-D0261CD5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Start from learning outcomes, misconceptions, and authentic tasks.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E5C2C-7E1F-42A6-863E-68B376CE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PRODUCE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3AAFE7-3442-495E-A79F-2A4E48A4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EB606-A71B-486C-BAF3-741F5F1A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Generate examples, slides, activities, rubrics, and feedback drafts.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B8A7E-0209-4795-8692-94377307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7B22E-4C82-4DB7-8D9B-C4DE912D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EB9728-77BC-43F2-BC1D-0649038F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Check pedagogy, accessibility, integrity, and student data handling.</a:t>
            </a:r>
          </a:p>
        </p:txBody>
      </p:sp>
    </p:spTree>
    <p:extLst>
      <p:ext uri="{BB962C8B-B14F-4D97-AF65-F5344CB8AC3E}">
        <p14:creationId xmlns:p14="http://schemas.microsoft.com/office/powerpoint/2010/main" val="79461878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34">
            <a:extLst xmlns:a="http://schemas.openxmlformats.org/drawingml/2006/main">
              <a:ext uri="{FF2B5EF4-FFF2-40B4-BE49-F238E27FC236}">
                <a16:creationId xmlns:a16="http://schemas.microsoft.com/office/drawing/2014/main" id="{9DCFDF1C-87DB-4C9C-9601-7D2A566A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4B959-3500-4233-AB78-97DFBBBC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447AE-FC97-40D1-881F-9C3C9A24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3AFFB-CA90-4585-ADA3-5D24504D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5D35F-04D5-48DC-BED9-912F147D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F010B-BC2D-479F-9600-DA05796B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394DB-0C89-4325-AA95-EADF9924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E10EA-6934-4BF3-AD7D-3137078F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E8D76-3B7F-4B88-B1BD-664BCF6A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4">
            <a:extLst xmlns:a="http://schemas.openxmlformats.org/drawingml/2006/main">
              <a:ext uri="{FF2B5EF4-FFF2-40B4-BE49-F238E27FC236}">
                <a16:creationId xmlns:a16="http://schemas.microsoft.com/office/drawing/2014/main" id="{0BAE8C4F-974D-4630-BAEB-74F85005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A7737-6D1C-434C-B10E-4399F958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393BCF-FB69-4FCA-A4F6-E5BFC861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Community workspace: translate with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349DA-02B1-400C-A08C-EBB0EC1E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BB9EA-9E51-49C5-95F5-2F11483A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45995-0E83-4A84-8F9F-37CCE32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AECDC-2A51-4AC1-9F0F-E9A95175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Identify community goals, language, constraints, and consent.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3CEDE-AB74-4CC6-8056-8579F68C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FORMAT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70D82-3F2F-48A5-8221-170097B1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190A30-15B2-4CCA-9586-8C8185C1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Choose accessible media, visual conventions, and distribution channels.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CDFA7B-A4F4-4A5C-BAEC-52AFD317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FEEDBACK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95AEF7-2AAA-4F65-AE1F-2BA5455E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8C35CA-C5B3-4AEB-84A6-B018DE9E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Record questions and outcomes as new evidence for the project.</a:t>
            </a:r>
          </a:p>
        </p:txBody>
      </p:sp>
    </p:spTree>
    <p:extLst>
      <p:ext uri="{BB962C8B-B14F-4D97-AF65-F5344CB8AC3E}">
        <p14:creationId xmlns:p14="http://schemas.microsoft.com/office/powerpoint/2010/main" val="47746674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35">
            <a:extLst xmlns:a="http://schemas.openxmlformats.org/drawingml/2006/main">
              <a:ext uri="{FF2B5EF4-FFF2-40B4-BE49-F238E27FC236}">
                <a16:creationId xmlns:a16="http://schemas.microsoft.com/office/drawing/2014/main" id="{1ED23695-E896-4B36-A344-551063A6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BE85A-1C7A-48BF-95DA-62505633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0BC00-F0CF-4B70-98D4-F41BDABB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D0DF9-32E5-424F-8E65-60F3F020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15B8B-802F-4D9D-837F-9B05D1A6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2E95E-6FE7-473C-9C8D-5C70ABB5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BB455-0346-4540-80B4-98A70AF5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7BAD4-8979-4FF2-A0F0-241D82D3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A9B28-6833-4B50-AA7D-EA56D69F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5">
            <a:extLst xmlns:a="http://schemas.openxmlformats.org/drawingml/2006/main">
              <a:ext uri="{FF2B5EF4-FFF2-40B4-BE49-F238E27FC236}">
                <a16:creationId xmlns:a16="http://schemas.microsoft.com/office/drawing/2014/main" id="{42BE4B9B-D54C-40BE-85D5-A2F698A5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36FB3-CBA0-4EDC-9892-F5C8FBCD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D67773-9FE9-4960-9258-B5085C93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GitHub becomes the coordination backbone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A5537-70CB-414F-918F-F295A781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2B1ED-0875-4600-8641-2952DAB9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ISSUES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C90C3-7D07-4A16-811A-D3B4EBCD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CD44F-DD61-4F6F-9FBD-607F7FD5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Turn goals and open questions into visible, assignable 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F6472-53F1-48A4-B427-BEFCDD08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COMMITS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70B7E-D09D-4B29-AB8E-020E7E7A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C4647-F949-4C2E-B348-75BDB325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Preserve incremental changes and the reasoning attached to them.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3D93ED-9143-4BF4-96FC-79822BEB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REVIEWS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161671-56FD-4021-92EE-E7DB1954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EE52F9-CEB3-4BD7-A3BA-AF3A66CC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Create explicit checkpoints before sensitive changes or releases.</a:t>
            </a:r>
          </a:p>
        </p:txBody>
      </p:sp>
    </p:spTree>
    <p:extLst>
      <p:ext uri="{BB962C8B-B14F-4D97-AF65-F5344CB8AC3E}">
        <p14:creationId xmlns:p14="http://schemas.microsoft.com/office/powerpoint/2010/main" val="34555988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36">
            <a:extLst xmlns:a="http://schemas.openxmlformats.org/drawingml/2006/main">
              <a:ext uri="{FF2B5EF4-FFF2-40B4-BE49-F238E27FC236}">
                <a16:creationId xmlns:a16="http://schemas.microsoft.com/office/drawing/2014/main" id="{E39B39F1-75A8-4F8C-8DBB-0A2F9362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CB808-8DF0-4A23-988A-D4E1F83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625B2-2756-448E-905A-C9289CE4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ACADEMIC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7E3C9-C906-4BAB-9EE2-2E5A78EF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9D166-D981-4936-9FD9-D2CC0EBC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FEA17-0A39-4F8F-9882-F1DE1C21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7E1FE-7180-4AA7-9A52-5AD6419F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78C03-76BC-4B18-BBA5-4EAC13F0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737C1-BA70-4FFD-81ED-3A3CDCB2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6">
            <a:extLst xmlns:a="http://schemas.openxmlformats.org/drawingml/2006/main">
              <a:ext uri="{FF2B5EF4-FFF2-40B4-BE49-F238E27FC236}">
                <a16:creationId xmlns:a16="http://schemas.microsoft.com/office/drawing/2014/main" id="{5360EDB6-F515-467F-A881-5B2A4059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E5B47-76D6-42DF-A0BB-F9E35B11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91F1CD-85D1-4D3E-8C7B-ABE48E6B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Separate private work from public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56589-F5A0-463F-A537-AA222319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2DB48-EFFC-465D-B71C-9438355D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PRIVATE 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3634A-BD02-4CD3-9D52-3BBE3777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A2712-5BCA-440E-BBBB-9AC2B991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Raw data, student information, internal notes, unpublished research, and full history.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1E1CD-C98A-44EE-813F-63D22255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REVIEWED EXPORT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1A16E-7588-4357-BEB2-B1B505CD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B7E645-7CCB-41EE-9DBA-58583301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Only selected files, checked for rights, privacy, accuracy, and context.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156F89-03F4-4669-91B2-2767B6FA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PUBLIC RELEASE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1DC32-9F9E-4EC8-987D-3D1E1716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191CEA-83D1-445F-877A-54163086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Separate history and explicit human approval for each publication.</a:t>
            </a:r>
          </a:p>
        </p:txBody>
      </p:sp>
    </p:spTree>
    <p:extLst>
      <p:ext uri="{BB962C8B-B14F-4D97-AF65-F5344CB8AC3E}">
        <p14:creationId xmlns:p14="http://schemas.microsoft.com/office/powerpoint/2010/main" val="148029072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0F2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1F918-16D5-4B37-B3B4-69F806F2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C780E-107B-497E-8A1C-4782B86C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0"/>
            <a:ext cx="809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4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11A16-5A6F-4D14-9C41-8F97B5F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D3202-E454-42FA-B579-DDCDB03B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014A74"/>
                </a:solidFill>
              </a:defRPr>
            </a:pPr>
            <a:r>
              <a:rPr sz="8850" b="1" i="0">
                <a:solidFill>
                  <a:srgbClr val="014A7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8E11D-020C-4CC1-ACBE-3FB2550C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FFFFFF"/>
                </a:solidFill>
              </a:defRPr>
            </a:pPr>
            <a:r>
              <a:rPr sz="4350" b="0" i="0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3AFBC-D0CE-428A-BC58-16E59DDD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Build the workspace carefully—and separate the MVP from the vision.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9D1BF-15F6-418E-95C1-999EE579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59937-C7CC-400B-9306-C5A948F0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14A74"/>
                </a:solidFill>
              </a:defRPr>
            </a:pPr>
            <a:r>
              <a:rPr sz="975" b="1" i="0">
                <a:solidFill>
                  <a:srgbClr val="014A74"/>
                </a:solidFill>
              </a:rPr>
              <a:t>CREATED WITH AFK RESEARCH</a:t>
            </a:r>
          </a:p>
        </p:txBody>
      </p:sp>
    </p:spTree>
    <p:extLst>
      <p:ext uri="{BB962C8B-B14F-4D97-AF65-F5344CB8AC3E}">
        <p14:creationId xmlns:p14="http://schemas.microsoft.com/office/powerpoint/2010/main" val="135336120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38">
            <a:extLst xmlns:a="http://schemas.openxmlformats.org/drawingml/2006/main">
              <a:ext uri="{FF2B5EF4-FFF2-40B4-BE49-F238E27FC236}">
                <a16:creationId xmlns:a16="http://schemas.microsoft.com/office/drawing/2014/main" id="{B7CB0F43-1578-4168-B434-16D47777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C8C6C-CC97-48E0-934E-C035496D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1A14F-8550-483F-8234-AF43C25A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20C78-2D78-486D-BD4F-8D7054F4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8A7C3-3E78-42BB-8979-647DB28B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61B97-84FB-4A23-881D-DD4883F7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EDAD1-34EE-4890-9205-E94A047F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F5136-3B7D-4A1C-96F2-E0314FBF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8B983-9F6E-46FA-ACDF-B07BCC8F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8">
            <a:extLst xmlns:a="http://schemas.openxmlformats.org/drawingml/2006/main">
              <a:ext uri="{FF2B5EF4-FFF2-40B4-BE49-F238E27FC236}">
                <a16:creationId xmlns:a16="http://schemas.microsoft.com/office/drawing/2014/main" id="{7154BDBC-42AE-4EC8-B0F2-74861D7B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35709-731E-4349-8BBD-9518096B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8CF3A4-687C-4228-99A8-B14C4A9A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AFK Research: what exists today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B401C-965D-49FC-A931-FF700EC9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EF550-A222-4BA8-847F-9B602805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IMPLEMENTED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98B0F-83B8-4CE4-AC32-CD4761D8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5A92E-193A-4BA2-94E3-FCEEBA5F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 private GitHub-hosted setup CLI, workspace scaffolding, bundled skills, managed updates, and Schedule Runner infrastructure.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382DD-3723-448C-A0F8-C8500DB4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COMPOSED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E999F-F181-4DD2-BD55-3A0A6FD8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A5C68-88DF-4C8F-9FFD-EA9865F2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Research ingestion, presentations, design, and scheduled prompts can be assembled through installed skills and tools.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B63891-EDD3-4365-A0D1-621458AE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VISION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5A347B-0FB8-47C8-88B5-C05CDD1C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80A5B6-23E0-4E44-B5FC-CB1D2140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One-command Tri Dharma transformation, automatic grading, and automatic public portfolio updates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23988686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39">
            <a:extLst xmlns:a="http://schemas.openxmlformats.org/drawingml/2006/main">
              <a:ext uri="{FF2B5EF4-FFF2-40B4-BE49-F238E27FC236}">
                <a16:creationId xmlns:a16="http://schemas.microsoft.com/office/drawing/2014/main" id="{759722EC-70EF-4557-8C36-2AC78BC0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29C50-2DF6-4013-AD7F-0DAB704B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AA00C-BD8E-4D90-A79C-97F48A89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934F1-7624-4682-A6F9-94F8D6DC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C1DCB-E585-4A27-924A-DAECACE0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90A0C-2D7C-4D24-9011-8874DFFD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76229-7069-4F21-B76F-1AD25CC1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A9000-1C5A-4416-8A43-8C0E44AC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09AE4-D476-4E91-B33E-63CF0027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39">
            <a:extLst xmlns:a="http://schemas.openxmlformats.org/drawingml/2006/main">
              <a:ext uri="{FF2B5EF4-FFF2-40B4-BE49-F238E27FC236}">
                <a16:creationId xmlns:a16="http://schemas.microsoft.com/office/drawing/2014/main" id="{51289F17-9136-4A58-A531-8AF52765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D73DC-63D9-45BC-BE90-D9DCA68C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90095-8288-4C55-9FEA-AF9B1C64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000"/>
                </a:solidFill>
              </a:defRPr>
            </a:pPr>
            <a:r>
              <a:rPr sz="1125" b="1" i="0">
                <a:solidFill>
                  <a:srgbClr val="FFC000"/>
                </a:solidFill>
              </a:rPr>
              <a:t>AFK RESEARCH · PRODUCT EXAMPLE</a:t>
            </a:r>
          </a:p>
        </p:txBody>
      </p:sp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6A4305-923A-421B-B816-5CC2C7A9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Product example: AI STEM explainer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E68C7-9CC8-4200-8DE3-7D274D73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BD2C4-EDE4-4746-8B57-2A602959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957A2-EDD0-4AE5-A740-5F9AA7D6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812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14A74"/>
                </a:solidFill>
              </a:defRPr>
            </a:pPr>
            <a:r>
              <a:rPr sz="975" b="1" i="0">
                <a:solidFill>
                  <a:srgbClr val="014A74"/>
                </a:solidFill>
              </a:rPr>
              <a:t>COMPOSED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10914-ACD4-46F2-9D21-7D3558B2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Turn a difficult concept into a concise narrated teaching sequence.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F1907-04F2-415E-BF1B-A34E043C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D5DC"/>
                </a:solidFill>
              </a:defRPr>
            </a:pPr>
            <a:r>
              <a:rPr sz="1500" b="0" i="0">
                <a:solidFill>
                  <a:srgbClr val="C8D5DC"/>
                </a:solidFill>
              </a:rPr>
              <a:t>The source example shows an AI-produced explanation of model loss, with visual steps and captions suitable for reuse in teaching.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DB449-698F-486B-BE33-CB4EC158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38350"/>
            <a:ext cx="70675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120c9ec204c17"/>
          <a:stretch xmlns:a="http://schemas.openxmlformats.org/drawingml/2006/main"/>
        </p:blipFill>
        <p:spPr>
          <a:xfrm xmlns:a="http://schemas.openxmlformats.org/drawingml/2006/main">
            <a:off x="4475692" y="2114550"/>
            <a:ext cx="6841067" cy="3848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9886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40">
            <a:extLst xmlns:a="http://schemas.openxmlformats.org/drawingml/2006/main">
              <a:ext uri="{FF2B5EF4-FFF2-40B4-BE49-F238E27FC236}">
                <a16:creationId xmlns:a16="http://schemas.microsoft.com/office/drawing/2014/main" id="{4BC27B80-36FC-44B4-B4F2-E5189D40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024E0-0427-4327-8008-88480362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02E48-E743-4B86-A329-E04F73CD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F9F25-2C28-4C17-9F9E-1DFD84D5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3A7F8-F84F-4CED-8175-E92C172F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32703-174A-416F-B619-59AEC84C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C21F1-5C85-4423-A953-5AD15C67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64A46-B386-44EB-BFD3-5B51F591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CF36A-CF27-44DA-81A9-112F8B03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0">
            <a:extLst xmlns:a="http://schemas.openxmlformats.org/drawingml/2006/main">
              <a:ext uri="{FF2B5EF4-FFF2-40B4-BE49-F238E27FC236}">
                <a16:creationId xmlns:a16="http://schemas.microsoft.com/office/drawing/2014/main" id="{3A478253-FA4A-4731-AD12-C2EFA6B3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333E0-4874-41C6-8177-EC38EAE4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D66B1-9E36-4B2A-AD1D-C8F169F1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000"/>
                </a:solidFill>
              </a:defRPr>
            </a:pPr>
            <a:r>
              <a:rPr sz="1125" b="1" i="0">
                <a:solidFill>
                  <a:srgbClr val="FFC000"/>
                </a:solidFill>
              </a:rPr>
              <a:t>AFK RESEARCH · PRODUCT EXAMPLE</a:t>
            </a:r>
          </a:p>
        </p:txBody>
      </p:sp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650399-CE32-4234-A55C-00180F8F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Product example: learning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FC9499-D2CE-4C54-B24C-72E67F56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C2DB9-EFA8-48C0-8CF3-9307AB18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A261D-49F5-4359-B0F5-0204FDFE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812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14A74"/>
                </a:solidFill>
              </a:defRPr>
            </a:pPr>
            <a:r>
              <a:rPr sz="975" b="1" i="0">
                <a:solidFill>
                  <a:srgbClr val="014A74"/>
                </a:solidFill>
              </a:rPr>
              <a:t>VISION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3C884-6A65-45B2-A033-B1B2B424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Make student reasoning visible—then let the lecturer interpret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A2571-883C-4186-AACF-4D16EDAF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D5DC"/>
                </a:solidFill>
              </a:defRPr>
            </a:pPr>
            <a:r>
              <a:rPr sz="1500" b="0" i="0">
                <a:solidFill>
                  <a:srgbClr val="C8D5DC"/>
                </a:solidFill>
              </a:rPr>
              <a:t>The source concept pairs student–AI dialogue with a teacher-facing analysis view. Human review remains essential for assessment decisions.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D504D-6A1D-4989-A8B4-25511086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38350"/>
            <a:ext cx="70675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72bfefa35416f"/>
          <a:stretch xmlns:a="http://schemas.openxmlformats.org/drawingml/2006/main"/>
        </p:blipFill>
        <p:spPr>
          <a:xfrm xmlns:a="http://schemas.openxmlformats.org/drawingml/2006/main">
            <a:off x="4475692" y="2114550"/>
            <a:ext cx="6841067" cy="3848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97001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41">
            <a:extLst xmlns:a="http://schemas.openxmlformats.org/drawingml/2006/main">
              <a:ext uri="{FF2B5EF4-FFF2-40B4-BE49-F238E27FC236}">
                <a16:creationId xmlns:a16="http://schemas.microsoft.com/office/drawing/2014/main" id="{F4043023-F1E4-42E8-87C6-8D32DC51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85440-54FD-4E93-B76F-A3D9CC10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1FF34-B8C7-4F55-A494-4264C979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5103A-7C69-4B80-8397-438A57E0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7B526-10E2-4614-BEF0-8CB3F540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15365-F9A0-4552-9D62-624DA816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58C5B-1781-4E8B-8072-5934B205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6B418-91C9-4CE7-907D-9A920987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39D05-3CC7-4D3F-8D4B-93ABE307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1">
            <a:extLst xmlns:a="http://schemas.openxmlformats.org/drawingml/2006/main">
              <a:ext uri="{FF2B5EF4-FFF2-40B4-BE49-F238E27FC236}">
                <a16:creationId xmlns:a16="http://schemas.microsoft.com/office/drawing/2014/main" id="{276676C8-47BB-4278-80D5-350B120F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22852-8823-4D65-ADFC-E8E5FD1E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FE369-8F45-455D-8977-86E90107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000"/>
                </a:solidFill>
              </a:defRPr>
            </a:pPr>
            <a:r>
              <a:rPr sz="1125" b="1" i="0">
                <a:solidFill>
                  <a:srgbClr val="FFC000"/>
                </a:solidFill>
              </a:rPr>
              <a:t>AFK RESEARCH · PRODUCT EXAMPLE</a:t>
            </a:r>
          </a:p>
        </p:txBody>
      </p:sp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CB37BB-0DC5-4EB5-8A18-C124BD8B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Product example: academic web presence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150DF-B816-441C-A0DF-F43E536B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486A3-E02F-4DFA-B348-F1D7A0F6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F2993-90BF-4E1D-8DC8-1B80D0FA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812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14A74"/>
                </a:solidFill>
              </a:defRPr>
            </a:pPr>
            <a:r>
              <a:rPr sz="975" b="1" i="0">
                <a:solidFill>
                  <a:srgbClr val="014A74"/>
                </a:solidFill>
              </a:rPr>
              <a:t>COMPOSED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3091B-32AD-4A9B-B01B-C572125A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Maintain a lecturer’s academic website as a governed project.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E374F-427D-4F8F-B387-B0B8FD83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D5DC"/>
                </a:solidFill>
              </a:defRPr>
            </a:pPr>
            <a:r>
              <a:rPr sz="1500" b="0" i="0">
                <a:solidFill>
                  <a:srgbClr val="C8D5DC"/>
                </a:solidFill>
              </a:rPr>
              <a:t>An agent can prepare updates, edit files, and validate presentation. Publication should still require an explicit review and release decision.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DE7920-4D09-4E03-AC21-A551AD02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38350"/>
            <a:ext cx="70675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c717d8a1a4749"/>
          <a:stretch xmlns:a="http://schemas.openxmlformats.org/drawingml/2006/main"/>
        </p:blipFill>
        <p:spPr>
          <a:xfrm xmlns:a="http://schemas.openxmlformats.org/drawingml/2006/main">
            <a:off x="4475692" y="2114550"/>
            <a:ext cx="6841067" cy="3848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96828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tadata-rail-42">
            <a:extLst xmlns:a="http://schemas.openxmlformats.org/drawingml/2006/main">
              <a:ext uri="{FF2B5EF4-FFF2-40B4-BE49-F238E27FC236}">
                <a16:creationId xmlns:a16="http://schemas.microsoft.com/office/drawing/2014/main" id="{FC5E09D5-B232-47B9-8A65-2F37492F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7FA17-2091-4055-9091-570B71D9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DC808-E56B-43D8-AB6C-78DD7994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6E72F-07D1-48B5-89FF-77813581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3C48E-504E-4FC1-A7A9-67409E64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AEE8D-62BE-4535-BF4A-89C5F5AD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7FFDD-295A-4193-9935-7580B165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3B323-9F54-446D-9192-C92099D5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0DA88-C8A2-436E-BAA4-F3127CC6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2">
            <a:extLst xmlns:a="http://schemas.openxmlformats.org/drawingml/2006/main">
              <a:ext uri="{FF2B5EF4-FFF2-40B4-BE49-F238E27FC236}">
                <a16:creationId xmlns:a16="http://schemas.microsoft.com/office/drawing/2014/main" id="{C0552A66-18E9-4835-9AFB-ACABE725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D79D3-1624-4399-9373-66C5C8BC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66101-B688-40AA-9BE3-12DD432F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000"/>
                </a:solidFill>
              </a:defRPr>
            </a:pPr>
            <a:r>
              <a:rPr sz="1125" b="1" i="0">
                <a:solidFill>
                  <a:srgbClr val="FFC000"/>
                </a:solidFill>
              </a:rPr>
              <a:t>AFK RESEARCH · PRODUCT EXAMPLE</a:t>
            </a:r>
          </a:p>
        </p:txBody>
      </p:sp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EFABCD-412E-4B90-B14F-7445D6EA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Product example: coherent teaching materials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B8894-90AB-4FD2-B823-7D872C5D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CEB70-3890-49FF-AAD9-272E2D28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C73E4-D0F4-4F64-864C-8B89BCD3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812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14A74"/>
                </a:solidFill>
              </a:defRPr>
            </a:pPr>
            <a:r>
              <a:rPr sz="975" b="1" i="0">
                <a:solidFill>
                  <a:srgbClr val="014A74"/>
                </a:solidFill>
              </a:rPr>
              <a:t>COMPOSED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D1FA7C-888C-47CB-A905-1A83247A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Use one Design System across many courses, topics, and formats.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5B18B-931F-4914-AAE9-7790413C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D5DC"/>
                </a:solidFill>
              </a:defRPr>
            </a:pPr>
            <a:r>
              <a:rPr sz="1500" b="0" i="0">
                <a:solidFill>
                  <a:srgbClr val="C8D5DC"/>
                </a:solidFill>
              </a:rPr>
              <a:t>The source example shows a family of visually consistent course pages and rich geophysics materials created from shared design guidance.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52760-51FA-46A7-9D7C-2422AA4F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38350"/>
            <a:ext cx="70675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fbc9a643e415b"/>
          <a:stretch xmlns:a="http://schemas.openxmlformats.org/drawingml/2006/main"/>
        </p:blipFill>
        <p:spPr>
          <a:xfrm xmlns:a="http://schemas.openxmlformats.org/drawingml/2006/main">
            <a:off x="4475692" y="2114550"/>
            <a:ext cx="6841067" cy="3848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7027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metadata-rail-43">
            <a:extLst xmlns:a="http://schemas.openxmlformats.org/drawingml/2006/main">
              <a:ext uri="{FF2B5EF4-FFF2-40B4-BE49-F238E27FC236}">
                <a16:creationId xmlns:a16="http://schemas.microsoft.com/office/drawing/2014/main" id="{67879600-8D99-427C-8EA6-6CAE430B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155FA-AED0-4F50-B395-725296CB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B0B95-5210-4877-92DB-18DD9E03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9F14E-4B75-49BE-BCD9-A8060ADC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8B532-646B-4A74-B806-7081D488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46B1D-7472-45E0-9CD5-83C6A36D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F9B72-90FF-49E4-9914-4950CB92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97764-8D65-43EA-94AA-84C3CD7F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88140-523A-4D3D-93AA-1C291DC4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3">
            <a:extLst xmlns:a="http://schemas.openxmlformats.org/drawingml/2006/main">
              <a:ext uri="{FF2B5EF4-FFF2-40B4-BE49-F238E27FC236}">
                <a16:creationId xmlns:a16="http://schemas.microsoft.com/office/drawing/2014/main" id="{0C228E89-0288-4605-92D7-254D51FF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E6FC6-811D-45E9-9918-BE58C137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1527C3-8785-4904-9B56-1A6B3C64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The implemented architecture is layered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C75CD-5E84-4C8A-AD6F-483C08E3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5FC05-1516-4EB3-9024-7FBC07A3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FC890-BAA7-483C-AFB5-15A06C7B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8279F-AA0E-418D-B97B-1BB0D108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F0B03-39F9-4900-8BD3-E18EEA26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F05FE-D357-43B1-ADDD-CB90F3B4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An existing GitHub-backed worktree.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CF4AA2-D131-4334-83D0-08326FE7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50DE22-4C1B-4ADF-8F71-95DD668C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8CB3B-6432-47C2-8CB5-197C9601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29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Installer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F4D3CB-D116-4061-A009-1FDB2BF1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1955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CLI verifies, plans, applies, and checks setup.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F25BF7-B95C-4B66-BFB2-51491599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983E82-9E38-441F-B33A-A09BB1B8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CC1AD8-8C15-4DCA-92A1-C52D7506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29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Workspaces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04102A-8F71-4FCC-9A18-5F04775A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1955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.brain plus optional .design and .schedule.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CCDC38-F0D9-4CDA-9CBD-C5CDE663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0469B7-7504-4DE5-94ED-E5CCC603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60B3AF-2EA2-4DF4-BD4E-2EC5D5B7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41657F-FE72-4277-B62C-0A85A696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955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Reusable workflows for agents to follow.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1CF897-950E-4688-BBEB-6593F681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5ED5E5-DA1E-48D5-8F94-EACC10CC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0F9BB9-14EC-40F5-9CF5-64BCD0B3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History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36FF4A-EE81-4602-B869-5D1363FF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1955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Issues, commits, manifests, and logs.</a:t>
            </a:r>
          </a:p>
        </p:txBody>
      </p:sp>
    </p:spTree>
    <p:extLst>
      <p:ext uri="{BB962C8B-B14F-4D97-AF65-F5344CB8AC3E}">
        <p14:creationId xmlns:p14="http://schemas.microsoft.com/office/powerpoint/2010/main" val="211268511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44">
            <a:extLst xmlns:a="http://schemas.openxmlformats.org/drawingml/2006/main">
              <a:ext uri="{FF2B5EF4-FFF2-40B4-BE49-F238E27FC236}">
                <a16:creationId xmlns:a16="http://schemas.microsoft.com/office/drawing/2014/main" id="{9F2E2596-076F-4776-8C97-213C56BC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3988C-16B4-4C11-8C88-67646970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8B176-1349-4CD7-BAF4-1A7C4325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251D9-ADEC-46B6-AAEF-CC7C6D48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99F2D-5A2C-4A09-A760-53476A8B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51318-9B0A-4181-A166-C24298A4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42B7A-3D20-4726-9E2C-8120194F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1E59C-9442-4738-B85B-E8B557F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8E77C-13C9-4B46-938A-B97A76B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4">
            <a:extLst xmlns:a="http://schemas.openxmlformats.org/drawingml/2006/main">
              <a:ext uri="{FF2B5EF4-FFF2-40B4-BE49-F238E27FC236}">
                <a16:creationId xmlns:a16="http://schemas.microsoft.com/office/drawing/2014/main" id="{F7A7CB47-2031-4D66-8BE1-D9DA15B0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B8CC7-7E6D-4D3E-AEBF-02588CBD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ED485B-E85C-4EAE-AE3D-D3C851C1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Start with verifiable prerequisites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E88E2-6267-4C7D-A9A9-082E1D0A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90E3F-CEB1-48CD-854C-B9FDC0FB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RUNTIME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8C1486-2FFB-4B1C-9FD7-00AF3EC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E0444-FAB8-4E70-8788-6060024F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Node.js 18.18 or newer and npm.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556E7-ABB6-4336-9686-974574E4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REPOSITORY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8D043-B1EE-4CDC-B30A-45424428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2E2E2-EC68-44D5-92B6-4394791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An existing Git worktree with a reachable GitHub origin.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9CCCD-D2A6-4FE4-AE96-44B6CBB4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CHOICES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F998C-AF46-4FF9-9C11-4CC69AE9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B8FC0-223F-447E-90AB-99529EFA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Decide whether the project needs Design, Schedule, Claude Code, or Sandcastle support.</a:t>
            </a:r>
          </a:p>
        </p:txBody>
      </p:sp>
    </p:spTree>
    <p:extLst>
      <p:ext uri="{BB962C8B-B14F-4D97-AF65-F5344CB8AC3E}">
        <p14:creationId xmlns:p14="http://schemas.microsoft.com/office/powerpoint/2010/main" val="173880662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metadata-rail-45">
            <a:extLst xmlns:a="http://schemas.openxmlformats.org/drawingml/2006/main">
              <a:ext uri="{FF2B5EF4-FFF2-40B4-BE49-F238E27FC236}">
                <a16:creationId xmlns:a16="http://schemas.microsoft.com/office/drawing/2014/main" id="{8EE1043B-EA64-4EF1-A72D-FEF3ADF7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01F9B-C132-4C86-9CE4-9FA4D57A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DE9E7-5DAD-4FE3-BF9E-37C55ABB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8EBF0-1E46-4D2E-BC99-490DC334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9CC19-3B85-47AE-AB1D-8E064FD3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5BDB5-21DF-456D-BBBB-188DEDCE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DBF13-A7DA-4292-9B0F-430EABFF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0C799-5C53-4AD6-880A-A9BC750D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11E17-C61F-4522-9A58-5D08D0F1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5">
            <a:extLst xmlns:a="http://schemas.openxmlformats.org/drawingml/2006/main">
              <a:ext uri="{FF2B5EF4-FFF2-40B4-BE49-F238E27FC236}">
                <a16:creationId xmlns:a16="http://schemas.microsoft.com/office/drawing/2014/main" id="{39D3AFB4-41DE-44CA-A112-A808C76A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184B9-5D39-4FDE-B304-38F8A1A7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FD020E-1663-470A-9B46-4733961C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Preview before applying setup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A3D6A-8B9E-4B50-AF0C-75A56B35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91977-9387-4153-ADAE-941265E3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5341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42664-BBE8-4C08-8377-89AC131D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59626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1354F"/>
                </a:solidFill>
              </a:defRPr>
            </a:pPr>
            <a:r>
              <a:rPr sz="1350" b="0" i="0">
                <a:solidFill>
                  <a:srgbClr val="01354F"/>
                </a:solidFill>
              </a:rPr>
              <a:t># 1. Preview</a:t>
            </a:r>
          </a:p>
          <a:p xmlns:a="http://schemas.openxmlformats.org/drawingml/2006/main">
            <a:pPr algn="l">
              <a:defRPr sz="1350" b="0" i="0">
                <a:solidFill>
                  <a:srgbClr val="01354F"/>
                </a:solidFill>
              </a:defRPr>
            </a:pPr>
            <a:r>
              <a:rPr sz="1350" b="0" i="0">
                <a:solidFill>
                  <a:srgbClr val="01354F"/>
                </a:solidFill>
              </a:rPr>
              <a:t>npx --yes --package github:ORG/AFK-RESEARCH-REPO \</a:t>
            </a:r>
          </a:p>
          <a:p xmlns:a="http://schemas.openxmlformats.org/drawingml/2006/main">
            <a:pPr algn="l">
              <a:defRPr sz="1350" b="0" i="0">
                <a:solidFill>
                  <a:srgbClr val="01354F"/>
                </a:solidFill>
              </a:defRPr>
            </a:pPr>
            <a:r>
              <a:rPr sz="1350" b="0" i="0">
                <a:solidFill>
                  <a:srgbClr val="01354F"/>
                </a:solidFill>
              </a:rPr>
              <a:t>  afk-research init --dry-run --yes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01354F"/>
                </a:solidFill>
              </a:defRPr>
            </a:pPr>
            <a:r>
              <a:rPr sz="1350" b="0" i="0">
                <a:solidFill>
                  <a:srgbClr val="01354F"/>
                </a:solidFill>
              </a:rPr>
              <a:t># 2. Apply after review</a:t>
            </a:r>
          </a:p>
          <a:p xmlns:a="http://schemas.openxmlformats.org/drawingml/2006/main">
            <a:pPr algn="l">
              <a:defRPr sz="1350" b="0" i="0">
                <a:solidFill>
                  <a:srgbClr val="01354F"/>
                </a:solidFill>
              </a:defRPr>
            </a:pPr>
            <a:r>
              <a:rPr sz="1350" b="0" i="0">
                <a:solidFill>
                  <a:srgbClr val="01354F"/>
                </a:solidFill>
              </a:rPr>
              <a:t>npx --yes --package github:ORG/AFK-RESEARCH-REPO \</a:t>
            </a:r>
          </a:p>
          <a:p xmlns:a="http://schemas.openxmlformats.org/drawingml/2006/main">
            <a:pPr algn="l">
              <a:defRPr sz="1350" b="0" i="0">
                <a:solidFill>
                  <a:srgbClr val="01354F"/>
                </a:solidFill>
              </a:defRPr>
            </a:pPr>
            <a:r>
              <a:rPr sz="1350" b="0" i="0">
                <a:solidFill>
                  <a:srgbClr val="01354F"/>
                </a:solidFill>
              </a:rPr>
              <a:t>  afk-research init --design --schedule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7DC5A-ED46-40C8-895D-B172502D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098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FA8DE-28ED-4C77-B797-93B65BC6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717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The target project and GitHub remote must already exist.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371F7-8BC8-490D-9789-C91745A7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766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PREVIEW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EB3A3C-9206-4E49-B0CF-EBF86B61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385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Dry run shows planned files and dependencies without writing.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638FD-74C0-47E3-9E17-8622AEE4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43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CHOOSE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FA997-B7D5-4138-B8D4-024BE34E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053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Optional workspaces are explicit setup decisions.</a:t>
            </a:r>
          </a:p>
        </p:txBody>
      </p:sp>
    </p:spTree>
    <p:extLst>
      <p:ext uri="{BB962C8B-B14F-4D97-AF65-F5344CB8AC3E}">
        <p14:creationId xmlns:p14="http://schemas.microsoft.com/office/powerpoint/2010/main" val="27636686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46">
            <a:extLst xmlns:a="http://schemas.openxmlformats.org/drawingml/2006/main">
              <a:ext uri="{FF2B5EF4-FFF2-40B4-BE49-F238E27FC236}">
                <a16:creationId xmlns:a16="http://schemas.microsoft.com/office/drawing/2014/main" id="{8C5C229E-D89C-4D5D-9F85-A9396232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AB8B2-0DDD-4B55-979D-078DB5FC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800D8-4A6C-4854-A7E9-75A79A6E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047F5-DD76-47EE-BF27-81A656D3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C80BC-EE82-466C-A0B8-E808B8CB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11479-0EAB-4C58-8688-B1D001E2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8B2DD-19F5-4F18-96BC-21B3A4E9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065DF-7510-45A3-8A5E-3C768D4D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42F72-A244-4491-BE40-A393A0F9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6">
            <a:extLst xmlns:a="http://schemas.openxmlformats.org/drawingml/2006/main">
              <a:ext uri="{FF2B5EF4-FFF2-40B4-BE49-F238E27FC236}">
                <a16:creationId xmlns:a16="http://schemas.microsoft.com/office/drawing/2014/main" id="{D05CE0D3-A22D-42C7-8B21-44118D05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17F25-A2CE-4E48-8BBE-995CF726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5CC3B4-2A80-4211-936D-C4930142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The workspace has a readable anatomy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4B3D1-D3B4-49D8-BF29-7D215FC8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4162C-C9D6-470A-A3DC-0CDDB5C0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.BRAIN/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BF680-E4B3-402C-95D9-4EED965B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E6312-8A24-482A-8CAF-BA66D388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Raw provenance, maintained wiki knowledge, indexes, logs, and durable outputs.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F60C8-30C2-42F9-9CF5-13784C0E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.DESIGN/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0D093-77DA-4003-ADBF-555BA0A1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1EDC7-6F55-41DB-ABD5-E0B4E7F1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Named Design Systems with DESIGN.md, tokens, templates, and examples.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38E68-F996-4F13-9ADC-2BE61DDC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.SCHEDULE/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C0965E-A713-4596-813B-63B26775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6CB9D4-4892-4583-AAEE-14EE8C8B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Task Prompts, runner guidance, and machine-local operational state.</a:t>
            </a:r>
          </a:p>
        </p:txBody>
      </p:sp>
    </p:spTree>
    <p:extLst>
      <p:ext uri="{BB962C8B-B14F-4D97-AF65-F5344CB8AC3E}">
        <p14:creationId xmlns:p14="http://schemas.microsoft.com/office/powerpoint/2010/main" val="174778527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47">
            <a:extLst xmlns:a="http://schemas.openxmlformats.org/drawingml/2006/main">
              <a:ext uri="{FF2B5EF4-FFF2-40B4-BE49-F238E27FC236}">
                <a16:creationId xmlns:a16="http://schemas.microsoft.com/office/drawing/2014/main" id="{97D9A8B9-F4F1-4A96-BA5C-9E7D6AA8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9F3DE-E3A5-4FD5-9ABA-6EAA74DB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CF6A2-8647-47D8-A87D-19FFDDB7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A830D-7E5A-464E-918D-716FD75D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ED8A2-F43C-4608-9933-CDA539C3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29F37-FB5A-4BD1-AC80-2A47642A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BAA0C-20F3-457A-B647-F6910CEF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E4967-9E31-4A84-97DA-660D899A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3B6EA-C55D-483E-B77C-B4A2BCA2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7">
            <a:extLst xmlns:a="http://schemas.openxmlformats.org/drawingml/2006/main">
              <a:ext uri="{FF2B5EF4-FFF2-40B4-BE49-F238E27FC236}">
                <a16:creationId xmlns:a16="http://schemas.microsoft.com/office/drawing/2014/main" id="{AE611519-0BC1-4959-ADD3-8EDFC3ED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AB041-73C9-440F-A1D1-03CAB19A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3C3DD5-8090-4C01-83F0-5D994525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Implement a research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88C07-3256-4AAF-9168-6F21043F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E57AF-F99A-441C-A285-49567B80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1EAE6-3E27-4DD7-8326-9C65F973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F8D6E-C22E-48C5-BDC3-6ED81A4F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D0510-FB97-4E52-9C7B-7FC73586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Capture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514CB7-BDD1-4EAC-97CE-7EBE1F04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Save the source and provenance without rewriting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E9BD3C-6F9D-4731-A63C-B73085AD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70C7BF-42FA-4E8C-9CD3-97764C0C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F5030A-38BC-4723-95A0-EDF25544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F51B6-1BCF-4B7F-9A37-A23AB547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Create source notes, concepts, claims, and questions.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02FB08-DE75-463A-9EEF-2A378434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34E40B-C7C2-46CA-A6A3-AC4D3B59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8E4CA7-54BB-43E6-8B2C-DD73D794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Query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C278E8-6DA5-4631-B93F-BE0FA96C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Answer from maintained knowledge with precise citations.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CC6410-99B7-43F7-8989-D54A651B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FCC2F4-71C1-41FA-A14B-4E15AE9B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3E9A3A-61D6-4EF6-B0CE-506611E2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Validate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BE35EB-24E4-4BD0-AF50-6C551F49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Inspect original evidence before making consequential claims.</a:t>
            </a:r>
          </a:p>
        </p:txBody>
      </p:sp>
    </p:spTree>
    <p:extLst>
      <p:ext uri="{BB962C8B-B14F-4D97-AF65-F5344CB8AC3E}">
        <p14:creationId xmlns:p14="http://schemas.microsoft.com/office/powerpoint/2010/main" val="17535306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48">
            <a:extLst xmlns:a="http://schemas.openxmlformats.org/drawingml/2006/main">
              <a:ext uri="{FF2B5EF4-FFF2-40B4-BE49-F238E27FC236}">
                <a16:creationId xmlns:a16="http://schemas.microsoft.com/office/drawing/2014/main" id="{03A4376D-D6A1-4673-A201-3CD0C667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76510-A65C-452D-875F-FEB5C3C5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A260F-6D99-4EF0-A4F4-2DD00176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0F5CC-7481-4340-BB76-57998D81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93D55-C77C-47E7-88B0-4BC53C6D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3AEC8-ACBE-4A37-A058-DCAC0EB0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665E2-C06D-4E24-9994-16CB236C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6A46A-BEF7-41CA-93D6-D665308F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1F9E5-600A-4FBB-B5B7-B08474B5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8">
            <a:extLst xmlns:a="http://schemas.openxmlformats.org/drawingml/2006/main">
              <a:ext uri="{FF2B5EF4-FFF2-40B4-BE49-F238E27FC236}">
                <a16:creationId xmlns:a16="http://schemas.microsoft.com/office/drawing/2014/main" id="{F56FD819-AD68-404D-92EA-279318A1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011A4-DDBA-4C35-84EA-9B66F689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F17E9A-4684-4A0B-84F3-3D6D0F09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Implement a teaching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689B8-EFC6-428F-839D-3E7D0A1B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D4D26-EF56-402E-A296-A9238A8E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6835E-4F64-4986-BEBC-0C35DEEE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B7F8E-9EB6-479A-B6FF-F71EC481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740B7D-6E42-4BF8-96F0-630902AE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30FC70-53E7-434B-9536-B4201AA5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Set learning outcomes and audience assumptions.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A0AD2-C3B4-4167-B2E5-035294AC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6B94A-2600-4969-89AB-58303A5B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2D48B1-8386-46CC-90B5-6CD3A0AA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Retrieve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CCC282-78E2-4BA2-8448-32357D12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Bring relevant evidence and prior decisions into context.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2F638E-6893-4064-B573-04A28207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D4EFE8-5DE6-43DF-A8AA-380ACFE6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C43604-A171-482A-8D9D-F01026C9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Generate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FE54DF-1EBF-4610-B7F2-4502DDCC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Create lecture materials, examples, activities, and notes.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8E4C11-EC37-4634-9FB0-DC491299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27B114-AAF9-47A4-9859-8ABBCEDD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F4DC7A-9D69-4E79-9B75-DCEAC8A3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F07E40-2C31-4324-B2AC-531E4CB8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Check accuracy, pedagogy, accessibility, and integrity.</a:t>
            </a:r>
          </a:p>
        </p:txBody>
      </p:sp>
    </p:spTree>
    <p:extLst>
      <p:ext uri="{BB962C8B-B14F-4D97-AF65-F5344CB8AC3E}">
        <p14:creationId xmlns:p14="http://schemas.microsoft.com/office/powerpoint/2010/main" val="70411816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49">
            <a:extLst xmlns:a="http://schemas.openxmlformats.org/drawingml/2006/main">
              <a:ext uri="{FF2B5EF4-FFF2-40B4-BE49-F238E27FC236}">
                <a16:creationId xmlns:a16="http://schemas.microsoft.com/office/drawing/2014/main" id="{D9FDAEEE-F3AA-46BB-BF2E-EDF6DAB7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33F84-29BD-47EC-9AA6-E74CA195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CC8FB-80D2-4F73-9B85-6BB7C6F7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1313B-0A5E-4905-B944-074C7655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C2BB0-342A-4B90-83B9-B06F94F5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A3128-61A7-45ED-9B31-844A531C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7234C-4FA4-4634-8122-19D207AC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E0EFB-B5B0-43FB-8F99-9546CF24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72862-FFE2-44DE-846C-FA066B52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49">
            <a:extLst xmlns:a="http://schemas.openxmlformats.org/drawingml/2006/main">
              <a:ext uri="{FF2B5EF4-FFF2-40B4-BE49-F238E27FC236}">
                <a16:creationId xmlns:a16="http://schemas.microsoft.com/office/drawing/2014/main" id="{EE32F634-516F-4339-97F1-20928CE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D066B-EDCD-4E49-AAAE-E5F62D07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C80818-38E8-4398-9419-378317A8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Implement a community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F5C98-53FE-4B6D-966C-41C36E19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54367-AADF-438E-94F9-8618F8AD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462F4-9C4F-45DA-B5CC-F847A350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64912-D289-406D-8882-79B9FCEB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8512D-E94B-4C31-B1E9-1EC406C4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Listen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05AC8-B932-4172-AA0E-2E6E3549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Record community needs, language, and constraints.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693D3-84A0-4B26-AB07-4629F754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4D94CD-8700-4A5D-B00B-D37B4CD2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CFCC5A-7F57-4F8C-83D9-610F7864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Adapt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44192F-864F-4C98-8A81-0B070AC4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Translate expertise into appropriate formats.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95B394-D319-4454-BFF3-9EB8F2E3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66FD3F-332C-454D-BBE3-1AAF89ED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4978A-49E0-43C0-AF77-8182448C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2CB7EA-7B2B-4411-9BAA-E3A7F982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Check consent, rights, privacy, and local relevance.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DF15E0-8664-4496-8FF3-53CABE54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18B9FD-75F9-4101-A6E3-361AF518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093BBD-F9C6-43E6-9715-638CCAFE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Learn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9229B9-529A-43E6-84D4-96FDBAE9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Capture feedback as evidence for the next iteration.</a:t>
            </a:r>
          </a:p>
        </p:txBody>
      </p:sp>
    </p:spTree>
    <p:extLst>
      <p:ext uri="{BB962C8B-B14F-4D97-AF65-F5344CB8AC3E}">
        <p14:creationId xmlns:p14="http://schemas.microsoft.com/office/powerpoint/2010/main" val="235296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50">
            <a:extLst xmlns:a="http://schemas.openxmlformats.org/drawingml/2006/main">
              <a:ext uri="{FF2B5EF4-FFF2-40B4-BE49-F238E27FC236}">
                <a16:creationId xmlns:a16="http://schemas.microsoft.com/office/drawing/2014/main" id="{B04337A6-0078-4805-A6A3-EBC18E2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F3018-66E1-4F3C-AE02-CEBA3F4A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0A732-FDD9-4185-9CF1-4637A9B1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81AAD-8E0E-4977-A375-AA7DB95F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A5793-52D3-41B4-B986-A83CA797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34571-E323-473C-9F74-57061260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B0928-06F6-49F0-BB0F-B36440C5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43CA0-05C1-4E5C-9F32-D7EC8858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A4F8D-0C4B-4AB1-A7B9-FCCDC400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50">
            <a:extLst xmlns:a="http://schemas.openxmlformats.org/drawingml/2006/main">
              <a:ext uri="{FF2B5EF4-FFF2-40B4-BE49-F238E27FC236}">
                <a16:creationId xmlns:a16="http://schemas.microsoft.com/office/drawing/2014/main" id="{D50C358E-780C-4E36-B531-6863A3C7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9821C-1DFF-4940-9512-ED048480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DDDBE8-7986-41E1-8DA5-2D0DAD32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Schedule recurring work, not judgment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BDFBA-26FA-405C-A64F-A23D3758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F970D-7814-4162-BFB3-615C654A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GOOD CANDIDATES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F1133-5958-4600-A359-B4C5DB67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38F39-205C-40A7-B7A2-39577B11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Status checks, inbox triage, reminders, source monitoring, and draft preparation.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5362A-CF74-4087-AD18-534366F5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REQUIRE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493F9B-E763-4E8F-BF6C-7C0C19E7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B743E2-BD94-4FED-8359-E86004EE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Grades, student feedback, research conclusions, external messages, and publication.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413329-623F-4B1F-84CA-B9BB123B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RUNNER CONTROLS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C411FA-711E-4D5C-A0BB-E13A2C4A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8B47E7-B6A1-4E91-A4C1-8BBA333B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Readiness checks, explicit start/stop, logs, wake handling, and task-level prompts.</a:t>
            </a:r>
          </a:p>
        </p:txBody>
      </p:sp>
    </p:spTree>
    <p:extLst>
      <p:ext uri="{BB962C8B-B14F-4D97-AF65-F5344CB8AC3E}">
        <p14:creationId xmlns:p14="http://schemas.microsoft.com/office/powerpoint/2010/main" val="128273146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etadata-rail-51">
            <a:extLst xmlns:a="http://schemas.openxmlformats.org/drawingml/2006/main">
              <a:ext uri="{FF2B5EF4-FFF2-40B4-BE49-F238E27FC236}">
                <a16:creationId xmlns:a16="http://schemas.microsoft.com/office/drawing/2014/main" id="{4E61086D-15DA-40D7-87DB-7F199685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45167-ECE3-46D3-88A1-CE20DDCE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EDF1C-E777-4022-9C5A-870D24BD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6A873-6D33-48D5-9FB8-51027E56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49CF9-AA81-4216-933F-184DE12D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D9267-A51D-47E2-B293-2E7AA12E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B6D7B-A178-4F61-94AC-0888CC69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0F626-AB6C-4E81-9860-A18BA9F7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92E43-FCCE-436E-8B00-AF5D6BC7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51">
            <a:extLst xmlns:a="http://schemas.openxmlformats.org/drawingml/2006/main">
              <a:ext uri="{FF2B5EF4-FFF2-40B4-BE49-F238E27FC236}">
                <a16:creationId xmlns:a16="http://schemas.microsoft.com/office/drawing/2014/main" id="{4D6210DB-18EA-4AA2-BD62-7CCF885E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DC65E-158E-45CB-8EDA-A3B80E91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AEE06E-A123-49A9-AB38-6FBC81D4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Managed updates preserve project ownership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F48ED-BAD5-402C-896B-06ABB521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FC176-263C-4117-96E2-A5A3D00F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E0275-4E54-4285-8A52-0A1F777E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E1F6A-5614-4D8D-AC5C-4782BAA2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36E00-D2BD-4250-8489-827DD29D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Compare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C6EC5-12A8-4869-810E-61D0B7C8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Read intended managed files and current hashes.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97C70-E59E-45A3-8E82-A07CEAC0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723225-CBCA-47BC-99CA-E7F4C340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3DCF81-2A9D-450F-A772-6D16E968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Update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5872B3-2E5D-4AAF-B9E5-6B92CA7A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Replace only unchanged installer-owned files.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A48364-BB16-4370-B3CE-112158D1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2DA0A2-5D31-4A09-9928-35AAA36F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3E152B-7FB6-4107-8B11-6A4AB4BC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Preserve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019472-F9AA-4CFB-80CF-7AE098F4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Keep user-edited files and unknown local skills.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00F65C-59BF-4A37-A173-3FDEE8A1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09630F-5454-4C94-B57C-2DB64C1B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CBA4CD-632C-493F-95AF-044383D5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290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C000"/>
                </a:solidFill>
              </a:defRPr>
            </a:pPr>
            <a:r>
              <a:rPr sz="1800" b="1" i="0">
                <a:solidFill>
                  <a:srgbClr val="FFC000"/>
                </a:solidFill>
              </a:rPr>
              <a:t>Sidecar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7588F6-AA62-4369-939E-018EEFAF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19550"/>
            <a:ext cx="2162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8D5DC"/>
                </a:solidFill>
              </a:defRPr>
            </a:pPr>
            <a:r>
              <a:rPr sz="1425" b="0" i="0">
                <a:solidFill>
                  <a:srgbClr val="C8D5DC"/>
                </a:solidFill>
              </a:rPr>
              <a:t>Write the new generated alternative beside conflicts.</a:t>
            </a:r>
          </a:p>
        </p:txBody>
      </p:sp>
    </p:spTree>
    <p:extLst>
      <p:ext uri="{BB962C8B-B14F-4D97-AF65-F5344CB8AC3E}">
        <p14:creationId xmlns:p14="http://schemas.microsoft.com/office/powerpoint/2010/main" val="155521641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etadata-rail-52">
            <a:extLst xmlns:a="http://schemas.openxmlformats.org/drawingml/2006/main">
              <a:ext uri="{FF2B5EF4-FFF2-40B4-BE49-F238E27FC236}">
                <a16:creationId xmlns:a16="http://schemas.microsoft.com/office/drawing/2014/main" id="{AF6C8523-1CFD-48A1-BEEC-43EFDCA6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A64F6-487E-46FC-912D-5534A369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CDEC9-C9EB-4301-91CF-D1852029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ADOPTION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B3962-F1CC-4B58-9EF0-F3D8F93F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0B395-B0C9-4FE9-BF22-E711AE4A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416AF-39FB-4529-83D1-BD26A431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BBBA0-B80C-4B14-BA45-E8991E36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222F2-416E-44ED-A9B2-8FA63B3B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C8384-B299-46F7-BDC1-0E6AB439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52">
            <a:extLst xmlns:a="http://schemas.openxmlformats.org/drawingml/2006/main">
              <a:ext uri="{FF2B5EF4-FFF2-40B4-BE49-F238E27FC236}">
                <a16:creationId xmlns:a16="http://schemas.microsoft.com/office/drawing/2014/main" id="{6673D548-BBB5-4859-897F-1FDDA99F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A8A61-C852-40FE-BF96-33ED5F1F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BC914B-D512-406B-ABB6-62A326E5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A 30-day adoption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F83B6-3B65-411C-90E2-261F2205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3C343-B205-41F0-852B-00FD92F9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WEEK 1 · 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57522-0DD0-4AB9-A3BD-1245433E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942A2-A0C7-4CD3-B1E8-C53FD176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Choose one low-risk workflow and define evidence, owner, and success criteria.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7E485-FF83-44BB-A692-48991E4A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WEEK 2 · PROTOTYPE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0EF2B-1D80-4718-A4A1-CFD8A483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955372-0305-41A2-9E81-64DA6CD2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Create the workspace, run manually, and record every failure.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4862A4-E65F-449E-97B1-43AEC5D2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C000"/>
                </a:solidFill>
              </a:defRPr>
            </a:pPr>
            <a:r>
              <a:rPr sz="1875" b="1" i="0">
                <a:solidFill>
                  <a:srgbClr val="FFC000"/>
                </a:solidFill>
              </a:rPr>
              <a:t>WEEK 3–4 · GOVERN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0BD277-77F4-4E73-9BCE-934DD3AA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4E2A01-A71C-4720-B515-946D861C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20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Add review gates, evaluate outputs, then automate only stable preparation steps.</a:t>
            </a:r>
          </a:p>
        </p:txBody>
      </p:sp>
    </p:spTree>
    <p:extLst>
      <p:ext uri="{BB962C8B-B14F-4D97-AF65-F5344CB8AC3E}">
        <p14:creationId xmlns:p14="http://schemas.microsoft.com/office/powerpoint/2010/main" val="104870562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14A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metadata-rail-53">
            <a:extLst xmlns:a="http://schemas.openxmlformats.org/drawingml/2006/main">
              <a:ext uri="{FF2B5EF4-FFF2-40B4-BE49-F238E27FC236}">
                <a16:creationId xmlns:a16="http://schemas.microsoft.com/office/drawing/2014/main" id="{45094FB9-1DCE-4B2D-983F-56EDE774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18EDA-DC05-41C9-969C-95912682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0D457-05A6-426C-AB58-4D7B4305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5300"/>
            <a:ext cx="2476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540000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14A74"/>
                </a:solidFill>
              </a:defRPr>
            </a:pPr>
            <a:r>
              <a:rPr sz="900" b="1" i="0">
                <a:solidFill>
                  <a:srgbClr val="014A74"/>
                </a:solidFill>
              </a:rPr>
              <a:t>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09381-C630-4939-AD02-C2654678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CA91C-4C34-4822-B86D-0D2D2F52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1928C-190F-436E-8368-76163FC0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C5595-A7E8-46EA-B76D-6E05C0A4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3A785-0CE7-40C2-B03B-3E893E7E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6FD94-9CB4-4058-AFB8-CAFDD642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12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chor-block-53">
            <a:extLst xmlns:a="http://schemas.openxmlformats.org/drawingml/2006/main">
              <a:ext uri="{FF2B5EF4-FFF2-40B4-BE49-F238E27FC236}">
                <a16:creationId xmlns:a16="http://schemas.microsoft.com/office/drawing/2014/main" id="{0D33A58D-00C9-4151-95F7-9EB48FD8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34F1B-48C7-4F78-948C-A8EEDD42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D5DC"/>
                </a:solidFill>
              </a:defRPr>
            </a:pPr>
            <a:r>
              <a:rPr sz="975" b="1" i="0">
                <a:solidFill>
                  <a:srgbClr val="C8D5DC"/>
                </a:solidFill>
              </a:rPr>
              <a:t>CREATED WITH AFK RESEARCH</a:t>
            </a:r>
          </a:p>
        </p:txBody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F53C72-2DAB-4F4A-B3A0-32955323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Key references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D5639-9898-43AA-8318-4C3BB28C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181D8-2C22-43E7-AB75-965259C3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BEA32-AB02-4864-AEBF-E1FC25FA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574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Indonesia · Law No. 12/2012 on Higher Education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CD67A-A01F-473B-AD4E-C2AFAE0A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DF8CD-389B-4728-AB91-33BD16DF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337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Yao et al. · ReAct (2023)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4D5464-C796-4166-B4FB-3525A415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444141-876A-4F08-AE6E-F0FAD02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10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Schick et al. · Toolformer (2023)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66BAC4-559F-4660-9CC5-B35C6729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50422D-9502-4A29-988A-E87AD876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863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Park et al. · Generative Agents (2023)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9C9B11-0874-4EE3-A3F1-EAD6BC6D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85C5A6-2734-4681-953C-0B8A44D0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574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Lewis et al. · Retrieval-Augmented Generation (2020)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C2DA9-6B5C-4A8B-9E9A-C792E3A8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74015C-0FE6-4326-BE1A-B3827226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337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UNESCO · Guidance for GenAI in Education and Research (2023)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726BF0-062E-486E-B2A5-D5E58E41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481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2C173D-2C37-447A-A058-4F1712B8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10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NIST · AI Risk Management Framework 1.0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73DF57-7F31-4178-B8FE-04D6CF36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244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000"/>
                </a:solidFill>
              </a:defRPr>
            </a:pPr>
            <a:r>
              <a:rPr sz="1500" b="1" i="0">
                <a:solidFill>
                  <a:srgbClr val="FFC000"/>
                </a:solidFill>
              </a:rPr>
              <a:t>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FE3989-6DE8-423A-AFB1-F62A467B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AFK Research · private MVP snapshot at 6c76a25</a:t>
            </a:r>
          </a:p>
        </p:txBody>
      </p:sp>
    </p:spTree>
    <p:extLst>
      <p:ext uri="{BB962C8B-B14F-4D97-AF65-F5344CB8AC3E}">
        <p14:creationId xmlns:p14="http://schemas.microsoft.com/office/powerpoint/2010/main" val="84334326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EFB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1A989-32EA-456B-8E8B-84E1A5CD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8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6905F-5873-41D0-9156-124B6CD9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52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4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5860A-C797-4A89-BBDB-7B91D24C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4C804-78F5-4E77-BEA9-A2315F69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71600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14A74"/>
                </a:solidFill>
              </a:defRPr>
            </a:pPr>
            <a:r>
              <a:rPr sz="4650" b="1" i="0">
                <a:solidFill>
                  <a:srgbClr val="014A74"/>
                </a:solidFill>
              </a:rPr>
              <a:t>The lecturer remains the accountable expert.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E2947-03C4-4742-B219-A6A93107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4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3CF9E-E486-46BD-A51A-D2AE26D4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628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14A74"/>
                </a:solidFill>
              </a:defRPr>
            </a:pPr>
            <a:r>
              <a:rPr sz="2100" b="1" i="0">
                <a:solidFill>
                  <a:srgbClr val="014A74"/>
                </a:solidFill>
              </a:rPr>
              <a:t>The agent carries context, prepares work, uses bounded tools, and makes the process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4928E-8BB1-45B8-BA98-32ECCA25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476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ctr"/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BUILD THE SYSTEM.</a:t>
            </a:r>
          </a:p>
          <a:p xmlns:a="http://schemas.openxmlformats.org/drawingml/2006/main">
            <a:pPr algn="ctr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KEEP THE JUDGMENT.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45655-CABF-440E-A961-7DEF5BC0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191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14A74"/>
                </a:solidFill>
              </a:defRPr>
            </a:pPr>
            <a:r>
              <a:rPr sz="1050" b="1" i="0">
                <a:solidFill>
                  <a:srgbClr val="014A74"/>
                </a:solidFill>
              </a:rPr>
              <a:t>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CBB00-DE6B-4B9B-8EA8-6ADFD4D4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14A74"/>
                </a:solidFill>
              </a:defRPr>
            </a:pPr>
            <a:r>
              <a:rPr sz="975" b="1" i="0">
                <a:solidFill>
                  <a:srgbClr val="014A74"/>
                </a:solidFill>
              </a:rPr>
              <a:t>CREATED WITH AFK RESEARCH</a:t>
            </a:r>
          </a:p>
        </p:txBody>
      </p:sp>
    </p:spTree>
    <p:extLst>
      <p:ext uri="{BB962C8B-B14F-4D97-AF65-F5344CB8AC3E}">
        <p14:creationId xmlns:p14="http://schemas.microsoft.com/office/powerpoint/2010/main" val="1553547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2026-07-28T04:22:05.1070000Z</dcterms:created>
  <dcterms:modified xsi:type="dcterms:W3CDTF">2026-07-28T04:22:05.1070000Z</dcterms:modified>
</coreProperties>
</file>